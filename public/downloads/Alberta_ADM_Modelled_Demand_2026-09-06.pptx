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521a2e24b21485d" /><Relationship Type="http://schemas.openxmlformats.org/officeDocument/2006/relationships/extended-properties" Target="/docProps/app.xml" Id="Re2cb255e75c140cb" /><Relationship Type="http://schemas.openxmlformats.org/officeDocument/2006/relationships/officeDocument" Target="/ppt/presentation.xml" Id="R7476ef2511b14ca8" /></Relationships>
</file>

<file path=ppt/presentation.xml><?xml version="1.0" encoding="utf-8"?>
<p:presentation xmlns:p="http://schemas.openxmlformats.org/presentationml/2006/main">
  <p:sldMasterIdLst>
    <p:sldMasterId xmlns:r="http://schemas.openxmlformats.org/officeDocument/2006/relationships" id="2147483648" r:id="Rbba83162690d430e"/>
  </p:sldMasterIdLst>
  <p:notesMasterIdLst>
    <p:notesMasterId xmlns:r="http://schemas.openxmlformats.org/officeDocument/2006/relationships" r:id="R9902dc2efc13425a"/>
  </p:notesMasterIdLst>
  <p:sldIdLst>
    <p:sldId xmlns:r="http://schemas.openxmlformats.org/officeDocument/2006/relationships" id="256" r:id="Rb0ac55dd262d4c4b"/>
    <p:sldId xmlns:r="http://schemas.openxmlformats.org/officeDocument/2006/relationships" id="257" r:id="R3c9233cd420044a2"/>
    <p:sldId xmlns:r="http://schemas.openxmlformats.org/officeDocument/2006/relationships" id="258" r:id="R3070bdd095ca4dd7"/>
    <p:sldId xmlns:r="http://schemas.openxmlformats.org/officeDocument/2006/relationships" id="259" r:id="Rd5c51a46801744b1"/>
    <p:sldId xmlns:r="http://schemas.openxmlformats.org/officeDocument/2006/relationships" id="260" r:id="R12c8ce5dbc764ab8"/>
    <p:sldId xmlns:r="http://schemas.openxmlformats.org/officeDocument/2006/relationships" id="261" r:id="Re3eabb39c11e4265"/>
    <p:sldId xmlns:r="http://schemas.openxmlformats.org/officeDocument/2006/relationships" id="262" r:id="R32b368363da645de"/>
    <p:sldId xmlns:r="http://schemas.openxmlformats.org/officeDocument/2006/relationships" id="263" r:id="R1ca5d5e442b94e00"/>
    <p:sldId xmlns:r="http://schemas.openxmlformats.org/officeDocument/2006/relationships" id="264" r:id="Re8d2f0cfd99c4437"/>
    <p:sldId xmlns:r="http://schemas.openxmlformats.org/officeDocument/2006/relationships" id="265" r:id="R4f2ca3bffd4f4b30"/>
    <p:sldId xmlns:r="http://schemas.openxmlformats.org/officeDocument/2006/relationships" id="266" r:id="Rf8479491aed44820"/>
    <p:sldId xmlns:r="http://schemas.openxmlformats.org/officeDocument/2006/relationships" id="267" r:id="R709829fd5ad24e50"/>
    <p:sldId xmlns:r="http://schemas.openxmlformats.org/officeDocument/2006/relationships" id="268" r:id="R52aaf064fe6e4e25"/>
    <p:sldId xmlns:r="http://schemas.openxmlformats.org/officeDocument/2006/relationships" id="269" r:id="R0afb78ce94724603"/>
    <p:sldId xmlns:r="http://schemas.openxmlformats.org/officeDocument/2006/relationships" id="270" r:id="Rb4a308ac09ed456f"/>
    <p:sldId xmlns:r="http://schemas.openxmlformats.org/officeDocument/2006/relationships" id="271" r:id="R84eddc16ba924871"/>
    <p:sldId xmlns:r="http://schemas.openxmlformats.org/officeDocument/2006/relationships" id="272" r:id="R5145904852df4344"/>
    <p:sldId xmlns:r="http://schemas.openxmlformats.org/officeDocument/2006/relationships" id="273" r:id="R5780130311644063"/>
    <p:sldId xmlns:r="http://schemas.openxmlformats.org/officeDocument/2006/relationships" id="274" r:id="Ra231954cc2ac441b"/>
    <p:sldId xmlns:r="http://schemas.openxmlformats.org/officeDocument/2006/relationships" id="275" r:id="Rae08e1edb2af451e"/>
    <p:sldId xmlns:r="http://schemas.openxmlformats.org/officeDocument/2006/relationships" id="276" r:id="Rf9549d46a88f4886"/>
    <p:sldId xmlns:r="http://schemas.openxmlformats.org/officeDocument/2006/relationships" id="277" r:id="R4608d3e3141149bd"/>
    <p:sldId xmlns:r="http://schemas.openxmlformats.org/officeDocument/2006/relationships" id="278" r:id="R2ccc77ac2a7b4ba8"/>
    <p:sldId xmlns:r="http://schemas.openxmlformats.org/officeDocument/2006/relationships" id="279" r:id="R34adc6657317492a"/>
    <p:sldId xmlns:r="http://schemas.openxmlformats.org/officeDocument/2006/relationships" id="280" r:id="R8e1c63cfd41c418e"/>
    <p:sldId xmlns:r="http://schemas.openxmlformats.org/officeDocument/2006/relationships" id="281" r:id="R527bbf59d25a4439"/>
    <p:sldId xmlns:r="http://schemas.openxmlformats.org/officeDocument/2006/relationships" id="282" r:id="R7b97b24dddca49c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1d7d7fa7e7b4d27" /><Relationship Type="http://schemas.openxmlformats.org/officeDocument/2006/relationships/slideMaster" Target="/ppt/slideMasters/slideMaster1.xml" Id="Rbba83162690d430e" /><Relationship Type="http://schemas.openxmlformats.org/officeDocument/2006/relationships/notesMaster" Target="/ppt/notesMasters/notesMaster1.xml" Id="R9902dc2efc13425a" /><Relationship Type="http://schemas.openxmlformats.org/officeDocument/2006/relationships/presProps" Target="/ppt/presProps.xml" Id="Rf5919dfe7fe64612" /><Relationship Type="http://schemas.openxmlformats.org/officeDocument/2006/relationships/tableStyles" Target="/ppt/tableStyles.xml" Id="R60059a978afd48a5" /><Relationship Type="http://schemas.openxmlformats.org/officeDocument/2006/relationships/slide" Target="/ppt/slides/slide1.xml" Id="Rb0ac55dd262d4c4b" /><Relationship Type="http://schemas.openxmlformats.org/officeDocument/2006/relationships/slide" Target="/ppt/slides/slide2.xml" Id="R3c9233cd420044a2" /><Relationship Type="http://schemas.openxmlformats.org/officeDocument/2006/relationships/slide" Target="/ppt/slides/slide3.xml" Id="R3070bdd095ca4dd7" /><Relationship Type="http://schemas.openxmlformats.org/officeDocument/2006/relationships/slide" Target="/ppt/slides/slide4.xml" Id="Rd5c51a46801744b1" /><Relationship Type="http://schemas.openxmlformats.org/officeDocument/2006/relationships/slide" Target="/ppt/slides/slide5.xml" Id="R12c8ce5dbc764ab8" /><Relationship Type="http://schemas.openxmlformats.org/officeDocument/2006/relationships/slide" Target="/ppt/slides/slide6.xml" Id="Re3eabb39c11e4265" /><Relationship Type="http://schemas.openxmlformats.org/officeDocument/2006/relationships/slide" Target="/ppt/slides/slide7.xml" Id="R32b368363da645de" /><Relationship Type="http://schemas.openxmlformats.org/officeDocument/2006/relationships/slide" Target="/ppt/slides/slide8.xml" Id="R1ca5d5e442b94e00" /><Relationship Type="http://schemas.openxmlformats.org/officeDocument/2006/relationships/slide" Target="/ppt/slides/slide9.xml" Id="Re8d2f0cfd99c4437" /><Relationship Type="http://schemas.openxmlformats.org/officeDocument/2006/relationships/slide" Target="/ppt/slides/slide10.xml" Id="R4f2ca3bffd4f4b30" /><Relationship Type="http://schemas.openxmlformats.org/officeDocument/2006/relationships/slide" Target="/ppt/slides/slide11.xml" Id="Rf8479491aed44820" /><Relationship Type="http://schemas.openxmlformats.org/officeDocument/2006/relationships/slide" Target="/ppt/slides/slide12.xml" Id="R709829fd5ad24e50" /><Relationship Type="http://schemas.openxmlformats.org/officeDocument/2006/relationships/slide" Target="/ppt/slides/slide13.xml" Id="R52aaf064fe6e4e25" /><Relationship Type="http://schemas.openxmlformats.org/officeDocument/2006/relationships/slide" Target="/ppt/slides/slide14.xml" Id="R0afb78ce94724603" /><Relationship Type="http://schemas.openxmlformats.org/officeDocument/2006/relationships/slide" Target="/ppt/slides/slide15.xml" Id="Rb4a308ac09ed456f" /><Relationship Type="http://schemas.openxmlformats.org/officeDocument/2006/relationships/slide" Target="/ppt/slides/slide16.xml" Id="R84eddc16ba924871" /><Relationship Type="http://schemas.openxmlformats.org/officeDocument/2006/relationships/slide" Target="/ppt/slides/slide17.xml" Id="R5145904852df4344" /><Relationship Type="http://schemas.openxmlformats.org/officeDocument/2006/relationships/slide" Target="/ppt/slides/slide18.xml" Id="R5780130311644063" /><Relationship Type="http://schemas.openxmlformats.org/officeDocument/2006/relationships/slide" Target="/ppt/slides/slide19.xml" Id="Ra231954cc2ac441b" /><Relationship Type="http://schemas.openxmlformats.org/officeDocument/2006/relationships/slide" Target="/ppt/slides/slide20.xml" Id="Rae08e1edb2af451e" /><Relationship Type="http://schemas.openxmlformats.org/officeDocument/2006/relationships/slide" Target="/ppt/slides/slide21.xml" Id="Rf9549d46a88f4886" /><Relationship Type="http://schemas.openxmlformats.org/officeDocument/2006/relationships/slide" Target="/ppt/slides/slide22.xml" Id="R4608d3e3141149bd" /><Relationship Type="http://schemas.openxmlformats.org/officeDocument/2006/relationships/slide" Target="/ppt/slides/slide23.xml" Id="R2ccc77ac2a7b4ba8" /><Relationship Type="http://schemas.openxmlformats.org/officeDocument/2006/relationships/slide" Target="/ppt/slides/slide24.xml" Id="R34adc6657317492a" /><Relationship Type="http://schemas.openxmlformats.org/officeDocument/2006/relationships/slide" Target="/ppt/slides/slide25.xml" Id="R8e1c63cfd41c418e" /><Relationship Type="http://schemas.openxmlformats.org/officeDocument/2006/relationships/slide" Target="/ppt/slides/slide26.xml" Id="R527bbf59d25a4439" /><Relationship Type="http://schemas.openxmlformats.org/officeDocument/2006/relationships/slide" Target="/ppt/slides/slide27.xml" Id="R7b97b24dddca49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5d5ff9648847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a8fa901d7345a1" /><Relationship Type="http://schemas.openxmlformats.org/officeDocument/2006/relationships/notesMaster" Target="/ppt/notesMasters/notesMaster1.xml" Id="Rc2dacb660e8240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3216ed695034fa3" /><Relationship Type="http://schemas.openxmlformats.org/officeDocument/2006/relationships/notesMaster" Target="/ppt/notesMasters/notesMaster1.xml" Id="R51345f1a683f4a1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b5e95951c049de" /><Relationship Type="http://schemas.openxmlformats.org/officeDocument/2006/relationships/notesMaster" Target="/ppt/notesMasters/notesMaster1.xml" Id="R6a35e5edaf4840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f49a391aee48d9" /><Relationship Type="http://schemas.openxmlformats.org/officeDocument/2006/relationships/notesMaster" Target="/ppt/notesMasters/notesMaster1.xml" Id="R4b286b180ae94c9b" /></Relationships>
</file>

<file path=ppt/notesSlides/_rels/notesSlide5.xml.rels>&#65279;<?xml version="1.0" encoding="utf-8"?><Relationships xmlns="http://schemas.openxmlformats.org/package/2006/relationships"><Relationship Type="http://schemas.openxmlformats.org/officeDocument/2006/relationships/slide" Target="/ppt/slides/slide5.xml" Id="Re57ff757155643b9" /><Relationship Type="http://schemas.openxmlformats.org/officeDocument/2006/relationships/notesMaster" Target="/ppt/notesMasters/notesMaster1.xml" Id="Ra338f277658a40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77b21168b1492a" /><Relationship Type="http://schemas.openxmlformats.org/officeDocument/2006/relationships/notesMaster" Target="/ppt/notesMasters/notesMaster1.xml" Id="R346227b4722f42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defa5dfd7ef24bb5" /><Relationship Type="http://schemas.openxmlformats.org/officeDocument/2006/relationships/notesMaster" Target="/ppt/notesMasters/notesMaster1.xml" Id="R081adfd00c274b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f8ef9eedd2d47a5" /><Relationship Type="http://schemas.openxmlformats.org/officeDocument/2006/relationships/notesMaster" Target="/ppt/notesMasters/notesMaster1.xml" Id="R31ea44c969fa436b" /></Relationships>
</file>

<file path=ppt/notesSlides/_rels/notesSlide9.xml.rels>&#65279;<?xml version="1.0" encoding="utf-8"?><Relationships xmlns="http://schemas.openxmlformats.org/package/2006/relationships"><Relationship Type="http://schemas.openxmlformats.org/officeDocument/2006/relationships/slide" Target="/ppt/slides/slide9.xml" Id="R74db27bf7ef94340" /><Relationship Type="http://schemas.openxmlformats.org/officeDocument/2006/relationships/notesMaster" Target="/ppt/notesMasters/notesMaster1.xml" Id="Rabbc3d57b9d647a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b80d8c672c64ae9" /><Relationship Type="http://schemas.openxmlformats.org/officeDocument/2006/relationships/notesMaster" Target="/ppt/notesMasters/notesMaster1.xml" Id="Rece5f69c6408456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d3564b25bf744b3" /><Relationship Type="http://schemas.openxmlformats.org/officeDocument/2006/relationships/notesMaster" Target="/ppt/notesMasters/notesMaster1.xml" Id="Rb52e65449ad042f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1772edf334b466c" /><Relationship Type="http://schemas.openxmlformats.org/officeDocument/2006/relationships/notesMaster" Target="/ppt/notesMasters/notesMaster1.xml" Id="Rbe3e105b5cfc435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f9b97988ad54be1" /><Relationship Type="http://schemas.openxmlformats.org/officeDocument/2006/relationships/notesMaster" Target="/ppt/notesMasters/notesMaster1.xml" Id="R39dfec926d654e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1083758544242fd" /><Relationship Type="http://schemas.openxmlformats.org/officeDocument/2006/relationships/notesMaster" Target="/ppt/notesMasters/notesMaster1.xml" Id="R50cf372ecd90406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2582ee2cf4d49cb" /><Relationship Type="http://schemas.openxmlformats.org/officeDocument/2006/relationships/notesMaster" Target="/ppt/notesMasters/notesMaster1.xml" Id="R7eaea9430833465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ecd873742ff45f0" /><Relationship Type="http://schemas.openxmlformats.org/officeDocument/2006/relationships/notesMaster" Target="/ppt/notesMasters/notesMaster1.xml" Id="R6412386fb2be44b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cd3877ec34843b9" /><Relationship Type="http://schemas.openxmlformats.org/officeDocument/2006/relationships/notesMaster" Target="/ppt/notesMasters/notesMaster1.xml" Id="R85b37c51515b4e1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1eacb95a9dd4582" /><Relationship Type="http://schemas.openxmlformats.org/officeDocument/2006/relationships/notesMaster" Target="/ppt/notesMasters/notesMaster1.xml" Id="Rc5288f757b6a442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59be08f7b634220" /><Relationship Type="http://schemas.openxmlformats.org/officeDocument/2006/relationships/notesMaster" Target="/ppt/notesMasters/notesMaster1.xml" Id="Rb705bba56316439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1f99310ab5a42e9" /><Relationship Type="http://schemas.openxmlformats.org/officeDocument/2006/relationships/notesMaster" Target="/ppt/notesMasters/notesMaster1.xml" Id="R976b91fe2fb5436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28124d5967d4f62" /><Relationship Type="http://schemas.openxmlformats.org/officeDocument/2006/relationships/notesMaster" Target="/ppt/notesMasters/notesMaster1.xml" Id="Rd6e79af6cabe417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0ec9541357b424d" /><Relationship Type="http://schemas.openxmlformats.org/officeDocument/2006/relationships/notesMaster" Target="/ppt/notesMasters/notesMaster1.xml" Id="R55243548e04c42b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329b86d4be542f6" /><Relationship Type="http://schemas.openxmlformats.org/officeDocument/2006/relationships/notesMaster" Target="/ppt/notesMasters/notesMaster1.xml" Id="Ra6af542eb2a4486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624674c941741af" /><Relationship Type="http://schemas.openxmlformats.org/officeDocument/2006/relationships/notesMaster" Target="/ppt/notesMasters/notesMaster1.xml" Id="Ra21d71c3dc6d458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201aef9013f4573" /><Relationship Type="http://schemas.openxmlformats.org/officeDocument/2006/relationships/notesMaster" Target="/ppt/notesMasters/notesMaster1.xml" Id="R52fdc7ffbc104c7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61aa44ccd5d4e24" /><Relationship Type="http://schemas.openxmlformats.org/officeDocument/2006/relationships/notesMaster" Target="/ppt/notesMasters/notesMaster1.xml" Id="Reac8a31af53e458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3cc87f394da430d" /><Relationship Type="http://schemas.openxmlformats.org/officeDocument/2006/relationships/notesMaster" Target="/ppt/notesMasters/notesMaster1.xml" Id="R538e76d6c3624e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analysis. Colour reference: https://www.alberta.ca/colour-palette. Government of Alberta blue, sky and prairie palette. No government endorsement implied. Project snapshot 31 August 2026. Source dates are retained on each evidence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Government of Alberta, Alberta Major Projects inventory, snapshot 31 August 2026. https://www.majorprojects.alberta.ca/</a:t>
            </a:r>
          </a:p>
          <a:p xmlns:a="http://schemas.openxmlformats.org/drawingml/2006/main">
            <a:r>
              <a:t>Methodology: https://majorprojects.alberta.ca/methodology</a:t>
            </a:r>
          </a:p>
          <a:p xmlns:a="http://schemas.openxmlformats.org/drawingml/2006/main">
            <a:r>
              <a:t>https://open.alberta.ca/dataset/9c81a5a7-cdf1-49ad-a923-d1ecb42944e4/resource/eaeb7a75-0c9f-4964-be53-0f1cc889ffab/download/tbf-2026-27-first-quarter-fiscal-update-economic-statement.pdf</a:t>
            </a:r>
          </a:p>
          <a:p xmlns:a="http://schemas.openxmlformats.org/drawingml/2006/main">
            <a:r>
              <a:t>The 19 core records can represent phases or multi-location programmes, rather than unique campuses. Three enabling power records are separate. Proposed status does not establish financing, procurement or construction start. The capital plan spans different asset classes and includes more than construction labour.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Government of Alberta, Alberta Major Projects inventory, snapshot 31 August 2026. https://www.majorprojects.alberta.ca/</a:t>
            </a:r>
          </a:p>
          <a:p xmlns:a="http://schemas.openxmlformats.org/drawingml/2006/main">
            <a:r>
              <a:t>Methodology: https://majorprojects.alberta.ca/methodology</a:t>
            </a:r>
          </a:p>
          <a:p xmlns:a="http://schemas.openxmlformats.org/drawingml/2006/main">
            <a:r>
              <a:t>Seven core estimated costs sum to CAD49.01B. The other 12 core records lack costs. The sum excludes CAD6.40B from three enabling power records. Amounts may include servers, land and enabling works. The separate project model uses explicit construction and labour coefficients. Names are shortened on the chart; the appendix carries the full record 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Engineering interpretation of typical data-centre construction packages. The table identifies shared resources, not measured project quantities or incremental Alberta job demand. Site location, cooling design, electrical architecture and prefabrication determine the final scope. Electrical utility connections and permitting can be separate from the building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Government of Alberta, Alberta Major Projects inventory, snapshot 31 August 2026. https://www.majorprojects.alberta.ca/</a:t>
            </a:r>
          </a:p>
          <a:p xmlns:a="http://schemas.openxmlformats.org/drawingml/2006/main">
            <a:r>
              <a:t>Methodology: https://majorprojects.alberta.ca/methodology</a:t>
            </a:r>
          </a:p>
          <a:p xmlns:a="http://schemas.openxmlformats.org/drawingml/2006/main">
            <a:r>
              <a:t>Project-resolved monthly demand model, version project-demand-1. For each costed record, trade hours = cost × construction share × labour share / loaded paid-hour cost × trade payroll share. Monthly triangular CDF allocations conserve all trade hours. Electrical work spans 25–100% of the field period; HVAC 30–100%. Annual FTE equals annual paid hours / 1840. Reported start/end years use January/December boundaries; a missing endpoint uses a 36-month duration. Four records without either year start 18 months after the evidence month and use 36 months. Past proposed starts shift to the evidence month. All schedules and source fields are retained in the model register. Low/central/high construction shares 30/40/50%, labour shares 30/35/40%, loaded paid rates $100/$90/$80. Electrician/HVAC payroll shares 20/10%. All costed projects proceed in each case; there is no empirical probability weighting. Rates, curves and fallback dates require calibration. Low/high are cost-intensity cases, not confidence bounds. The peak depends on assumed schedules and is not a confirmed provincial market peak. Decline reflects cohort completion, not a forecast of no future activity.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Statistics Canada, Alberta observations. Census Table 98-10-0449-01, May 2021 employed persons: https://www150.statcan.gc.ca/t1/tbl1/en/tv.action?pid=9810044901</a:t>
            </a:r>
          </a:p>
          <a:p xmlns:a="http://schemas.openxmlformats.org/drawingml/2006/main">
            <a:r>
              <a:t>Job Vacancy and Wage Survey, Table 14-10-0444-01, Q1 2026: https://www150.statcan.gc.ca/t1/tbl1/en/tv.action?pid=1410044401</a:t>
            </a:r>
          </a:p>
          <a:p xmlns:a="http://schemas.openxmlformats.org/drawingml/2006/main">
            <a:r>
              <a:t>Government of Alberta, Alberta Major Projects inventory, snapshot 31 August 2026. https://www.majorprojects.alberta.ca/</a:t>
            </a:r>
          </a:p>
          <a:p xmlns:a="http://schemas.openxmlformats.org/drawingml/2006/main">
            <a:r>
              <a:t>Methodology: https://majorprojects.alberta.ca/methodology</a:t>
            </a:r>
          </a:p>
          <a:p xmlns:a="http://schemas.openxmlformats.org/drawingml/2006/main">
            <a:r>
              <a:t>The central electrical peak is 3940.211924216218 annual FTE in 2029; the central HVAC peak is 1925.966396578266 in 2030. Distinct work windows shift the peaks. These are not daily peak headcounts, current vacancies, net hiring or worker shortages. The denominator is historical May 2021 employed persons across industries. No capacity or shortage calculation uses these stocks. Four undated costed phases receive a common fallback start; the resulting concentration must be tested against real project milestones.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Statistics Canada, Building construction price indexes, Table 18-10-0289-01, Calgary and Edmonton industrial-factory components, Q2 2026 year-over-year changes. https://www150.statcan.gc.ca/t1/tbl1/en/tv.action?pid=1810028901</a:t>
            </a:r>
          </a:p>
          <a:p xmlns:a="http://schemas.openxmlformats.org/drawingml/2006/main">
            <a:r>
              <a:t>Year-over-year component changes from the industrial-factory archetype. It is a proxy for construction cost conditions, not a data-centre construction price index. Figures do not measure physical material volumes or supplier spare capacity, nor identify the causal contribution of data-centre activity.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Statistics Canada, Building construction price indexes, Table 18-10-0289-01, Calgary and Edmonton industrial-factory components, Q2 2026 year-over-year changes. https://www150.statcan.gc.ca/t1/tbl1/en/tv.action?pid=1810028901</a:t>
            </a:r>
          </a:p>
          <a:p xmlns:a="http://schemas.openxmlformats.org/drawingml/2006/main">
            <a:r>
              <a:t>https://open.alberta.ca/dataset/9c81a5a7-cdf1-49ad-a923-d1ecb42944e4/resource/eaeb7a75-0c9f-4964-be53-0f1cc889ffab/download/tbf-2026-27-first-quarter-fiscal-update-economic-statement.pdf</a:t>
            </a:r>
          </a:p>
          <a:p xmlns:a="http://schemas.openxmlformats.org/drawingml/2006/main">
            <a:r>
              <a:t>Exposure share is an analyst assumption, not measured capital-plan composition. Impact = $10,687M × exposed share × observed YoY percentage/100. Each row assumes the same quarter of the plan independently exposed to that component movement. No rows are summed. The historical movement is applied as a stress, not a future forecast or AI-attributable premium. Use uncommitted scope, contract allocation of price risk and current baseline price date before reserving contingency. 1% of whole plan = $106.87M; 10% = $1,068.7M. The plan is consolidated provincial capital, not the Infrastructure ministry budget 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Alberta Major Projects inventory, snapshot 31 August 2026. https://www.majorprojects.alberta.ca/</a:t>
            </a:r>
          </a:p>
          <a:p xmlns:a="http://schemas.openxmlformats.org/drawingml/2006/main">
            <a:r>
              <a:t>Analytical screen: school/postsecondary, roads/transit/airports, health, power, water/resilience and government/civic categories. Records can include private ownership. Schedule overlap does not demonstrate resource competition.</a:t>
            </a:r>
          </a:p>
          <a:p xmlns:a="http://schemas.openxmlformats.org/drawingml/2006/main">
            <a:r>
              <a:t>Exact filter: developer equals Alberta Infrastructure and schedule_overlap_status equals overlaps in the canonical exposure CSV for 2027–2036. 245 Infrastructure-developer records in the source, 184 with incomplete schedules. This is not a legal title search or a complete list of all GoA-funded projects. Examples intentionally span Calgary/Chestermere, central Alberta, Edmonton and the northwest. Electrical, cooling and commissioning are engineering package intersections, not observed current phases. Beacon-area and Wonder Valley-area proximity does not establish a shared contractor. Missing schedules remain unknown. Full register preserves municipality, stage and reported year range.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Government of Alberta, Alberta Major Projects inventory, snapshot 31 August 2026. https://www.majorprojects.alberta.ca/</a:t>
            </a:r>
          </a:p>
          <a:p xmlns:a="http://schemas.openxmlformats.org/drawingml/2006/main">
            <a:r>
              <a:t>Methodology: https://majorprojects.alberta.ca/methodology</a:t>
            </a:r>
          </a:p>
          <a:p xmlns:a="http://schemas.openxmlformats.org/drawingml/2006/main">
            <a:r>
              <a:t>Greenlight Electricity Centre: https://greenlightelectricitycentre.ca/</a:t>
            </a:r>
          </a:p>
          <a:p xmlns:a="http://schemas.openxmlformats.org/drawingml/2006/main">
            <a:r>
              <a:t>Teton Digital Black Bear Power Project: https://www.tetondigital.io/black-bear</a:t>
            </a:r>
          </a:p>
          <a:p xmlns:a="http://schemas.openxmlformats.org/drawingml/2006/main">
            <a:r>
              <a:t>Teton Digital Northern Forge Power Project: https://www.tetondigital.io/northern-forge</a:t>
            </a:r>
          </a:p>
          <a:p xmlns:a="http://schemas.openxmlformats.org/drawingml/2006/main">
            <a:r>
              <a:t>https://www.aeso.ca/grid/connecting-to-the-grid/large-load-projects/</a:t>
            </a:r>
          </a:p>
          <a:p xmlns:a="http://schemas.openxmlformats.org/drawingml/2006/main">
            <a:r>
              <a:t>AESO checked 6 September 2026: Phase 1 allocates 970 MW to GLDC Load and 230 MW to Keephills Data Centre Phase I. The projects continue through the Connection Process. Phase 2A is a BYOG process. Executed contracts do not mean energized load. Generation proposals total 1,598 MW, distinct from load contracts and not a measure of spare network capacity. Their data-centre-enabling classification is analytical. No inference of a province-wide transmission shortage or a public-facility delay. Distribution service and equipment can matter independently of the large-load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https://sourceblue.com/equipment-cost-index/q2-2026-cost-index-report</a:t>
            </a:r>
          </a:p>
          <a:p xmlns:a="http://schemas.openxmlformats.org/drawingml/2006/main">
            <a:r>
              <a:t>Underlying report: https://sourceblue.blob.core.windows.net/qa-sourceblue/uploads/media/1786376580684-59991e4c8f932e82.pdf</a:t>
            </a:r>
          </a:p>
          <a:p xmlns:a="http://schemas.openxmlformats.org/drawingml/2006/main">
            <a:r>
              <a:t>These are external procurement benchmarks, not assumed project durations or observed Alberta delivery commitments. Ranges vary by product and manufacturer. Confirm release-to-manufacture basis, freight, testing and installation before building a project schedule. No weeks of project delay are calculated.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decisions, not existing mandates, approved funding or assigned commitments. The capital review should distinguish contract-protected spend, allowances already held and genuinely uncommitted exposure. Early orders require stable designs, procurement authority, cancellation terms and a costed business case. Coordinate facility timelines without assuming AESO has responsibility for every distribution connection. Training and contractor participation require agreement; no outreach has occurred.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coefficients: construction share 30/40/50%, labour share 30/35/40%, loaded hourly cost $100/$90/$80, electrician/HVAC payroll shares 20/10%, 1840 paid hours per FTE-year. Each project retains reported dates and explicitly inferred endpoints or assigned starts. Undated start = evidence month + 18 months, default duration 36 months, triangular work curves. All costed projects proceed. No calibrated probabilities, spare capacity or causal cost elasticity. Budget sensitivities remain separate from labour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Government of Alberta, Alberta Major Projects inventory, snapshot 31 August 2026. https://www.majorprojects.alberta.ca/</a:t>
            </a:r>
          </a:p>
          <a:p xmlns:a="http://schemas.openxmlformats.org/drawingml/2006/main">
            <a:r>
              <a:t>Methodology: https://majorprojects.alberta.ca/methodology</a:t>
            </a:r>
          </a:p>
          <a:p xmlns:a="http://schemas.openxmlformats.org/drawingml/2006/main">
            <a:r>
              <a:t>eStruxture CAL-3 Data Centre: reported start 2024, reported end 2026, model start 2024-01, model finish 2026-12; Reported start/end years; January/December conventions</a:t>
            </a:r>
          </a:p>
          <a:p xmlns:a="http://schemas.openxmlformats.org/drawingml/2006/main">
            <a:r>
              <a:t>Wonder Valley AI Data Centre Park (Phase 1): reported start missing, reported end missing, model start 2028-03, model finish 2031-02; Model-assigned start: as-of + 18 months; 36-month duration</a:t>
            </a:r>
          </a:p>
          <a:p xmlns:a="http://schemas.openxmlformats.org/drawingml/2006/main">
            <a:r>
              <a:t>Beacon Foothills AI Data Centre Hub: reported start missing, reported end missing, model start 2028-03, model finish 2031-02; Model-assigned start: as-of + 18 months; 36-month duration</a:t>
            </a:r>
          </a:p>
          <a:p xmlns:a="http://schemas.openxmlformats.org/drawingml/2006/main">
            <a:r>
              <a:t>Crusoe AI Data Centres Alberta: reported start missing, reported end missing, model start 2028-03, model finish 2031-02; Model-assigned start: as-of + 18 months; 36-month duration</a:t>
            </a:r>
          </a:p>
          <a:p xmlns:a="http://schemas.openxmlformats.org/drawingml/2006/main">
            <a:r>
              <a:t>Technologies New Energy &amp; Data District Data Centres (Phase 1): reported start 2026, reported end missing, model start 2026-09, model finish 2029-08; Reported start year; model-inferred end from 36-month duration; past proposed start shifted to as-of month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Government of Alberta, Alberta Major Projects inventory, snapshot 31 August 2026. https://www.majorprojects.alberta.ca/</a:t>
            </a:r>
          </a:p>
          <a:p xmlns:a="http://schemas.openxmlformats.org/drawingml/2006/main">
            <a:r>
              <a:t>Methodology: https://majorprojects.alberta.ca/methodology</a:t>
            </a:r>
          </a:p>
          <a:p xmlns:a="http://schemas.openxmlformats.org/drawingml/2006/main">
            <a:r>
              <a:t>Meta Data Centre: reported start missing, reported end missing, model start 2028-03, model finish 2031-02; Model-assigned start: as-of + 18 months; 36-month duration</a:t>
            </a:r>
          </a:p>
          <a:p xmlns:a="http://schemas.openxmlformats.org/drawingml/2006/main">
            <a:r>
              <a:t>Malachite One Data Centre: reported start 2027, reported end 2030, model start 2027-01, model finish 2030-12; Reported start/end years; January/December conventions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Alberta Major Projects inventory, snapshot 31 August 2026. https://www.majorprojects.alberta.ca/</a:t>
            </a:r>
          </a:p>
          <a:p xmlns:a="http://schemas.openxmlformats.org/drawingml/2006/main">
            <a:r>
              <a:t>Analytical screen: school/postsecondary, roads/transit/airports, health, power, water/resilience and government/civic categories. Records can include private ownership. Schedule overlap does not demonstrate resource competition.</a:t>
            </a:r>
          </a:p>
          <a:p xmlns:a="http://schemas.openxmlformats.org/drawingml/2006/main">
            <a:r>
              <a:t>ABMP_10797: Alberta Surgical Initiative (02 - Calgary). Developer Alberta Infrastructure; Calgary; Under Construction; 2024–2029; as of 2026-08-31.</a:t>
            </a:r>
          </a:p>
          <a:p xmlns:a="http://schemas.openxmlformats.org/drawingml/2006/main">
            <a:r>
              <a:t>ABMP_11374: Alberta Surgical Initiative (06 - Royal Alexandra Hospital). Developer Alberta Infrastructure; Edmonton; Proposed; 2027–2028; as of 2026-08-31.</a:t>
            </a:r>
          </a:p>
          <a:p xmlns:a="http://schemas.openxmlformats.org/drawingml/2006/main">
            <a:r>
              <a:t>ABMP_11500: Alberta Surgical Initiative (07 - Sturgeon Community Hospital). Developer Alberta Infrastructure; St. Albert; Proposed; 2027–2028; as of 2026-08-31.</a:t>
            </a:r>
          </a:p>
          <a:p xmlns:a="http://schemas.openxmlformats.org/drawingml/2006/main">
            <a:r>
              <a:t>ABMP_11380: Alberta Surgical Initiative (13 - Ponoka Hospital and Care Centre). Developer Alberta Infrastructure; Ponoka; Under Construction; 2025–2028; as of 2026-08-31.</a:t>
            </a:r>
          </a:p>
          <a:p xmlns:a="http://schemas.openxmlformats.org/drawingml/2006/main">
            <a:r>
              <a:t>ABMP_11381: Alberta Surgical Initiative (14 - Fort Saskatchewan). Developer Alberta Infrastructure; Fort Saskatchewan; Proposed; 2026–2028; as of 2026-08-31.</a:t>
            </a:r>
          </a:p>
          <a:p xmlns:a="http://schemas.openxmlformats.org/drawingml/2006/main">
            <a:r>
              <a:t>ABMP_11382: Alberta Surgical Initiative (15 - Alberta Children's Hospital). Developer Alberta Infrastructure; Calgary; Under Construction; 2026–2027; as of 2026-08-31.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Alberta Major Projects inventory, snapshot 31 August 2026. https://www.majorprojects.alberta.ca/</a:t>
            </a:r>
          </a:p>
          <a:p xmlns:a="http://schemas.openxmlformats.org/drawingml/2006/main">
            <a:r>
              <a:t>Analytical screen: school/postsecondary, roads/transit/airports, health, power, water/resilience and government/civic categories. Records can include private ownership. Schedule overlap does not demonstrate resource competition.</a:t>
            </a:r>
          </a:p>
          <a:p xmlns:a="http://schemas.openxmlformats.org/drawingml/2006/main">
            <a:r>
              <a:t>ABMP_11383: Alberta Surgical Initiative (16 - Grey Nuns Hospital). Developer Alberta Infrastructure; Edmonton; Proposed; 2026–2028; as of 2026-08-31.</a:t>
            </a:r>
          </a:p>
          <a:p xmlns:a="http://schemas.openxmlformats.org/drawingml/2006/main">
            <a:r>
              <a:t>ABMP_10801: Calgary Complex Needs Residential Facility. Developer Alberta Infrastructure; Calgary; Under Construction; 2025–2027; as of 2026-08-31.</a:t>
            </a:r>
          </a:p>
          <a:p xmlns:a="http://schemas.openxmlformats.org/drawingml/2006/main">
            <a:r>
              <a:t>ABMP_4363: Calgary Radiopharmaceutical Centre. Developer Alberta Infrastructure; Calgary; Under Construction; 2025–2027; as of 2026-08-31.</a:t>
            </a:r>
          </a:p>
          <a:p xmlns:a="http://schemas.openxmlformats.org/drawingml/2006/main">
            <a:r>
              <a:t>ABMP_2050: Foothills Medical Centre Power Plant Upgrade Cogeneration Initiative. Developer Alberta Infrastructure; Calgary; Under Construction; 2021–2027; as of 2026-08-31.</a:t>
            </a:r>
          </a:p>
          <a:p xmlns:a="http://schemas.openxmlformats.org/drawingml/2006/main">
            <a:r>
              <a:t>ABMP_4364: La Crete Maternity and Community Health Centre. Developer Alberta Infrastructure; Mackenzie County; Under Construction; 2025–2028; as of 2026-08-31.</a:t>
            </a:r>
          </a:p>
          <a:p xmlns:a="http://schemas.openxmlformats.org/drawingml/2006/main">
            <a:r>
              <a:t>ABMP_11507: Medical Device Reprocessing (MDR) Upgrades Program - Phase 1 (4 - Northern Lights). Developer Alberta Infrastructure; Wood Buffalo; Under Construction; 2025–2027; as of 2026-08-31.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Alberta Major Projects inventory, snapshot 31 August 2026. https://www.majorprojects.alberta.ca/</a:t>
            </a:r>
          </a:p>
          <a:p xmlns:a="http://schemas.openxmlformats.org/drawingml/2006/main">
            <a:r>
              <a:t>Analytical screen: school/postsecondary, roads/transit/airports, health, power, water/resilience and government/civic categories. Records can include private ownership. Schedule overlap does not demonstrate resource competition.</a:t>
            </a:r>
          </a:p>
          <a:p xmlns:a="http://schemas.openxmlformats.org/drawingml/2006/main">
            <a:r>
              <a:t>ABMP_10951: Medical Device Reprocessing (MDR) Upgrades Program - Phase 1 (5 - Westlock). Developer Alberta Infrastructure; Westlock; Proposed; 2026–2028; as of 2026-08-31.</a:t>
            </a:r>
          </a:p>
          <a:p xmlns:a="http://schemas.openxmlformats.org/drawingml/2006/main">
            <a:r>
              <a:t>ABMP_10952: Medical Device Reprocessing (MDR) Upgrades Program - Phase 1 (6 - Sturgeon). Developer Alberta Infrastructure; St. Albert; Proposed; 2027–2030; as of 2026-08-31.</a:t>
            </a:r>
          </a:p>
          <a:p xmlns:a="http://schemas.openxmlformats.org/drawingml/2006/main">
            <a:r>
              <a:t>ABMP_11366: Medical Device Reprocessing (MDR) Upgrades Program - Phase 2 (1 - Misericordia Community Hospital). Developer Alberta Infrastructure; Edmonton; Under Construction; 2026–2029; as of 2026-08-31.</a:t>
            </a:r>
          </a:p>
          <a:p xmlns:a="http://schemas.openxmlformats.org/drawingml/2006/main">
            <a:r>
              <a:t>ABMP_11367: Medical Device Reprocessing (MDR) Upgrades Program - Phase 2 (2 - Grey Nuns Community Hospital). Developer Alberta Infrastructure; Edmonton; Under Construction; 2026–2028; as of 2026-08-31.</a:t>
            </a:r>
          </a:p>
          <a:p xmlns:a="http://schemas.openxmlformats.org/drawingml/2006/main">
            <a:r>
              <a:t>ABMP_11362: National Association of Pharmacy Regulatory Authorities Capital Program (Medicine Hat). Developer Alberta Infrastructure; Medicine Hat; Under Construction; 2026–2027; as of 2026-08-31.</a:t>
            </a:r>
          </a:p>
          <a:p xmlns:a="http://schemas.openxmlformats.org/drawingml/2006/main">
            <a:r>
              <a:t>ABMP_11567: Northern Alberta Youth Recovery Centre (NAYRC) - Edmonton EYOC. Developer Alberta Infrastructure; Edmonton; Under Construction; 2025–2027; as of 2026-08-31.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Alberta Major Projects inventory, snapshot 31 August 2026. https://www.majorprojects.alberta.ca/</a:t>
            </a:r>
          </a:p>
          <a:p xmlns:a="http://schemas.openxmlformats.org/drawingml/2006/main">
            <a:r>
              <a:t>Analytical screen: school/postsecondary, roads/transit/airports, health, power, water/resilience and government/civic categories. Records can include private ownership. Schedule overlap does not demonstrate resource competition.</a:t>
            </a:r>
          </a:p>
          <a:p xmlns:a="http://schemas.openxmlformats.org/drawingml/2006/main">
            <a:r>
              <a:t>ABMP_10957: Recovery Communities (10 - Grande Prairie). Developer Alberta Infrastructure; Grande Prairie; Under Construction; 2026–2028; as of 2026-08-31.</a:t>
            </a:r>
          </a:p>
          <a:p xmlns:a="http://schemas.openxmlformats.org/drawingml/2006/main">
            <a:r>
              <a:t>ABMP_11513: Recovery Communities (12 - Edmonton Young Offender Centre). Developer Alberta Infrastructure; Edmonton; Under Construction; 2025–2027; as of 2026-08-31.</a:t>
            </a:r>
          </a:p>
          <a:p xmlns:a="http://schemas.openxmlformats.org/drawingml/2006/main">
            <a:r>
              <a:t>ABMP_11876: Red Deer Regional Hospital - Ambulatory Building. Developer Alberta Infrastructure; Red Deer; Under Construction; 2026–2029; as of 2026-08-31.</a:t>
            </a:r>
          </a:p>
          <a:p xmlns:a="http://schemas.openxmlformats.org/drawingml/2006/main">
            <a:r>
              <a:t>ABMP_4050: Red Deer Regional Hospital Centre Redevelopment. Developer Alberta Infrastructure; Red Deer; Under Construction; 2024–2031; as of 2026-08-31.</a:t>
            </a:r>
          </a:p>
          <a:p xmlns:a="http://schemas.openxmlformats.org/drawingml/2006/main">
            <a:r>
              <a:t>ABMP_10535: University of Alberta Hospital Brain Centre - Neurosciences Intensive Care Unit (NSICU). Developer Alberta Infrastructure; Edmonton; Under Construction; 2024–2029; as of 2026-08-31.</a:t>
            </a:r>
          </a:p>
          <a:p xmlns:a="http://schemas.openxmlformats.org/drawingml/2006/main">
            <a:r>
              <a:t>ABMP_11464: Barrhead Composite High School Modernization. Developer Alberta Infrastructure; Barrhead; Under Construction; 2025–2028; as of 2026-08-31.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Alberta Major Projects inventory, snapshot 31 August 2026. https://www.majorprojects.alberta.ca/</a:t>
            </a:r>
          </a:p>
          <a:p xmlns:a="http://schemas.openxmlformats.org/drawingml/2006/main">
            <a:r>
              <a:t>Analytical screen: school/postsecondary, roads/transit/airports, health, power, water/resilience and government/civic categories. Records can include private ownership. Schedule overlap does not demonstrate resource competition.</a:t>
            </a:r>
          </a:p>
          <a:p xmlns:a="http://schemas.openxmlformats.org/drawingml/2006/main">
            <a:r>
              <a:t>ABMP_11429: Breton School K-12 Modernization. Developer Alberta Infrastructure; Breton; Under Construction; 2025–2027; as of 2026-08-31.</a:t>
            </a:r>
          </a:p>
          <a:p xmlns:a="http://schemas.openxmlformats.org/drawingml/2006/main">
            <a:r>
              <a:t>ABMP_11456: Delton K-6 Replacement School. Developer Alberta Infrastructure; Edmonton; Under Construction; 2026–2028; as of 2026-08-31.</a:t>
            </a:r>
          </a:p>
          <a:p xmlns:a="http://schemas.openxmlformats.org/drawingml/2006/main">
            <a:r>
              <a:t>ABMP_11459: Ecole Heritage K-12 Modernization. Developer Alberta Infrastructure; Falher; Under Construction; 2026–2027; as of 2026-08-31.</a:t>
            </a:r>
          </a:p>
          <a:p xmlns:a="http://schemas.openxmlformats.org/drawingml/2006/main">
            <a:r>
              <a:t>ABMP_10941: Holy Family K-12 Replacement School (Waskatenau). Developer Alberta Infrastructure; Waskatenau; Under Construction; 2025–2027; as of 2026-08-31.</a:t>
            </a:r>
          </a:p>
          <a:p xmlns:a="http://schemas.openxmlformats.org/drawingml/2006/main">
            <a:r>
              <a:t>ABMP_11431: Holy Trinity Academy (formerly St. Francis Xavier K-9 Replacement School). Developer Alberta Infrastructure; Medicine Hat; Under Construction; 2025–2027; as of 2026-08-31.</a:t>
            </a:r>
          </a:p>
          <a:p xmlns:a="http://schemas.openxmlformats.org/drawingml/2006/main">
            <a:r>
              <a:t>ABMP_11458: New 7-12 Catholic and Public High School in West Edmonton. Developer Alberta Infrastructure; Edmonton; Under Construction; 2026–2029; as of 2026-08-31.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Alberta Major Projects inventory, snapshot 31 August 2026. https://www.majorprojects.alberta.ca/</a:t>
            </a:r>
          </a:p>
          <a:p xmlns:a="http://schemas.openxmlformats.org/drawingml/2006/main">
            <a:r>
              <a:t>Analytical screen: school/postsecondary, roads/transit/airports, health, power, water/resilience and government/civic categories. Records can include private ownership. Schedule overlap does not demonstrate resource competition.</a:t>
            </a:r>
          </a:p>
          <a:p xmlns:a="http://schemas.openxmlformats.org/drawingml/2006/main">
            <a:r>
              <a:t>ABMP_10937: New 7-12 School in Glenridding Heights (Edmonton). Developer Alberta Infrastructure; Edmonton; Under Construction; 2025–2027; as of 2026-08-31.</a:t>
            </a:r>
          </a:p>
          <a:p xmlns:a="http://schemas.openxmlformats.org/drawingml/2006/main">
            <a:r>
              <a:t>ABMP_11346: New High School in West Calgary. Developer Alberta Infrastructure; Calgary; Under Construction; 2025–2028; as of 2026-08-31.</a:t>
            </a:r>
          </a:p>
          <a:p xmlns:a="http://schemas.openxmlformats.org/drawingml/2006/main">
            <a:r>
              <a:t>ABMP_11249: New K-5 School in Blackfalds. Developer Alberta Infrastructure; Blackfalds; Under Construction; 2025–2027; as of 2026-08-31.</a:t>
            </a:r>
          </a:p>
          <a:p xmlns:a="http://schemas.openxmlformats.org/drawingml/2006/main">
            <a:r>
              <a:t>ABMP_11345: New K-8 School in Bayview (SW Airdrie). Developer Alberta Infrastructure; Airdrie; Under Construction; 2026–2028; as of 2026-08-31.</a:t>
            </a:r>
          </a:p>
          <a:p xmlns:a="http://schemas.openxmlformats.org/drawingml/2006/main">
            <a:r>
              <a:t>ABMP_11248: New K-8 School in Windsong (SW Airdrie). Developer Alberta Infrastructure; Airdrie; Under Construction; 2025–2027; as of 2026-08-31.</a:t>
            </a:r>
          </a:p>
          <a:p xmlns:a="http://schemas.openxmlformats.org/drawingml/2006/main">
            <a:r>
              <a:t>ABMP_11252: New K-9 Catholic School in Chestermere. Developer Alberta Infrastructure; Chestermere; Under Construction; 2025–2027; as of 2026-08-31.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Alberta Major Projects inventory, snapshot 31 August 2026. https://www.majorprojects.alberta.ca/</a:t>
            </a:r>
          </a:p>
          <a:p xmlns:a="http://schemas.openxmlformats.org/drawingml/2006/main">
            <a:r>
              <a:t>Analytical screen: school/postsecondary, roads/transit/airports, health, power, water/resilience and government/civic categories. Records can include private ownership. Schedule overlap does not demonstrate resource competition.</a:t>
            </a:r>
          </a:p>
          <a:p xmlns:a="http://schemas.openxmlformats.org/drawingml/2006/main">
            <a:r>
              <a:t>ABMP_10932: New K-9 Nolan Hill (Calgary). Developer Alberta Infrastructure; Calgary; Under Construction; 2025–2027; as of 2026-08-31.</a:t>
            </a:r>
          </a:p>
          <a:p xmlns:a="http://schemas.openxmlformats.org/drawingml/2006/main">
            <a:r>
              <a:t>ABMP_11251: New Rangeview High School. Developer Alberta Infrastructure; Calgary; Under Construction; 2025–2027; as of 2026-08-31.</a:t>
            </a:r>
          </a:p>
          <a:p xmlns:a="http://schemas.openxmlformats.org/drawingml/2006/main">
            <a:r>
              <a:t>ABMP_10930: New Secondary (7-12) School in Airdrie. Developer Alberta Infrastructure; Airdrie; Under Construction; 2026–2027; as of 2026-08-31.</a:t>
            </a:r>
          </a:p>
          <a:p xmlns:a="http://schemas.openxmlformats.org/drawingml/2006/main">
            <a:r>
              <a:t>ABMP_11432: Solution for Nanton School. Developer Alberta Infrastructure; Nanton; Under Construction; 2025–2027; as of 2026-08-31.</a:t>
            </a:r>
          </a:p>
          <a:p xmlns:a="http://schemas.openxmlformats.org/drawingml/2006/main">
            <a:r>
              <a:t>ABMP_11253: Solution for Rundle Heights K-9 School. Developer Alberta Infrastructure; Edmonton; Under Construction; 2025–2027; as of 2026-08-31.</a:t>
            </a:r>
          </a:p>
          <a:p xmlns:a="http://schemas.openxmlformats.org/drawingml/2006/main">
            <a:r>
              <a:t>ABMP_10933: Solution for �cole Michaelle Jean &amp; Gabrielle Roy. Developer Alberta Infrastructure; Edmonton; Under Construction; 2025–2028; as of 2026-08-31.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Alberta Major Projects inventory, snapshot 31 August 2026. https://www.majorprojects.alberta.ca/</a:t>
            </a:r>
          </a:p>
          <a:p xmlns:a="http://schemas.openxmlformats.org/drawingml/2006/main">
            <a:r>
              <a:t>Analytical screen: school/postsecondary, roads/transit/airports, health, power, water/resilience and government/civic categories. Records can include private ownership. Schedule overlap does not demonstrate resource competition.</a:t>
            </a:r>
          </a:p>
          <a:p xmlns:a="http://schemas.openxmlformats.org/drawingml/2006/main">
            <a:r>
              <a:t>ABMP_10940: Spruce Grove Composite High School Replacement. Developer Alberta Infrastructure; Spruce Grove; Under Construction; 2025–2028; as of 2026-08-31.</a:t>
            </a:r>
          </a:p>
          <a:p xmlns:a="http://schemas.openxmlformats.org/drawingml/2006/main">
            <a:r>
              <a:t>ABMP_11056: St. Kateri Elementary School (West Lethbridge). Developer Alberta Infrastructure; Lethbridge; Under Construction; 2025–2027; as of 2026-08-31.</a:t>
            </a:r>
          </a:p>
          <a:p xmlns:a="http://schemas.openxmlformats.org/drawingml/2006/main">
            <a:r>
              <a:t>ABMP_4503: St. Martin de Porres High School Addition. Developer Alberta Infrastructure; Airdrie; Under Construction; 2024–2028; as of 2026-08-31.</a:t>
            </a:r>
          </a:p>
          <a:p xmlns:a="http://schemas.openxmlformats.org/drawingml/2006/main">
            <a:r>
              <a:t>ABMP_11410: Vera M. Welsh School Replacement. Developer Alberta Infrastructure; Lac la Biche County; Under Construction; 2025–2027; as of 2026-08-31.</a:t>
            </a:r>
          </a:p>
          <a:p xmlns:a="http://schemas.openxmlformats.org/drawingml/2006/main">
            <a:r>
              <a:t>ABMP_11343: Wainwright K-6 Elementary Replacement. Developer Alberta Infrastructure; Wainwright; Under Construction; 2025–2027; as of 2026-08-31.</a:t>
            </a:r>
          </a:p>
          <a:p xmlns:a="http://schemas.openxmlformats.org/drawingml/2006/main">
            <a:r>
              <a:t>ABMP_10942: �cole Good Shepherd K-9 Replacement. Developer Alberta Infrastructure; Okotoks; Under Construction; 2025–2027; as of 2026-08-31.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Alberta Major Projects inventory, snapshot 31 August 2026. https://www.majorprojects.alberta.ca/</a:t>
            </a:r>
          </a:p>
          <a:p xmlns:a="http://schemas.openxmlformats.org/drawingml/2006/main">
            <a:r>
              <a:t>Analytical screen: school/postsecondary, roads/transit/airports, health, power, water/resilience and government/civic categories. Records can include private ownership. Schedule overlap does not demonstrate resource competition.</a:t>
            </a:r>
          </a:p>
          <a:p xmlns:a="http://schemas.openxmlformats.org/drawingml/2006/main">
            <a:r>
              <a:t>ABMP_11256: �cole Mallaig K-12 Replacement School. Developer Alberta Infrastructure; St. Paul County No. 19; Under Construction; 2025–2027; as of 2026-08-31.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Government of Alberta, Alberta Major Projects inventory, snapshot 31 August 2026. https://www.majorprojects.alberta.ca/</a:t>
            </a:r>
          </a:p>
          <a:p xmlns:a="http://schemas.openxmlformats.org/drawingml/2006/main">
            <a:r>
              <a:t>Methodology: https://majorprojects.alberta.ca/methodology</a:t>
            </a:r>
          </a:p>
          <a:p xmlns:a="http://schemas.openxmlformats.org/drawingml/2006/main">
            <a:r>
              <a:t>Names and reported values are preserved from the dated inventory. “Construction” abbreviates the publisher’s “Under Construction” status. Start and end years are reported years without back-calculation. These records are not a confirmed delivery forecast.</a:t>
            </a:r>
          </a:p>
          <a:p xmlns:a="http://schemas.openxmlformats.org/drawingml/2006/main">
            <a:r>
              <a:t>eStruxture CAL-3 Data Centre: https://info.estruxture.com/hubfs/Data%20Sheets/eStruxture_Datasheet_CAL3%20EN%20V2%202025.pdf?__hstc=17468411.9cbf58fbaac1d56717987d205a46139e.1778703431220.1778703431220.1778703431220.1&amp;__hssc=17468411.4.1779463158036&amp;__hsfp=31c185fa9baa393ca4363973b4df6c18</a:t>
            </a:r>
          </a:p>
          <a:p xmlns:a="http://schemas.openxmlformats.org/drawingml/2006/main">
            <a:r>
              <a:t>Wonder Valley AI Data Centre Park (Phase 1): https://www.olearydigital.ai/</a:t>
            </a:r>
          </a:p>
          <a:p xmlns:a="http://schemas.openxmlformats.org/drawingml/2006/main">
            <a:r>
              <a:t>Beacon Harry Smith AI Data Centre Hub: https://beacondatacenters.com/campuses/</a:t>
            </a:r>
          </a:p>
          <a:p xmlns:a="http://schemas.openxmlformats.org/drawingml/2006/main">
            <a:r>
              <a:t>Beacon Indus Data Centre Hub: https://beacondatacenters.com/wp-content/uploads/2026/02/BEA_IndusCGY-FAQ.pdf</a:t>
            </a:r>
          </a:p>
          <a:p xmlns:a="http://schemas.openxmlformats.org/drawingml/2006/main">
            <a:r>
              <a:t>Beacon Heartland AI Data Centre Hub: https://beacondatacenters.com/campuses/</a:t>
            </a:r>
          </a:p>
          <a:p xmlns:a="http://schemas.openxmlformats.org/drawingml/2006/main">
            <a:r>
              <a:t>Beacon Saunders Lake AI Data Centre Hub: https://beacondatacenters.com/campuses/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Government of Alberta, Alberta Major Projects inventory, snapshot 31 August 2026. https://www.majorprojects.alberta.ca/</a:t>
            </a:r>
          </a:p>
          <a:p xmlns:a="http://schemas.openxmlformats.org/drawingml/2006/main">
            <a:r>
              <a:t>Methodology: https://majorprojects.alberta.ca/methodology</a:t>
            </a:r>
          </a:p>
          <a:p xmlns:a="http://schemas.openxmlformats.org/drawingml/2006/main">
            <a:r>
              <a:t>Names and reported values are preserved from the dated inventory. “Construction” abbreviates the publisher’s “Under Construction” status. Start and end years are reported years without back-calculation. These records are not a confirmed delivery forecast.</a:t>
            </a:r>
          </a:p>
          <a:p xmlns:a="http://schemas.openxmlformats.org/drawingml/2006/main">
            <a:r>
              <a:t>HubOne AI &amp; BTC High Density Compute Park: https://hub1.ca/</a:t>
            </a:r>
          </a:p>
          <a:p xmlns:a="http://schemas.openxmlformats.org/drawingml/2006/main">
            <a:r>
              <a:t>Prairie Sky Data Solutions Strathmore Data Center (Phase 1): https://www.prairieskydata.com/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Government of Alberta, Alberta Major Projects inventory, snapshot 31 August 2026. https://www.majorprojects.alberta.ca/</a:t>
            </a:r>
          </a:p>
          <a:p xmlns:a="http://schemas.openxmlformats.org/drawingml/2006/main">
            <a:r>
              <a:t>Methodology: https://majorprojects.alberta.ca/methodology</a:t>
            </a:r>
          </a:p>
          <a:p xmlns:a="http://schemas.openxmlformats.org/drawingml/2006/main">
            <a:r>
              <a:t>Names and reported values are preserved from the dated inventory. “Construction” abbreviates the publisher’s “Under Construction” status. Start and end years are reported years without back-calculation. These records are not a confirmed delivery forecast.</a:t>
            </a:r>
          </a:p>
          <a:p xmlns:a="http://schemas.openxmlformats.org/drawingml/2006/main">
            <a:r>
              <a:t>Beacon Chestermere AI Data Centre Hub: https://beacondatacenters.com/campuses/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872bdc4cad4ae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182c6edd7104480" /><Relationship Type="http://schemas.openxmlformats.org/officeDocument/2006/relationships/slideLayout" Target="/ppt/slideLayouts/slideLayout1.xml" Id="Rec6dcf1e5c55498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6dcf1e5c55498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9363d06a1e14562" /><Relationship Type="http://schemas.openxmlformats.org/officeDocument/2006/relationships/notesSlide" Target="/ppt/notesSlides/notesSlide1.xml" Id="Rc03fd8236a7c456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e2e63f4e3594c72" /><Relationship Type="http://schemas.openxmlformats.org/officeDocument/2006/relationships/chart" Target="/ppt/slides/charts/chart1.xml" Id="Re100df32d67949ef" /><Relationship Type="http://schemas.openxmlformats.org/officeDocument/2006/relationships/notesSlide" Target="/ppt/notesSlides/notesSlide2.xml" Id="Rae0a6ac077a9457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60999e1d3164e7d" /><Relationship Type="http://schemas.openxmlformats.org/officeDocument/2006/relationships/chart" Target="/ppt/slides/charts/chart2.xml" Id="R131cb9da1bc44a5d" /><Relationship Type="http://schemas.openxmlformats.org/officeDocument/2006/relationships/notesSlide" Target="/ppt/notesSlides/notesSlide3.xml" Id="R3e8c197689ac42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2218058ac964c7a" /><Relationship Type="http://schemas.openxmlformats.org/officeDocument/2006/relationships/notesSlide" Target="/ppt/notesSlides/notesSlide4.xml" Id="Ra1db022cc15348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198db52d0a64364" /><Relationship Type="http://schemas.openxmlformats.org/officeDocument/2006/relationships/chart" Target="/ppt/slides/charts/chart3.xml" Id="Rdb816c21c8814c96" /><Relationship Type="http://schemas.openxmlformats.org/officeDocument/2006/relationships/notesSlide" Target="/ppt/notesSlides/notesSlide5.xml" Id="R47874858265344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a303f39127c4278" /><Relationship Type="http://schemas.openxmlformats.org/officeDocument/2006/relationships/notesSlide" Target="/ppt/notesSlides/notesSlide6.xml" Id="R814988a6ab2c4f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e998ca362e74625" /><Relationship Type="http://schemas.openxmlformats.org/officeDocument/2006/relationships/chart" Target="/ppt/slides/charts/chart4.xml" Id="Rd252f3d58f984769" /><Relationship Type="http://schemas.openxmlformats.org/officeDocument/2006/relationships/notesSlide" Target="/ppt/notesSlides/notesSlide7.xml" Id="R42219d7163354bd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edf4684f39840eb" /><Relationship Type="http://schemas.openxmlformats.org/officeDocument/2006/relationships/notesSlide" Target="/ppt/notesSlides/notesSlide8.xml" Id="R7900dbfd92b749f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58f56b5ae8f4032" /><Relationship Type="http://schemas.openxmlformats.org/officeDocument/2006/relationships/notesSlide" Target="/ppt/notesSlides/notesSlide9.xml" Id="R3cf74b14b35944b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4df68cff78e4f45" /><Relationship Type="http://schemas.openxmlformats.org/officeDocument/2006/relationships/notesSlide" Target="/ppt/notesSlides/notesSlide10.xml" Id="R5434afcf922d495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3915cc702bb43c3" /><Relationship Type="http://schemas.openxmlformats.org/officeDocument/2006/relationships/notesSlide" Target="/ppt/notesSlides/notesSlide11.xml" Id="Ra9115d167e514d8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35f622fc4ea4bcd" /><Relationship Type="http://schemas.openxmlformats.org/officeDocument/2006/relationships/notesSlide" Target="/ppt/notesSlides/notesSlide12.xml" Id="Rcf9de4bbd0b948e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9a61fa8aee6412f" /><Relationship Type="http://schemas.openxmlformats.org/officeDocument/2006/relationships/notesSlide" Target="/ppt/notesSlides/notesSlide13.xml" Id="R638b03489623416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646713b908e4311" /><Relationship Type="http://schemas.openxmlformats.org/officeDocument/2006/relationships/notesSlide" Target="/ppt/notesSlides/notesSlide14.xml" Id="Rb74f88b1cfb2471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862aad136c7449c" /><Relationship Type="http://schemas.openxmlformats.org/officeDocument/2006/relationships/notesSlide" Target="/ppt/notesSlides/notesSlide15.xml" Id="R2c327a94052c405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d444ba9fadb4cb2" /><Relationship Type="http://schemas.openxmlformats.org/officeDocument/2006/relationships/notesSlide" Target="/ppt/notesSlides/notesSlide16.xml" Id="Reda142c53b9d48e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4d42bc1c0564f9c" /><Relationship Type="http://schemas.openxmlformats.org/officeDocument/2006/relationships/notesSlide" Target="/ppt/notesSlides/notesSlide17.xml" Id="Re9015c8ac98a466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ce945cc1c174c0d" /><Relationship Type="http://schemas.openxmlformats.org/officeDocument/2006/relationships/notesSlide" Target="/ppt/notesSlides/notesSlide18.xml" Id="R5f1d53b6573a45e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0ffca2d479c4b41" /><Relationship Type="http://schemas.openxmlformats.org/officeDocument/2006/relationships/notesSlide" Target="/ppt/notesSlides/notesSlide19.xml" Id="R6e31cd74a8064fa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d8684b995884a25" /><Relationship Type="http://schemas.openxmlformats.org/officeDocument/2006/relationships/notesSlide" Target="/ppt/notesSlides/notesSlide20.xml" Id="Rab6fb8caac594d4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8409841de7c44a0" /><Relationship Type="http://schemas.openxmlformats.org/officeDocument/2006/relationships/notesSlide" Target="/ppt/notesSlides/notesSlide21.xml" Id="R20aeb7ee7bc144e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f8801502af140c2" /><Relationship Type="http://schemas.openxmlformats.org/officeDocument/2006/relationships/notesSlide" Target="/ppt/notesSlides/notesSlide22.xml" Id="R548bdf208b8c4cf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f59e14c37074c05" /><Relationship Type="http://schemas.openxmlformats.org/officeDocument/2006/relationships/notesSlide" Target="/ppt/notesSlides/notesSlide23.xml" Id="R78d87f8ed3d4466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fa5690a38024b63" /><Relationship Type="http://schemas.openxmlformats.org/officeDocument/2006/relationships/notesSlide" Target="/ppt/notesSlides/notesSlide24.xml" Id="R0daa9f1cf8af49b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409688c51c04855" /><Relationship Type="http://schemas.openxmlformats.org/officeDocument/2006/relationships/notesSlide" Target="/ppt/notesSlides/notesSlide25.xml" Id="R16e312e2e29d42a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7baec0295a44851" /><Relationship Type="http://schemas.openxmlformats.org/officeDocument/2006/relationships/notesSlide" Target="/ppt/notesSlides/notesSlide26.xml" Id="R6ce0edd1606649f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c3b175a934e4517" /><Relationship Type="http://schemas.openxmlformats.org/officeDocument/2006/relationships/notesSlide" Target="/ppt/notesSlides/notesSlide27.xml" Id="R54492fff2653461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Data-centre records</c:v>
          </c:tx>
          <c:spPr>
            <a:solidFill xmlns:a="http://schemas.openxmlformats.org/drawingml/2006/main">
              <a:srgbClr val="0077CD"/>
            </a:solidFill>
            <a:ln xmlns:a="http://schemas.openxmlformats.org/drawingml/2006/main" w="28575">
              <a:solidFill>
                <a:srgbClr val="0077CD"/>
              </a:solidFill>
            </a:ln>
          </c:spPr>
          <c:cat>
            <c:strRef>
              <c:f>'Chart Data'!$A$2:$A$3</c:f>
              <c:strCache>
                <c:ptCount val="2"/>
                <c:pt idx="0">
                  <c:v>Proposed</c:v>
                </c:pt>
                <c:pt idx="1">
                  <c:v>Under construction</c:v>
                </c:pt>
              </c:strCache>
            </c:strRef>
          </c:cat>
          <c:val>
            <c:numRef>
              <c:f>'Chart Data'!$B$2:$B$3</c:f>
              <c:numCache>
                <c:formatCode>#,##0</c:formatCode>
                <c:ptCount val="2"/>
                <c:pt idx="0">
                  <c:v>15</c:v>
                </c:pt>
                <c:pt idx="1">
                  <c:v>4</c:v>
                </c:pt>
              </c:numCache>
            </c:numRef>
          </c:val>
        </c:ser>
        <c:dLbls>
          <c:txPr>
            <a:bodyPr xmlns:a="http://schemas.openxmlformats.org/drawingml/2006/main" anchorCtr="1"/>
            <a:lstStyle xmlns:a="http://schemas.openxmlformats.org/drawingml/2006/main"/>
            <a:p xmlns:a="http://schemas.openxmlformats.org/drawingml/2006/main">
              <a:pPr>
                <a:defRPr sz="1425">
                  <a:solidFill>
                    <a:srgbClr val="33333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72768"/>
      </c:catAx>
      <c:valAx>
        <c:axId val="48672768"/>
        <c:scaling>
          <c:orientation val="minMax"/>
          <c:min val="0"/>
        </c:scaling>
        <c:delete val="0"/>
        <c:axPos val="l"/>
        <c:majorGridlines>
          <c:spPr>
            <a:ln xmlns:a="http://schemas.openxmlformats.org/drawingml/2006/main" w="4763">
              <a:solidFill>
                <a:srgbClr val="DCDCDC"/>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Reported CAD billions</c:v>
          </c:tx>
          <c:spPr>
            <a:solidFill xmlns:a="http://schemas.openxmlformats.org/drawingml/2006/main">
              <a:srgbClr val="0077CD"/>
            </a:solidFill>
            <a:ln xmlns:a="http://schemas.openxmlformats.org/drawingml/2006/main" w="28575">
              <a:solidFill>
                <a:srgbClr val="0077CD"/>
              </a:solidFill>
            </a:ln>
          </c:spPr>
          <c:cat>
            <c:strRef>
              <c:f>'Chart Data'!$A$2:$A$8</c:f>
              <c:strCache>
                <c:ptCount val="7"/>
                <c:pt idx="0">
                  <c:v>Malachite One</c:v>
                </c:pt>
                <c:pt idx="1">
                  <c:v>Meta</c:v>
                </c:pt>
                <c:pt idx="2">
                  <c:v>Wonder Valley P1</c:v>
                </c:pt>
                <c:pt idx="3">
                  <c:v>Beacon Foothills</c:v>
                </c:pt>
                <c:pt idx="4">
                  <c:v>Crusoe Alberta</c:v>
                </c:pt>
                <c:pt idx="5">
                  <c:v>TNE Data District P1</c:v>
                </c:pt>
                <c:pt idx="6">
                  <c:v>eStruxture CAL-3</c:v>
                </c:pt>
              </c:strCache>
            </c:strRef>
          </c:cat>
          <c:val>
            <c:numRef>
              <c:f>'Chart Data'!$B$2:$B$8</c:f>
              <c:numCache>
                <c:formatCode>0.00</c:formatCode>
                <c:ptCount val="7"/>
                <c:pt idx="0">
                  <c:v>15</c:v>
                </c:pt>
                <c:pt idx="1">
                  <c:v>13</c:v>
                </c:pt>
                <c:pt idx="2">
                  <c:v>12</c:v>
                </c:pt>
                <c:pt idx="3">
                  <c:v>4</c:v>
                </c:pt>
                <c:pt idx="4">
                  <c:v>3</c:v>
                </c:pt>
                <c:pt idx="5">
                  <c:v>1.26</c:v>
                </c:pt>
                <c:pt idx="6">
                  <c:v>0.75</c:v>
                </c:pt>
              </c:numCache>
            </c:numRef>
          </c:val>
        </c:ser>
        <c:dLbls>
          <c:txPr>
            <a:bodyPr xmlns:a="http://schemas.openxmlformats.org/drawingml/2006/main" anchorCtr="1"/>
            <a:lstStyle xmlns:a="http://schemas.openxmlformats.org/drawingml/2006/main"/>
            <a:p xmlns:a="http://schemas.openxmlformats.org/drawingml/2006/main">
              <a:pPr>
                <a:defRPr sz="1425">
                  <a:solidFill>
                    <a:srgbClr val="33333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72768"/>
      </c:catAx>
      <c:valAx>
        <c:axId val="48672768"/>
        <c:scaling>
          <c:orientation val="minMax"/>
          <c:min val="0"/>
        </c:scaling>
        <c:delete val="0"/>
        <c:axPos val="b"/>
        <c:majorGridlines>
          <c:spPr>
            <a:ln xmlns:a="http://schemas.openxmlformats.org/drawingml/2006/main" w="4763">
              <a:solidFill>
                <a:srgbClr val="DCDCDC"/>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CAD billions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Low</c:v>
          </c:tx>
          <c:spPr>
            <a:solidFill xmlns:a="http://schemas.openxmlformats.org/drawingml/2006/main">
              <a:srgbClr val="0077CD"/>
            </a:solidFill>
            <a:ln xmlns:a="http://schemas.openxmlformats.org/drawingml/2006/main" w="28575">
              <a:solidFill>
                <a:srgbClr val="0077CD"/>
              </a:solidFill>
            </a:ln>
          </c:spPr>
          <c:marker>
            <c:symbol val="none"/>
          </c:marker>
          <c:cat>
            <c:numRef>
              <c:f>'Chart Data'!$A$2:$A$7</c:f>
              <c:numCache>
                <c:formatCode>General</c:formatCode>
                <c:ptCount val="6"/>
                <c:pt idx="0">
                  <c:v>2027</c:v>
                </c:pt>
                <c:pt idx="1">
                  <c:v>2028</c:v>
                </c:pt>
                <c:pt idx="2">
                  <c:v>2029</c:v>
                </c:pt>
                <c:pt idx="3">
                  <c:v>2030</c:v>
                </c:pt>
                <c:pt idx="4">
                  <c:v>2031</c:v>
                </c:pt>
                <c:pt idx="5">
                  <c:v>2032</c:v>
                </c:pt>
              </c:numCache>
            </c:numRef>
          </c:cat>
          <c:val>
            <c:numRef>
              <c:f>'Chart Data'!$B$2:$B$7</c:f>
              <c:numCache>
                <c:formatCode>#,##0</c:formatCode>
                <c:ptCount val="6"/>
                <c:pt idx="0">
                  <c:v>16.57005</c:v>
                </c:pt>
                <c:pt idx="1">
                  <c:v>419.72356</c:v>
                </c:pt>
                <c:pt idx="2">
                  <c:v>2279.69404</c:v>
                </c:pt>
                <c:pt idx="3">
                  <c:v>1970.74611</c:v>
                </c:pt>
                <c:pt idx="4">
                  <c:v>34.35319</c:v>
                </c:pt>
                <c:pt idx="5">
                  <c:v>0</c:v>
                </c:pt>
              </c:numCache>
            </c:numRef>
          </c:val>
          <c:smooth val="0"/>
        </c:ser>
        <c:ser>
          <c:idx val="1"/>
          <c:order val="1"/>
          <c:tx>
            <c:v>Central</c:v>
          </c:tx>
          <c:spPr>
            <a:solidFill xmlns:a="http://schemas.openxmlformats.org/drawingml/2006/main">
              <a:srgbClr val="00B6ED"/>
            </a:solidFill>
            <a:ln xmlns:a="http://schemas.openxmlformats.org/drawingml/2006/main" w="28575">
              <a:solidFill>
                <a:srgbClr val="00B6ED"/>
              </a:solidFill>
            </a:ln>
          </c:spPr>
          <c:marker>
            <c:symbol val="none"/>
          </c:marker>
          <c:cat>
            <c:numRef>
              <c:f>'Chart Data'!$C$2:$C$7</c:f>
              <c:numCache>
                <c:formatCode>General</c:formatCode>
                <c:ptCount val="6"/>
                <c:pt idx="0">
                  <c:v>2027</c:v>
                </c:pt>
                <c:pt idx="1">
                  <c:v>2028</c:v>
                </c:pt>
                <c:pt idx="2">
                  <c:v>2029</c:v>
                </c:pt>
                <c:pt idx="3">
                  <c:v>2030</c:v>
                </c:pt>
                <c:pt idx="4">
                  <c:v>2031</c:v>
                </c:pt>
                <c:pt idx="5">
                  <c:v>2032</c:v>
                </c:pt>
              </c:numCache>
            </c:numRef>
          </c:cat>
          <c:val>
            <c:numRef>
              <c:f>'Chart Data'!$D$2:$D$7</c:f>
              <c:numCache>
                <c:formatCode>#,##0</c:formatCode>
                <c:ptCount val="6"/>
                <c:pt idx="0">
                  <c:v>28.63959</c:v>
                </c:pt>
                <c:pt idx="1">
                  <c:v>725.44814</c:v>
                </c:pt>
                <c:pt idx="2">
                  <c:v>3940.21192</c:v>
                </c:pt>
                <c:pt idx="3">
                  <c:v>3406.22784</c:v>
                </c:pt>
                <c:pt idx="4">
                  <c:v>59.37589</c:v>
                </c:pt>
                <c:pt idx="5">
                  <c:v>0</c:v>
                </c:pt>
              </c:numCache>
            </c:numRef>
          </c:val>
          <c:smooth val="0"/>
        </c:ser>
        <c:ser>
          <c:idx val="2"/>
          <c:order val="2"/>
          <c:tx>
            <c:v>High</c:v>
          </c:tx>
          <c:spPr>
            <a:solidFill xmlns:a="http://schemas.openxmlformats.org/drawingml/2006/main">
              <a:srgbClr val="FFC836"/>
            </a:solidFill>
            <a:ln xmlns:a="http://schemas.openxmlformats.org/drawingml/2006/main" w="28575">
              <a:solidFill>
                <a:srgbClr val="FFC836"/>
              </a:solidFill>
            </a:ln>
          </c:spPr>
          <c:marker>
            <c:symbol val="none"/>
          </c:marker>
          <c:cat>
            <c:numRef>
              <c:f>'Chart Data'!$E$2:$E$7</c:f>
              <c:numCache>
                <c:formatCode>General</c:formatCode>
                <c:ptCount val="6"/>
                <c:pt idx="0">
                  <c:v>2027</c:v>
                </c:pt>
                <c:pt idx="1">
                  <c:v>2028</c:v>
                </c:pt>
                <c:pt idx="2">
                  <c:v>2029</c:v>
                </c:pt>
                <c:pt idx="3">
                  <c:v>2030</c:v>
                </c:pt>
                <c:pt idx="4">
                  <c:v>2031</c:v>
                </c:pt>
                <c:pt idx="5">
                  <c:v>2032</c:v>
                </c:pt>
              </c:numCache>
            </c:numRef>
          </c:cat>
          <c:val>
            <c:numRef>
              <c:f>'Chart Data'!$F$2:$F$7</c:f>
              <c:numCache>
                <c:formatCode>#,##0</c:formatCode>
                <c:ptCount val="6"/>
                <c:pt idx="0">
                  <c:v>46.02791</c:v>
                </c:pt>
                <c:pt idx="1">
                  <c:v>1165.89879</c:v>
                </c:pt>
                <c:pt idx="2">
                  <c:v>6332.48345</c:v>
                </c:pt>
                <c:pt idx="3">
                  <c:v>5474.29475</c:v>
                </c:pt>
                <c:pt idx="4">
                  <c:v>95.42554</c:v>
                </c:pt>
                <c:pt idx="5">
                  <c:v>0</c:v>
                </c:pt>
              </c:numCache>
            </c:numRef>
          </c:val>
          <c:smooth val="0"/>
        </c:ser>
        <c:dLbls>
          <c:txPr>
            <a:bodyPr xmlns:a="http://schemas.openxmlformats.org/drawingml/2006/main" anchorCtr="1"/>
            <a:lstStyle xmlns:a="http://schemas.openxmlformats.org/drawingml/2006/main"/>
            <a:p xmlns:a="http://schemas.openxmlformats.org/drawingml/2006/main">
              <a:pPr>
                <a:defRPr sz="1425">
                  <a:solidFill>
                    <a:srgbClr val="333333"/>
                  </a:solidFill>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72768"/>
      </c:catAx>
      <c:valAx>
        <c:axId val="48672768"/>
        <c:scaling>
          <c:orientation val="minMax"/>
          <c:min val="0"/>
        </c:scaling>
        <c:delete val="0"/>
        <c:axPos val="l"/>
        <c:majorGridlines>
          <c:spPr>
            <a:ln xmlns:a="http://schemas.openxmlformats.org/drawingml/2006/main" w="4763">
              <a:solidFill>
                <a:srgbClr val="DCDCDC"/>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Annual average electrician FTE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Calgary</c:v>
          </c:tx>
          <c:spPr>
            <a:solidFill xmlns:a="http://schemas.openxmlformats.org/drawingml/2006/main">
              <a:srgbClr val="0077CD"/>
            </a:solidFill>
            <a:ln xmlns:a="http://schemas.openxmlformats.org/drawingml/2006/main" w="28575">
              <a:solidFill>
                <a:srgbClr val="0077CD"/>
              </a:solidFill>
            </a:ln>
          </c:spPr>
          <c:cat>
            <c:strRef>
              <c:f>'Chart Data'!$A$2:$A$5</c:f>
              <c:strCache>
                <c:ptCount val="4"/>
                <c:pt idx="0">
                  <c:v>Concrete</c:v>
                </c:pt>
                <c:pt idx="1">
                  <c:v>Structural steel</c:v>
                </c:pt>
                <c:pt idx="2">
                  <c:v>Electrical systems</c:v>
                </c:pt>
                <c:pt idx="3">
                  <c:v>HVAC</c:v>
                </c:pt>
              </c:strCache>
            </c:strRef>
          </c:cat>
          <c:val>
            <c:numRef>
              <c:f>'Chart Data'!$B$2:$B$5</c:f>
              <c:numCache>
                <c:formatCode>0.0"%"</c:formatCode>
                <c:ptCount val="4"/>
                <c:pt idx="0">
                  <c:v>4.11</c:v>
                </c:pt>
                <c:pt idx="1">
                  <c:v>7.3</c:v>
                </c:pt>
                <c:pt idx="2">
                  <c:v>0.83</c:v>
                </c:pt>
                <c:pt idx="3">
                  <c:v>10.05</c:v>
                </c:pt>
              </c:numCache>
            </c:numRef>
          </c:val>
        </c:ser>
        <c:ser>
          <c:idx val="1"/>
          <c:order val="1"/>
          <c:tx>
            <c:v>Edmonton</c:v>
          </c:tx>
          <c:spPr>
            <a:solidFill xmlns:a="http://schemas.openxmlformats.org/drawingml/2006/main">
              <a:srgbClr val="00B6ED"/>
            </a:solidFill>
            <a:ln xmlns:a="http://schemas.openxmlformats.org/drawingml/2006/main" w="28575">
              <a:solidFill>
                <a:srgbClr val="00B6ED"/>
              </a:solidFill>
            </a:ln>
          </c:spPr>
          <c:cat>
            <c:strRef>
              <c:f>'Chart Data'!$C$2:$C$5</c:f>
              <c:strCache>
                <c:ptCount val="4"/>
                <c:pt idx="0">
                  <c:v>Concrete</c:v>
                </c:pt>
                <c:pt idx="1">
                  <c:v>Structural steel</c:v>
                </c:pt>
                <c:pt idx="2">
                  <c:v>Electrical systems</c:v>
                </c:pt>
                <c:pt idx="3">
                  <c:v>HVAC</c:v>
                </c:pt>
              </c:strCache>
            </c:strRef>
          </c:cat>
          <c:val>
            <c:numRef>
              <c:f>'Chart Data'!$D$2:$D$5</c:f>
              <c:numCache>
                <c:formatCode>0.0"%"</c:formatCode>
                <c:ptCount val="4"/>
                <c:pt idx="0">
                  <c:v>5.24</c:v>
                </c:pt>
                <c:pt idx="1">
                  <c:v>10.44</c:v>
                </c:pt>
                <c:pt idx="2">
                  <c:v>1.01</c:v>
                </c:pt>
                <c:pt idx="3">
                  <c:v>10.05</c:v>
                </c:pt>
              </c:numCache>
            </c:numRef>
          </c:val>
        </c:ser>
        <c:dLbls>
          <c:txPr>
            <a:bodyPr xmlns:a="http://schemas.openxmlformats.org/drawingml/2006/main" anchorCtr="1"/>
            <a:lstStyle xmlns:a="http://schemas.openxmlformats.org/drawingml/2006/main"/>
            <a:p xmlns:a="http://schemas.openxmlformats.org/drawingml/2006/main">
              <a:pPr>
                <a:defRPr sz="1425">
                  <a:solidFill>
                    <a:srgbClr val="33333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72768"/>
      </c:catAx>
      <c:valAx>
        <c:axId val="48672768"/>
        <c:scaling>
          <c:orientation val="minMax"/>
          <c:min val="0"/>
        </c:scaling>
        <c:delete val="0"/>
        <c:axPos val="l"/>
        <c:majorGridlines>
          <c:spPr>
            <a:ln xmlns:a="http://schemas.openxmlformats.org/drawingml/2006/main" w="4763">
              <a:solidFill>
                <a:srgbClr val="DCDCDC"/>
              </a:solidFill>
            </a:ln>
          </c:spPr>
        </c:majorGridlines>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077C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1FFC698-AE48-4E8B-B557-F31CE19CDB9F}"/>
              </a:ext>
            </a:extLst>
          </p:cNvPr>
          <p:cNvSpPr>
            <a:spLocks xmlns:a="http://schemas.openxmlformats.org/drawingml/2006/main" noGrp="1"/>
          </p:cNvSpPr>
          <p:nvPr/>
        </p:nvSpPr>
        <p:spPr>
          <a:xfrm xmlns:a="http://schemas.openxmlformats.org/drawingml/2006/main">
            <a:off x="666750" y="14287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FFFF"/>
                </a:solidFill>
                <a:latin typeface="Helvetica Neue"/>
                <a:ea typeface="Helvetica Neue"/>
                <a:cs typeface="Helvetica Neue"/>
              </a:defRPr>
            </a:pPr>
            <a:r>
              <a:rPr sz="4950" b="1">
                <a:solidFill>
                  <a:srgbClr val="FFFFFF"/>
                </a:solidFill>
                <a:latin typeface="Helvetica Neue"/>
                <a:ea typeface="Helvetica Neue"/>
                <a:cs typeface="Helvetica Neue"/>
              </a:rPr>
              <a:t>Alberta data centres</a:t>
            </a:r>
          </a:p>
        </p:txBody>
      </p:sp>
      <p:sp>
        <p:nvSpPr>
          <p:cNvPr id="2" name="">
            <a:extLst xmlns:a="http://schemas.openxmlformats.org/drawingml/2006/main">
              <a:ext uri="{FF2B5EF4-FFF2-40B4-BE49-F238E27FC236}">
                <a16:creationId xmlns:a16="http://schemas.microsoft.com/office/drawing/2014/main" id="{4B61A343-6336-45C4-BCD9-097BA32B9583}"/>
              </a:ext>
            </a:extLst>
          </p:cNvPr>
          <p:cNvSpPr>
            <a:spLocks xmlns:a="http://schemas.openxmlformats.org/drawingml/2006/main" noGrp="1"/>
          </p:cNvSpPr>
          <p:nvPr/>
        </p:nvSpPr>
        <p:spPr>
          <a:xfrm xmlns:a="http://schemas.openxmlformats.org/drawingml/2006/main">
            <a:off x="704850" y="290512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FFFFFF"/>
                </a:solidFill>
                <a:latin typeface="Helvetica Neue"/>
                <a:ea typeface="Helvetica Neue"/>
                <a:cs typeface="Helvetica Neue"/>
              </a:defRPr>
            </a:pPr>
            <a:r>
              <a:rPr sz="3300" b="0">
                <a:solidFill>
                  <a:srgbClr val="FFFFFF"/>
                </a:solidFill>
                <a:latin typeface="Helvetica Neue"/>
                <a:ea typeface="Helvetica Neue"/>
                <a:cs typeface="Helvetica Neue"/>
              </a:rPr>
              <a:t>Capital exposure and decisions for Infrastructure</a:t>
            </a:r>
          </a:p>
        </p:txBody>
      </p:sp>
      <p:sp>
        <p:nvSpPr>
          <p:cNvPr id="3" name="">
            <a:extLst xmlns:a="http://schemas.openxmlformats.org/drawingml/2006/main">
              <a:ext uri="{FF2B5EF4-FFF2-40B4-BE49-F238E27FC236}">
                <a16:creationId xmlns:a16="http://schemas.microsoft.com/office/drawing/2014/main" id="{CFB8D0D5-BA63-46C6-A4E7-E03F65343920}"/>
              </a:ext>
            </a:extLst>
          </p:cNvPr>
          <p:cNvSpPr>
            <a:spLocks xmlns:a="http://schemas.openxmlformats.org/drawingml/2006/main" noGrp="1"/>
          </p:cNvSpPr>
          <p:nvPr/>
        </p:nvSpPr>
        <p:spPr>
          <a:xfrm xmlns:a="http://schemas.openxmlformats.org/drawingml/2006/main">
            <a:off x="704850" y="5238750"/>
            <a:ext cx="714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September 2026</a:t>
            </a:r>
          </a:p>
        </p:txBody>
      </p:sp>
    </p:spTree>
    <p:extLst>
      <p:ext uri="{BB962C8B-B14F-4D97-AF65-F5344CB8AC3E}">
        <p14:creationId xmlns:p14="http://schemas.microsoft.com/office/powerpoint/2010/main" val="199974741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61AD5D2-8FC5-42CA-90E4-83F63FAFECE6}"/>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A proposed pipeline meets an active construction market</a:t>
            </a:r>
          </a:p>
        </p:txBody>
      </p:sp>
      <p:sp>
        <p:nvSpPr>
          <p:cNvPr id="2" name="">
            <a:extLst xmlns:a="http://schemas.openxmlformats.org/drawingml/2006/main">
              <a:ext uri="{FF2B5EF4-FFF2-40B4-BE49-F238E27FC236}">
                <a16:creationId xmlns:a16="http://schemas.microsoft.com/office/drawing/2014/main" id="{8A9C7DE9-12A6-445A-AF9A-58C0AF8972E1}"/>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19 identified data-centre records sit alongside substantial infrastructure investment.</a:t>
            </a:r>
          </a:p>
        </p:txBody>
      </p:sp>
      <p:sp>
        <p:nvSpPr>
          <p:cNvPr id="3" name="">
            <a:extLst xmlns:a="http://schemas.openxmlformats.org/drawingml/2006/main">
              <a:ext uri="{FF2B5EF4-FFF2-40B4-BE49-F238E27FC236}">
                <a16:creationId xmlns:a16="http://schemas.microsoft.com/office/drawing/2014/main" id="{64711511-6A53-47F1-AAEE-2A3AC4FAEF28}"/>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Sources: Alberta Major Projects, 31 Aug 2026; Alberta first-quarter fiscal update, 2026–27</a:t>
            </a:r>
          </a:p>
        </p:txBody>
      </p:sp>
      <p:sp>
        <p:nvSpPr>
          <p:cNvPr id="4" name="">
            <a:extLst xmlns:a="http://schemas.openxmlformats.org/drawingml/2006/main">
              <a:ext uri="{FF2B5EF4-FFF2-40B4-BE49-F238E27FC236}">
                <a16:creationId xmlns:a16="http://schemas.microsoft.com/office/drawing/2014/main" id="{2A234DD7-94A5-4079-93DA-FC456AEB5A52}"/>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2</a:t>
            </a:r>
          </a:p>
        </p:txBody>
      </p:sp>
      <p:graphicFrame>
        <p:nvGraphicFramePr>
          <p:cNvPr id="13" name="Chart"/>
          <p:cNvGraphicFramePr/>
          <p:nvPr/>
        </p:nvGraphicFramePr>
        <p:xfrm>
          <a:off xmlns:a="http://schemas.openxmlformats.org/drawingml/2006/main" x="609600" y="2286000"/>
          <a:ext xmlns:a="http://schemas.openxmlformats.org/drawingml/2006/main" cx="6572250" cy="3238500"/>
        </p:xfrm>
        <a:graphic xmlns:a="http://schemas.openxmlformats.org/drawingml/2006/main">
          <a:graphicData uri="http://schemas.openxmlformats.org/drawingml/2006/chart">
            <c:chart xmlns:r="http://schemas.openxmlformats.org/officeDocument/2006/relationships" xmlns:c="http://schemas.openxmlformats.org/drawingml/2006/chart" r:id="Re100df32d67949ef"/>
          </a:graphicData>
        </a:graphic>
      </p:graphicFrame>
      <p:sp>
        <p:nvSpPr>
          <p:cNvPr id="6" name="">
            <a:extLst xmlns:a="http://schemas.openxmlformats.org/drawingml/2006/main">
              <a:ext uri="{FF2B5EF4-FFF2-40B4-BE49-F238E27FC236}">
                <a16:creationId xmlns:a16="http://schemas.microsoft.com/office/drawing/2014/main" id="{69A3F1CB-B7FD-4F7A-8825-6949534F30D4}"/>
              </a:ext>
            </a:extLst>
          </p:cNvPr>
          <p:cNvSpPr>
            <a:spLocks xmlns:a="http://schemas.openxmlformats.org/drawingml/2006/main" noGrp="1"/>
          </p:cNvSpPr>
          <p:nvPr/>
        </p:nvSpPr>
        <p:spPr>
          <a:xfrm xmlns:a="http://schemas.openxmlformats.org/drawingml/2006/main">
            <a:off x="7953375" y="2333625"/>
            <a:ext cx="352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0077CD"/>
                </a:solidFill>
                <a:latin typeface="Helvetica Neue"/>
                <a:ea typeface="Helvetica Neue"/>
                <a:cs typeface="Helvetica Neue"/>
              </a:defRPr>
            </a:pPr>
            <a:r>
              <a:rPr sz="3750" b="1">
                <a:solidFill>
                  <a:srgbClr val="0077CD"/>
                </a:solidFill>
                <a:latin typeface="Helvetica Neue"/>
                <a:ea typeface="Helvetica Neue"/>
                <a:cs typeface="Helvetica Neue"/>
              </a:rPr>
              <a:t>$10.687B</a:t>
            </a:r>
          </a:p>
        </p:txBody>
      </p:sp>
      <p:sp>
        <p:nvSpPr>
          <p:cNvPr id="7" name="">
            <a:extLst xmlns:a="http://schemas.openxmlformats.org/drawingml/2006/main">
              <a:ext uri="{FF2B5EF4-FFF2-40B4-BE49-F238E27FC236}">
                <a16:creationId xmlns:a16="http://schemas.microsoft.com/office/drawing/2014/main" id="{B4400CDB-BB86-4274-B76A-CB34EBE24773}"/>
              </a:ext>
            </a:extLst>
          </p:cNvPr>
          <p:cNvSpPr>
            <a:spLocks xmlns:a="http://schemas.openxmlformats.org/drawingml/2006/main" noGrp="1"/>
          </p:cNvSpPr>
          <p:nvPr/>
        </p:nvSpPr>
        <p:spPr>
          <a:xfrm xmlns:a="http://schemas.openxmlformats.org/drawingml/2006/main">
            <a:off x="7953375" y="3143250"/>
            <a:ext cx="3524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33333"/>
                </a:solidFill>
                <a:latin typeface="Helvetica Neue"/>
                <a:ea typeface="Helvetica Neue"/>
                <a:cs typeface="Helvetica Neue"/>
              </a:defRPr>
            </a:pPr>
            <a:r>
              <a:rPr sz="2100" b="0">
                <a:solidFill>
                  <a:srgbClr val="333333"/>
                </a:solidFill>
                <a:latin typeface="Helvetica Neue"/>
                <a:ea typeface="Helvetica Neue"/>
                <a:cs typeface="Helvetica Neue"/>
              </a:rPr>
              <a:t>Updated Alberta capital plan for FY2026–27</a:t>
            </a:r>
          </a:p>
        </p:txBody>
      </p:sp>
      <p:sp>
        <p:nvSpPr>
          <p:cNvPr id="8" name="">
            <a:extLst xmlns:a="http://schemas.openxmlformats.org/drawingml/2006/main">
              <a:ext uri="{FF2B5EF4-FFF2-40B4-BE49-F238E27FC236}">
                <a16:creationId xmlns:a16="http://schemas.microsoft.com/office/drawing/2014/main" id="{2B457D1A-54FA-4D2B-96E7-F953D5423B8C}"/>
              </a:ext>
            </a:extLst>
          </p:cNvPr>
          <p:cNvSpPr>
            <a:spLocks xmlns:a="http://schemas.openxmlformats.org/drawingml/2006/main" noGrp="1"/>
          </p:cNvSpPr>
          <p:nvPr/>
        </p:nvSpPr>
        <p:spPr>
          <a:xfrm xmlns:a="http://schemas.openxmlformats.org/drawingml/2006/main">
            <a:off x="7953375" y="4591050"/>
            <a:ext cx="352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33333"/>
                </a:solidFill>
                <a:latin typeface="Helvetica Neue"/>
                <a:ea typeface="Helvetica Neue"/>
                <a:cs typeface="Helvetica Neue"/>
              </a:defRPr>
            </a:pPr>
            <a:r>
              <a:rPr sz="2025" b="0">
                <a:solidFill>
                  <a:srgbClr val="333333"/>
                </a:solidFill>
                <a:latin typeface="Helvetica Neue"/>
                <a:ea typeface="Helvetica Neue"/>
                <a:cs typeface="Helvetica Neue"/>
              </a:rPr>
              <a:t>Shared trades and suppliers create potential competition as projects advance.</a:t>
            </a:r>
          </a:p>
        </p:txBody>
      </p:sp>
    </p:spTree>
    <p:extLst>
      <p:ext uri="{BB962C8B-B14F-4D97-AF65-F5344CB8AC3E}">
        <p14:creationId xmlns:p14="http://schemas.microsoft.com/office/powerpoint/2010/main" val="184133574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0E31B2F-359E-41BA-80E4-356C0342CB3B}"/>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Seven reported projects account for $49.01B</a:t>
            </a:r>
          </a:p>
        </p:txBody>
      </p:sp>
      <p:sp>
        <p:nvSpPr>
          <p:cNvPr id="2" name="">
            <a:extLst xmlns:a="http://schemas.openxmlformats.org/drawingml/2006/main">
              <a:ext uri="{FF2B5EF4-FFF2-40B4-BE49-F238E27FC236}">
                <a16:creationId xmlns:a16="http://schemas.microsoft.com/office/drawing/2014/main" id="{BDFD5498-4807-40E8-82EC-A0C79451078D}"/>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Reported investment estimates, CAD billions.</a:t>
            </a:r>
          </a:p>
        </p:txBody>
      </p:sp>
      <p:sp>
        <p:nvSpPr>
          <p:cNvPr id="3" name="">
            <a:extLst xmlns:a="http://schemas.openxmlformats.org/drawingml/2006/main">
              <a:ext uri="{FF2B5EF4-FFF2-40B4-BE49-F238E27FC236}">
                <a16:creationId xmlns:a16="http://schemas.microsoft.com/office/drawing/2014/main" id="{DBEEF56D-C264-4573-BFBE-F26BDAC2A3D9}"/>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Source: Alberta Major Projects, 31 Aug 2026. Twelve additional core records have no reported cost.</a:t>
            </a:r>
          </a:p>
        </p:txBody>
      </p:sp>
      <p:sp>
        <p:nvSpPr>
          <p:cNvPr id="4" name="">
            <a:extLst xmlns:a="http://schemas.openxmlformats.org/drawingml/2006/main">
              <a:ext uri="{FF2B5EF4-FFF2-40B4-BE49-F238E27FC236}">
                <a16:creationId xmlns:a16="http://schemas.microsoft.com/office/drawing/2014/main" id="{D892691D-816C-4647-AAAE-03B83E5BC6D3}"/>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3</a:t>
            </a:r>
          </a:p>
        </p:txBody>
      </p:sp>
      <p:graphicFrame>
        <p:nvGraphicFramePr>
          <p:cNvPr id="11" name="Chart"/>
          <p:cNvGraphicFramePr/>
          <p:nvPr/>
        </p:nvGraphicFramePr>
        <p:xfrm>
          <a:off xmlns:a="http://schemas.openxmlformats.org/drawingml/2006/main" x="609600" y="2095500"/>
          <a:ext xmlns:a="http://schemas.openxmlformats.org/drawingml/2006/main" cx="10972800" cy="3667125"/>
        </p:xfrm>
        <a:graphic xmlns:a="http://schemas.openxmlformats.org/drawingml/2006/main">
          <a:graphicData uri="http://schemas.openxmlformats.org/drawingml/2006/chart">
            <c:chart xmlns:r="http://schemas.openxmlformats.org/officeDocument/2006/relationships" xmlns:c="http://schemas.openxmlformats.org/drawingml/2006/chart" r:id="R131cb9da1bc44a5d"/>
          </a:graphicData>
        </a:graphic>
      </p:graphicFrame>
      <p:sp>
        <p:nvSpPr>
          <p:cNvPr id="6" name="">
            <a:extLst xmlns:a="http://schemas.openxmlformats.org/drawingml/2006/main">
              <a:ext uri="{FF2B5EF4-FFF2-40B4-BE49-F238E27FC236}">
                <a16:creationId xmlns:a16="http://schemas.microsoft.com/office/drawing/2014/main" id="{BD8EC369-87EF-40E9-9ADE-50003ED10942}"/>
              </a:ext>
            </a:extLst>
          </p:cNvPr>
          <p:cNvSpPr>
            <a:spLocks xmlns:a="http://schemas.openxmlformats.org/drawingml/2006/main" noGrp="1"/>
          </p:cNvSpPr>
          <p:nvPr/>
        </p:nvSpPr>
        <p:spPr>
          <a:xfrm xmlns:a="http://schemas.openxmlformats.org/drawingml/2006/main">
            <a:off x="609600" y="582930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2C4E"/>
                </a:solidFill>
                <a:latin typeface="Helvetica Neue"/>
                <a:ea typeface="Helvetica Neue"/>
                <a:cs typeface="Helvetica Neue"/>
              </a:defRPr>
            </a:pPr>
            <a:r>
              <a:rPr sz="1725" b="1">
                <a:solidFill>
                  <a:srgbClr val="002C4E"/>
                </a:solidFill>
                <a:latin typeface="Helvetica Neue"/>
                <a:ea typeface="Helvetica Neue"/>
                <a:cs typeface="Helvetica Neue"/>
              </a:rPr>
              <a:t>Construction-only scope is bracketed in the labour sizing scenario.</a:t>
            </a:r>
          </a:p>
        </p:txBody>
      </p:sp>
    </p:spTree>
    <p:extLst>
      <p:ext uri="{BB962C8B-B14F-4D97-AF65-F5344CB8AC3E}">
        <p14:creationId xmlns:p14="http://schemas.microsoft.com/office/powerpoint/2010/main" val="6680712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FC4B87F-CC69-44EF-B4F6-900583DE9728}"/>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Demand concentrates in shared construction packages</a:t>
            </a:r>
          </a:p>
        </p:txBody>
      </p:sp>
      <p:sp>
        <p:nvSpPr>
          <p:cNvPr id="2" name="">
            <a:extLst xmlns:a="http://schemas.openxmlformats.org/drawingml/2006/main">
              <a:ext uri="{FF2B5EF4-FFF2-40B4-BE49-F238E27FC236}">
                <a16:creationId xmlns:a16="http://schemas.microsoft.com/office/drawing/2014/main" id="{57CAF429-6AF7-4411-9ADC-88792065E271}"/>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Civil works establish the site. Electrical and cooling systems drive specialist fit-out.</a:t>
            </a:r>
          </a:p>
        </p:txBody>
      </p:sp>
      <p:sp>
        <p:nvSpPr>
          <p:cNvPr id="3" name="">
            <a:extLst xmlns:a="http://schemas.openxmlformats.org/drawingml/2006/main">
              <a:ext uri="{FF2B5EF4-FFF2-40B4-BE49-F238E27FC236}">
                <a16:creationId xmlns:a16="http://schemas.microsoft.com/office/drawing/2014/main" id="{BC38EDC6-82FA-4446-A9EB-A4A784D6D02D}"/>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Engineering scope classification; actual crew and supplier overlap depends on package timing and location.</a:t>
            </a:r>
          </a:p>
        </p:txBody>
      </p:sp>
      <p:sp>
        <p:nvSpPr>
          <p:cNvPr id="4" name="">
            <a:extLst xmlns:a="http://schemas.openxmlformats.org/drawingml/2006/main">
              <a:ext uri="{FF2B5EF4-FFF2-40B4-BE49-F238E27FC236}">
                <a16:creationId xmlns:a16="http://schemas.microsoft.com/office/drawing/2014/main" id="{3490E0E1-D9A6-4C50-9D5F-98549E1E8E8C}"/>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4</a:t>
            </a:r>
          </a:p>
        </p:txBody>
      </p:sp>
      <p:graphicFrame>
        <p:nvGraphicFramePr>
          <p:cNvPr id="10" name=""/>
          <p:cNvGraphicFramePr/>
          <p:nvPr/>
        </p:nvGraphicFramePr>
        <p:xfrm>
          <a:off xmlns:a="http://schemas.openxmlformats.org/drawingml/2006/main" x="609600" y="2095500"/>
          <a:ext xmlns:a="http://schemas.openxmlformats.org/drawingml/2006/main" cx="10972800" cy="3714750"/>
        </p:xfrm>
        <a:graphic xmlns:a="http://schemas.openxmlformats.org/drawingml/2006/main">
          <a:graphicData uri="http://schemas.openxmlformats.org/drawingml/2006/table">
            <a:tbl>
              <a:tblPr/>
              <a:tblGrid>
                <a:gridCol w="2476500"/>
                <a:gridCol w="4286250"/>
                <a:gridCol w="4210050"/>
              </a:tblGrid>
              <a:tr h="742950">
                <a:tc>
                  <a:txBody>
                    <a:bodyPr/>
                    <a:lstStyle/>
                    <a:p>
                      <a:r>
                        <a:rPr sz="1650" b="1">
                          <a:solidFill>
                            <a:srgbClr val="FFFFFF"/>
                          </a:solidFill>
                          <a:latin typeface="Helvetica Neue"/>
                          <a:ea typeface="Helvetica Neue"/>
                          <a:cs typeface="Helvetica Neue"/>
                        </a:rPr>
                        <a:t>Package</a:t>
                      </a:r>
                    </a:p>
                  </a:txBody>
                  <a:tcPr marL="91440" marR="91440" marT="45720" marB="45720">
                    <a:solidFill>
                      <a:srgbClr val="0077CD"/>
                    </a:solidFill>
                  </a:tcPr>
                </a:tc>
                <a:tc>
                  <a:txBody>
                    <a:bodyPr/>
                    <a:lstStyle/>
                    <a:p>
                      <a:r>
                        <a:rPr sz="1650" b="1">
                          <a:solidFill>
                            <a:srgbClr val="FFFFFF"/>
                          </a:solidFill>
                          <a:latin typeface="Helvetica Neue"/>
                          <a:ea typeface="Helvetica Neue"/>
                          <a:cs typeface="Helvetica Neue"/>
                        </a:rPr>
                        <a:t>Labour demand</a:t>
                      </a:r>
                    </a:p>
                  </a:txBody>
                  <a:tcPr marL="91440" marR="91440" marT="45720" marB="45720">
                    <a:solidFill>
                      <a:srgbClr val="0077CD"/>
                    </a:solidFill>
                  </a:tcPr>
                </a:tc>
                <a:tc>
                  <a:txBody>
                    <a:bodyPr/>
                    <a:lstStyle/>
                    <a:p>
                      <a:r>
                        <a:rPr sz="1650" b="1">
                          <a:solidFill>
                            <a:srgbClr val="FFFFFF"/>
                          </a:solidFill>
                          <a:latin typeface="Helvetica Neue"/>
                          <a:ea typeface="Helvetica Neue"/>
                          <a:cs typeface="Helvetica Neue"/>
                        </a:rPr>
                        <a:t>Materials and equipment</a:t>
                      </a:r>
                    </a:p>
                  </a:txBody>
                  <a:tcPr marL="91440" marR="91440" marT="45720" marB="45720">
                    <a:solidFill>
                      <a:srgbClr val="0077CD"/>
                    </a:solidFill>
                  </a:tcPr>
                </a:tc>
              </a:tr>
              <a:tr h="742950">
                <a:tc>
                  <a:txBody>
                    <a:bodyPr/>
                    <a:lstStyle/>
                    <a:p>
                      <a:r>
                        <a:rPr sz="1650" b="0">
                          <a:solidFill>
                            <a:srgbClr val="333333"/>
                          </a:solidFill>
                          <a:latin typeface="Helvetica Neue"/>
                          <a:ea typeface="Helvetica Neue"/>
                          <a:cs typeface="Helvetica Neue"/>
                        </a:rPr>
                        <a:t>Civil / structural</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Operators, labourers, formwork crews, finishers, ironworkers</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Concrete, aggregate, reinforcing and structural steel</a:t>
                      </a:r>
                    </a:p>
                  </a:txBody>
                  <a:tcPr marL="91440" marR="91440" marT="45720" marB="45720">
                    <a:solidFill>
                      <a:srgbClr val="FFFFFF"/>
                    </a:solidFill>
                  </a:tcPr>
                </a:tc>
              </a:tr>
              <a:tr h="742950">
                <a:tc>
                  <a:txBody>
                    <a:bodyPr/>
                    <a:lstStyle/>
                    <a:p>
                      <a:r>
                        <a:rPr sz="1650" b="0">
                          <a:solidFill>
                            <a:srgbClr val="333333"/>
                          </a:solidFill>
                          <a:latin typeface="Helvetica Neue"/>
                          <a:ea typeface="Helvetica Neue"/>
                          <a:cs typeface="Helvetica Neue"/>
                        </a:rPr>
                        <a:t>Electrical</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Electricians, cable installers, controls and testing specialists</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Transformers, switchgear, cable, UPS and generators</a:t>
                      </a:r>
                    </a:p>
                  </a:txBody>
                  <a:tcPr marL="91440" marR="91440" marT="45720" marB="45720">
                    <a:solidFill>
                      <a:srgbClr val="F2F2F2"/>
                    </a:solidFill>
                  </a:tcPr>
                </a:tc>
              </a:tr>
              <a:tr h="742950">
                <a:tc>
                  <a:txBody>
                    <a:bodyPr/>
                    <a:lstStyle/>
                    <a:p>
                      <a:r>
                        <a:rPr sz="1650" b="0">
                          <a:solidFill>
                            <a:srgbClr val="333333"/>
                          </a:solidFill>
                          <a:latin typeface="Helvetica Neue"/>
                          <a:ea typeface="Helvetica Neue"/>
                          <a:cs typeface="Helvetica Neue"/>
                        </a:rPr>
                        <a:t>Mechanical / cooling</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HVAC and sheet-metal workers, pipefitters, plumbers, insulators</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Chillers, air handlers, pumps, pipework and ducts</a:t>
                      </a:r>
                    </a:p>
                  </a:txBody>
                  <a:tcPr marL="91440" marR="91440" marT="45720" marB="45720">
                    <a:solidFill>
                      <a:srgbClr val="FFFFFF"/>
                    </a:solidFill>
                  </a:tcPr>
                </a:tc>
              </a:tr>
              <a:tr h="742950">
                <a:tc>
                  <a:txBody>
                    <a:bodyPr/>
                    <a:lstStyle/>
                    <a:p>
                      <a:r>
                        <a:rPr sz="1650" b="0">
                          <a:solidFill>
                            <a:srgbClr val="333333"/>
                          </a:solidFill>
                          <a:latin typeface="Helvetica Neue"/>
                          <a:ea typeface="Helvetica Neue"/>
                          <a:cs typeface="Helvetica Neue"/>
                        </a:rPr>
                        <a:t>Utility connections</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Line crews, utility engineers and enabling civil crews</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Substations, connection equipment and utility corridors</a:t>
                      </a:r>
                    </a:p>
                  </a:txBody>
                  <a:tcPr marL="91440" marR="91440" marT="45720" marB="45720">
                    <a:solidFill>
                      <a:srgbClr val="F2F2F2"/>
                    </a:solidFill>
                  </a:tcPr>
                </a:tc>
              </a:tr>
            </a:tbl>
          </a:graphicData>
        </a:graphic>
      </p:graphicFrame>
    </p:spTree>
    <p:extLst>
      <p:ext uri="{BB962C8B-B14F-4D97-AF65-F5344CB8AC3E}">
        <p14:creationId xmlns:p14="http://schemas.microsoft.com/office/powerpoint/2010/main" val="119150517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DC8DA15-5A51-4215-B7C9-E9D8065F705C}"/>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Modelled annual construction labour demand</a:t>
            </a:r>
          </a:p>
        </p:txBody>
      </p:sp>
      <p:sp>
        <p:nvSpPr>
          <p:cNvPr id="2" name="">
            <a:extLst xmlns:a="http://schemas.openxmlformats.org/drawingml/2006/main">
              <a:ext uri="{FF2B5EF4-FFF2-40B4-BE49-F238E27FC236}">
                <a16:creationId xmlns:a16="http://schemas.microsoft.com/office/drawing/2014/main" id="{5F9CCC30-375D-4DF9-8546-7E656D6AFC35}"/>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Project-level schedules and monthly work profiles, 2027–2032.</a:t>
            </a:r>
          </a:p>
        </p:txBody>
      </p:sp>
      <p:sp>
        <p:nvSpPr>
          <p:cNvPr id="3" name="">
            <a:extLst xmlns:a="http://schemas.openxmlformats.org/drawingml/2006/main">
              <a:ext uri="{FF2B5EF4-FFF2-40B4-BE49-F238E27FC236}">
                <a16:creationId xmlns:a16="http://schemas.microsoft.com/office/drawing/2014/main" id="{8CA78CD7-D05D-4B09-84BE-180C2BB041B2}"/>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Conditional model: all seven costed phases proceed; twelve uncosted records remain outside quantified demand.</a:t>
            </a:r>
          </a:p>
        </p:txBody>
      </p:sp>
      <p:sp>
        <p:nvSpPr>
          <p:cNvPr id="4" name="">
            <a:extLst xmlns:a="http://schemas.openxmlformats.org/drawingml/2006/main">
              <a:ext uri="{FF2B5EF4-FFF2-40B4-BE49-F238E27FC236}">
                <a16:creationId xmlns:a16="http://schemas.microsoft.com/office/drawing/2014/main" id="{AD19643C-8042-4927-8FD5-B532695B8039}"/>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5</a:t>
            </a:r>
          </a:p>
        </p:txBody>
      </p:sp>
      <p:graphicFrame>
        <p:nvGraphicFramePr>
          <p:cNvPr id="11" name="Chart"/>
          <p:cNvGraphicFramePr/>
          <p:nvPr/>
        </p:nvGraphicFramePr>
        <p:xfrm>
          <a:off xmlns:a="http://schemas.openxmlformats.org/drawingml/2006/main" x="609600" y="2095500"/>
          <a:ext xmlns:a="http://schemas.openxmlformats.org/drawingml/2006/main" cx="10972800" cy="3333750"/>
        </p:xfrm>
        <a:graphic xmlns:a="http://schemas.openxmlformats.org/drawingml/2006/main">
          <a:graphicData uri="http://schemas.openxmlformats.org/drawingml/2006/chart">
            <c:chart xmlns:r="http://schemas.openxmlformats.org/officeDocument/2006/relationships" xmlns:c="http://schemas.openxmlformats.org/drawingml/2006/chart" r:id="Rdb816c21c8814c96"/>
          </a:graphicData>
        </a:graphic>
      </p:graphicFrame>
      <p:sp>
        <p:nvSpPr>
          <p:cNvPr id="6" name="">
            <a:extLst xmlns:a="http://schemas.openxmlformats.org/drawingml/2006/main">
              <a:ext uri="{FF2B5EF4-FFF2-40B4-BE49-F238E27FC236}">
                <a16:creationId xmlns:a16="http://schemas.microsoft.com/office/drawing/2014/main" id="{221F8529-D5B8-4FD4-9F40-0867969466F3}"/>
              </a:ext>
            </a:extLst>
          </p:cNvPr>
          <p:cNvSpPr>
            <a:spLocks xmlns:a="http://schemas.openxmlformats.org/drawingml/2006/main" noGrp="1"/>
          </p:cNvSpPr>
          <p:nvPr/>
        </p:nvSpPr>
        <p:spPr>
          <a:xfrm xmlns:a="http://schemas.openxmlformats.org/drawingml/2006/main">
            <a:off x="609600" y="5657850"/>
            <a:ext cx="1095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2C4E"/>
                </a:solidFill>
                <a:latin typeface="Helvetica Neue"/>
                <a:ea typeface="Helvetica Neue"/>
                <a:cs typeface="Helvetica Neue"/>
              </a:defRPr>
            </a:pPr>
            <a:r>
              <a:rPr sz="1875" b="1">
                <a:solidFill>
                  <a:srgbClr val="002C4E"/>
                </a:solidFill>
                <a:latin typeface="Helvetica Neue"/>
                <a:ea typeface="Helvetica Neue"/>
                <a:cs typeface="Helvetica Neue"/>
              </a:rPr>
              <a:t>Central case: 3,940 electrician FTE in 2029. Three schedules have a reported year anchor.</a:t>
            </a:r>
          </a:p>
        </p:txBody>
      </p:sp>
    </p:spTree>
    <p:extLst>
      <p:ext uri="{BB962C8B-B14F-4D97-AF65-F5344CB8AC3E}">
        <p14:creationId xmlns:p14="http://schemas.microsoft.com/office/powerpoint/2010/main" val="128669679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9464690-2C3F-4AFD-A483-62F55F7E6144}"/>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Electrical and cooling demand peak at different times</a:t>
            </a:r>
          </a:p>
        </p:txBody>
      </p:sp>
      <p:sp>
        <p:nvSpPr>
          <p:cNvPr id="2" name="">
            <a:extLst xmlns:a="http://schemas.openxmlformats.org/drawingml/2006/main">
              <a:ext uri="{FF2B5EF4-FFF2-40B4-BE49-F238E27FC236}">
                <a16:creationId xmlns:a16="http://schemas.microsoft.com/office/drawing/2014/main" id="{7E71CE01-6E30-48B5-86DB-B6C9783C1ACC}"/>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Central model case compared with historical workforce scale.</a:t>
            </a:r>
          </a:p>
        </p:txBody>
      </p:sp>
      <p:sp>
        <p:nvSpPr>
          <p:cNvPr id="3" name="">
            <a:extLst xmlns:a="http://schemas.openxmlformats.org/drawingml/2006/main">
              <a:ext uri="{FF2B5EF4-FFF2-40B4-BE49-F238E27FC236}">
                <a16:creationId xmlns:a16="http://schemas.microsoft.com/office/drawing/2014/main" id="{41012DC8-87B9-4065-9985-366420AE0F5A}"/>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Modelled annual average FTE. Historical employment stocks do not measure crews available for new work.</a:t>
            </a:r>
          </a:p>
        </p:txBody>
      </p:sp>
      <p:sp>
        <p:nvSpPr>
          <p:cNvPr id="4" name="">
            <a:extLst xmlns:a="http://schemas.openxmlformats.org/drawingml/2006/main">
              <a:ext uri="{FF2B5EF4-FFF2-40B4-BE49-F238E27FC236}">
                <a16:creationId xmlns:a16="http://schemas.microsoft.com/office/drawing/2014/main" id="{8A605D1E-16CB-49E0-AFC5-66992897A6DC}"/>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6</a:t>
            </a:r>
          </a:p>
        </p:txBody>
      </p:sp>
      <p:graphicFrame>
        <p:nvGraphicFramePr>
          <p:cNvPr id="11" name=""/>
          <p:cNvGraphicFramePr/>
          <p:nvPr/>
        </p:nvGraphicFramePr>
        <p:xfrm>
          <a:off xmlns:a="http://schemas.openxmlformats.org/drawingml/2006/main" x="609600" y="2190750"/>
          <a:ext xmlns:a="http://schemas.openxmlformats.org/drawingml/2006/main" cx="10972800" cy="2143125"/>
        </p:xfrm>
        <a:graphic xmlns:a="http://schemas.openxmlformats.org/drawingml/2006/main">
          <a:graphicData uri="http://schemas.openxmlformats.org/drawingml/2006/table">
            <a:tbl>
              <a:tblPr/>
              <a:tblGrid>
                <a:gridCol w="3810000"/>
                <a:gridCol w="2857500"/>
                <a:gridCol w="1905000"/>
                <a:gridCol w="2400300"/>
              </a:tblGrid>
              <a:tr h="714375">
                <a:tc>
                  <a:txBody>
                    <a:bodyPr/>
                    <a:lstStyle/>
                    <a:p>
                      <a:r>
                        <a:rPr sz="1875" b="1">
                          <a:solidFill>
                            <a:srgbClr val="FFFFFF"/>
                          </a:solidFill>
                          <a:latin typeface="Helvetica Neue"/>
                          <a:ea typeface="Helvetica Neue"/>
                          <a:cs typeface="Helvetica Neue"/>
                        </a:rPr>
                        <a:t>Trade</a:t>
                      </a:r>
                    </a:p>
                  </a:txBody>
                  <a:tcPr marL="91440" marR="91440" marT="45720" marB="45720">
                    <a:solidFill>
                      <a:srgbClr val="0077CD"/>
                    </a:solidFill>
                  </a:tcPr>
                </a:tc>
                <a:tc>
                  <a:txBody>
                    <a:bodyPr/>
                    <a:lstStyle/>
                    <a:p>
                      <a:r>
                        <a:rPr sz="1875" b="1">
                          <a:solidFill>
                            <a:srgbClr val="FFFFFF"/>
                          </a:solidFill>
                          <a:latin typeface="Helvetica Neue"/>
                          <a:ea typeface="Helvetica Neue"/>
                          <a:cs typeface="Helvetica Neue"/>
                        </a:rPr>
                        <a:t>Modelled annual peak</a:t>
                      </a:r>
                    </a:p>
                  </a:txBody>
                  <a:tcPr marL="91440" marR="91440" marT="45720" marB="45720">
                    <a:solidFill>
                      <a:srgbClr val="0077CD"/>
                    </a:solidFill>
                  </a:tcPr>
                </a:tc>
                <a:tc>
                  <a:txBody>
                    <a:bodyPr/>
                    <a:lstStyle/>
                    <a:p>
                      <a:r>
                        <a:rPr sz="1875" b="1">
                          <a:solidFill>
                            <a:srgbClr val="FFFFFF"/>
                          </a:solidFill>
                          <a:latin typeface="Helvetica Neue"/>
                          <a:ea typeface="Helvetica Neue"/>
                          <a:cs typeface="Helvetica Neue"/>
                        </a:rPr>
                        <a:t>Peak year</a:t>
                      </a:r>
                    </a:p>
                  </a:txBody>
                  <a:tcPr marL="91440" marR="91440" marT="45720" marB="45720">
                    <a:solidFill>
                      <a:srgbClr val="0077CD"/>
                    </a:solidFill>
                  </a:tcPr>
                </a:tc>
                <a:tc>
                  <a:txBody>
                    <a:bodyPr/>
                    <a:lstStyle/>
                    <a:p>
                      <a:r>
                        <a:rPr sz="1875" b="1">
                          <a:solidFill>
                            <a:srgbClr val="FFFFFF"/>
                          </a:solidFill>
                          <a:latin typeface="Helvetica Neue"/>
                          <a:ea typeface="Helvetica Neue"/>
                          <a:cs typeface="Helvetica Neue"/>
                        </a:rPr>
                        <a:t>2021 employed</a:t>
                      </a:r>
                    </a:p>
                  </a:txBody>
                  <a:tcPr marL="91440" marR="91440" marT="45720" marB="45720">
                    <a:solidFill>
                      <a:srgbClr val="0077CD"/>
                    </a:solidFill>
                  </a:tcPr>
                </a:tc>
              </a:tr>
              <a:tr h="714375">
                <a:tc>
                  <a:txBody>
                    <a:bodyPr/>
                    <a:lstStyle/>
                    <a:p>
                      <a:r>
                        <a:rPr sz="1875" b="0">
                          <a:solidFill>
                            <a:srgbClr val="333333"/>
                          </a:solidFill>
                          <a:latin typeface="Helvetica Neue"/>
                          <a:ea typeface="Helvetica Neue"/>
                          <a:cs typeface="Helvetica Neue"/>
                        </a:rPr>
                        <a:t>Electricians</a:t>
                      </a:r>
                    </a:p>
                  </a:txBody>
                  <a:tcPr marL="91440" marR="91440" marT="45720" marB="45720">
                    <a:solidFill>
                      <a:srgbClr val="FFFFFF"/>
                    </a:solidFill>
                  </a:tcPr>
                </a:tc>
                <a:tc>
                  <a:txBody>
                    <a:bodyPr/>
                    <a:lstStyle/>
                    <a:p>
                      <a:r>
                        <a:rPr sz="1875" b="0">
                          <a:solidFill>
                            <a:srgbClr val="333333"/>
                          </a:solidFill>
                          <a:latin typeface="Helvetica Neue"/>
                          <a:ea typeface="Helvetica Neue"/>
                          <a:cs typeface="Helvetica Neue"/>
                        </a:rPr>
                        <a:t>3,940</a:t>
                      </a:r>
                    </a:p>
                  </a:txBody>
                  <a:tcPr marL="91440" marR="91440" marT="45720" marB="45720">
                    <a:solidFill>
                      <a:srgbClr val="FFFFFF"/>
                    </a:solidFill>
                  </a:tcPr>
                </a:tc>
                <a:tc>
                  <a:txBody>
                    <a:bodyPr/>
                    <a:lstStyle/>
                    <a:p>
                      <a:r>
                        <a:rPr sz="1875" b="0">
                          <a:solidFill>
                            <a:srgbClr val="333333"/>
                          </a:solidFill>
                          <a:latin typeface="Helvetica Neue"/>
                          <a:ea typeface="Helvetica Neue"/>
                          <a:cs typeface="Helvetica Neue"/>
                        </a:rPr>
                        <a:t>2029</a:t>
                      </a:r>
                    </a:p>
                  </a:txBody>
                  <a:tcPr marL="91440" marR="91440" marT="45720" marB="45720">
                    <a:solidFill>
                      <a:srgbClr val="FFFFFF"/>
                    </a:solidFill>
                  </a:tcPr>
                </a:tc>
                <a:tc>
                  <a:txBody>
                    <a:bodyPr/>
                    <a:lstStyle/>
                    <a:p>
                      <a:r>
                        <a:rPr sz="1875" b="0">
                          <a:solidFill>
                            <a:srgbClr val="333333"/>
                          </a:solidFill>
                          <a:latin typeface="Helvetica Neue"/>
                          <a:ea typeface="Helvetica Neue"/>
                          <a:cs typeface="Helvetica Neue"/>
                        </a:rPr>
                        <a:t>13,375</a:t>
                      </a:r>
                    </a:p>
                  </a:txBody>
                  <a:tcPr marL="91440" marR="91440" marT="45720" marB="45720">
                    <a:solidFill>
                      <a:srgbClr val="FFFFFF"/>
                    </a:solidFill>
                  </a:tcPr>
                </a:tc>
              </a:tr>
              <a:tr h="714375">
                <a:tc>
                  <a:txBody>
                    <a:bodyPr/>
                    <a:lstStyle/>
                    <a:p>
                      <a:r>
                        <a:rPr sz="1875" b="0">
                          <a:solidFill>
                            <a:srgbClr val="333333"/>
                          </a:solidFill>
                          <a:latin typeface="Helvetica Neue"/>
                          <a:ea typeface="Helvetica Neue"/>
                          <a:cs typeface="Helvetica Neue"/>
                        </a:rPr>
                        <a:t>HVAC mechanics</a:t>
                      </a:r>
                    </a:p>
                  </a:txBody>
                  <a:tcPr marL="91440" marR="91440" marT="45720" marB="45720">
                    <a:solidFill>
                      <a:srgbClr val="F2F2F2"/>
                    </a:solidFill>
                  </a:tcPr>
                </a:tc>
                <a:tc>
                  <a:txBody>
                    <a:bodyPr/>
                    <a:lstStyle/>
                    <a:p>
                      <a:r>
                        <a:rPr sz="1875" b="0">
                          <a:solidFill>
                            <a:srgbClr val="333333"/>
                          </a:solidFill>
                          <a:latin typeface="Helvetica Neue"/>
                          <a:ea typeface="Helvetica Neue"/>
                          <a:cs typeface="Helvetica Neue"/>
                        </a:rPr>
                        <a:t>1,926</a:t>
                      </a:r>
                    </a:p>
                  </a:txBody>
                  <a:tcPr marL="91440" marR="91440" marT="45720" marB="45720">
                    <a:solidFill>
                      <a:srgbClr val="F2F2F2"/>
                    </a:solidFill>
                  </a:tcPr>
                </a:tc>
                <a:tc>
                  <a:txBody>
                    <a:bodyPr/>
                    <a:lstStyle/>
                    <a:p>
                      <a:r>
                        <a:rPr sz="1875" b="0">
                          <a:solidFill>
                            <a:srgbClr val="333333"/>
                          </a:solidFill>
                          <a:latin typeface="Helvetica Neue"/>
                          <a:ea typeface="Helvetica Neue"/>
                          <a:cs typeface="Helvetica Neue"/>
                        </a:rPr>
                        <a:t>2030</a:t>
                      </a:r>
                    </a:p>
                  </a:txBody>
                  <a:tcPr marL="91440" marR="91440" marT="45720" marB="45720">
                    <a:solidFill>
                      <a:srgbClr val="F2F2F2"/>
                    </a:solidFill>
                  </a:tcPr>
                </a:tc>
                <a:tc>
                  <a:txBody>
                    <a:bodyPr/>
                    <a:lstStyle/>
                    <a:p>
                      <a:r>
                        <a:rPr sz="1875" b="0">
                          <a:solidFill>
                            <a:srgbClr val="333333"/>
                          </a:solidFill>
                          <a:latin typeface="Helvetica Neue"/>
                          <a:ea typeface="Helvetica Neue"/>
                          <a:cs typeface="Helvetica Neue"/>
                        </a:rPr>
                        <a:t>3,095</a:t>
                      </a:r>
                    </a:p>
                  </a:txBody>
                  <a:tcPr marL="91440" marR="91440" marT="45720" marB="45720">
                    <a:solidFill>
                      <a:srgbClr val="F2F2F2"/>
                    </a:solidFill>
                  </a:tcPr>
                </a:tc>
              </a:tr>
            </a:tbl>
          </a:graphicData>
        </a:graphic>
      </p:graphicFrame>
      <p:sp>
        <p:nvSpPr>
          <p:cNvPr id="6" name="">
            <a:extLst xmlns:a="http://schemas.openxmlformats.org/drawingml/2006/main">
              <a:ext uri="{FF2B5EF4-FFF2-40B4-BE49-F238E27FC236}">
                <a16:creationId xmlns:a16="http://schemas.microsoft.com/office/drawing/2014/main" id="{58748AFB-0CCE-463C-A8D0-FE4C82735981}"/>
              </a:ext>
            </a:extLst>
          </p:cNvPr>
          <p:cNvSpPr>
            <a:spLocks xmlns:a="http://schemas.openxmlformats.org/drawingml/2006/main" noGrp="1"/>
          </p:cNvSpPr>
          <p:nvPr/>
        </p:nvSpPr>
        <p:spPr>
          <a:xfrm xmlns:a="http://schemas.openxmlformats.org/drawingml/2006/main">
            <a:off x="609600" y="4829175"/>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C4E"/>
                </a:solidFill>
                <a:latin typeface="Helvetica Neue"/>
                <a:ea typeface="Helvetica Neue"/>
                <a:cs typeface="Helvetica Neue"/>
              </a:defRPr>
            </a:pPr>
            <a:r>
              <a:rPr sz="2250" b="1">
                <a:solidFill>
                  <a:srgbClr val="002C4E"/>
                </a:solidFill>
                <a:latin typeface="Helvetica Neue"/>
                <a:ea typeface="Helvetica Neue"/>
                <a:cs typeface="Helvetica Neue"/>
              </a:rPr>
              <a:t>Model timing follows each phase and trade work window. Undated phases carry explicit schedule inputs.</a:t>
            </a:r>
          </a:p>
        </p:txBody>
      </p:sp>
    </p:spTree>
    <p:extLst>
      <p:ext uri="{BB962C8B-B14F-4D97-AF65-F5344CB8AC3E}">
        <p14:creationId xmlns:p14="http://schemas.microsoft.com/office/powerpoint/2010/main" val="69028230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A582E93-E5D7-4067-82BE-C8D5F3226FC7}"/>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HVAC and steel prices show the largest increases</a:t>
            </a:r>
          </a:p>
        </p:txBody>
      </p:sp>
      <p:sp>
        <p:nvSpPr>
          <p:cNvPr id="2" name="">
            <a:extLst xmlns:a="http://schemas.openxmlformats.org/drawingml/2006/main">
              <a:ext uri="{FF2B5EF4-FFF2-40B4-BE49-F238E27FC236}">
                <a16:creationId xmlns:a16="http://schemas.microsoft.com/office/drawing/2014/main" id="{1D731D53-7F96-40D4-ADB2-6364EBAEF7C3}"/>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Calgary and Edmonton industrial-factory construction components, Q2 2026 versus Q2 2025.</a:t>
            </a:r>
          </a:p>
        </p:txBody>
      </p:sp>
      <p:sp>
        <p:nvSpPr>
          <p:cNvPr id="3" name="">
            <a:extLst xmlns:a="http://schemas.openxmlformats.org/drawingml/2006/main">
              <a:ext uri="{FF2B5EF4-FFF2-40B4-BE49-F238E27FC236}">
                <a16:creationId xmlns:a16="http://schemas.microsoft.com/office/drawing/2014/main" id="{499F5568-7107-457B-A3C1-928C8D6137CB}"/>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Source: Statistics Canada, Table 18-10-0289-01. Contractor bid-price changes, not raw-material prices.</a:t>
            </a:r>
          </a:p>
        </p:txBody>
      </p:sp>
      <p:sp>
        <p:nvSpPr>
          <p:cNvPr id="4" name="">
            <a:extLst xmlns:a="http://schemas.openxmlformats.org/drawingml/2006/main">
              <a:ext uri="{FF2B5EF4-FFF2-40B4-BE49-F238E27FC236}">
                <a16:creationId xmlns:a16="http://schemas.microsoft.com/office/drawing/2014/main" id="{8D53D976-4B6B-40A9-836D-52CCF1B0F112}"/>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7</a:t>
            </a:r>
          </a:p>
        </p:txBody>
      </p:sp>
      <p:graphicFrame>
        <p:nvGraphicFramePr>
          <p:cNvPr id="11" name="Chart"/>
          <p:cNvGraphicFramePr/>
          <p:nvPr/>
        </p:nvGraphicFramePr>
        <p:xfrm>
          <a:off xmlns:a="http://schemas.openxmlformats.org/drawingml/2006/main" x="609600" y="2143125"/>
          <a:ext xmlns:a="http://schemas.openxmlformats.org/drawingml/2006/main" cx="10972800" cy="3571875"/>
        </p:xfrm>
        <a:graphic xmlns:a="http://schemas.openxmlformats.org/drawingml/2006/main">
          <a:graphicData uri="http://schemas.openxmlformats.org/drawingml/2006/chart">
            <c:chart xmlns:r="http://schemas.openxmlformats.org/officeDocument/2006/relationships" xmlns:c="http://schemas.openxmlformats.org/drawingml/2006/chart" r:id="Rd252f3d58f984769"/>
          </a:graphicData>
        </a:graphic>
      </p:graphicFrame>
      <p:sp>
        <p:nvSpPr>
          <p:cNvPr id="6" name="">
            <a:extLst xmlns:a="http://schemas.openxmlformats.org/drawingml/2006/main">
              <a:ext uri="{FF2B5EF4-FFF2-40B4-BE49-F238E27FC236}">
                <a16:creationId xmlns:a16="http://schemas.microsoft.com/office/drawing/2014/main" id="{851B9D5A-2267-4609-A38A-0D203C401FAA}"/>
              </a:ext>
            </a:extLst>
          </p:cNvPr>
          <p:cNvSpPr>
            <a:spLocks xmlns:a="http://schemas.openxmlformats.org/drawingml/2006/main" noGrp="1"/>
          </p:cNvSpPr>
          <p:nvPr/>
        </p:nvSpPr>
        <p:spPr>
          <a:xfrm xmlns:a="http://schemas.openxmlformats.org/drawingml/2006/main">
            <a:off x="609600" y="58769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02C4E"/>
                </a:solidFill>
                <a:latin typeface="Helvetica Neue"/>
                <a:ea typeface="Helvetica Neue"/>
                <a:cs typeface="Helvetica Neue"/>
              </a:defRPr>
            </a:pPr>
            <a:r>
              <a:rPr sz="1650" b="1">
                <a:solidFill>
                  <a:srgbClr val="002C4E"/>
                </a:solidFill>
                <a:latin typeface="Helvetica Neue"/>
                <a:ea typeface="Helvetica Neue"/>
                <a:cs typeface="Helvetica Neue"/>
              </a:rPr>
              <a:t>HVAC and steel warrant a cost-weighted procurement review.</a:t>
            </a:r>
          </a:p>
        </p:txBody>
      </p:sp>
    </p:spTree>
    <p:extLst>
      <p:ext uri="{BB962C8B-B14F-4D97-AF65-F5344CB8AC3E}">
        <p14:creationId xmlns:p14="http://schemas.microsoft.com/office/powerpoint/2010/main" val="36638358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5E23F36-987B-4326-8F28-9B2C21C724C1}"/>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A 10% shock on a quarter of the plan is about $267M</a:t>
            </a:r>
          </a:p>
        </p:txBody>
      </p:sp>
      <p:sp>
        <p:nvSpPr>
          <p:cNvPr id="2" name="">
            <a:extLst xmlns:a="http://schemas.openxmlformats.org/drawingml/2006/main">
              <a:ext uri="{FF2B5EF4-FFF2-40B4-BE49-F238E27FC236}">
                <a16:creationId xmlns:a16="http://schemas.microsoft.com/office/drawing/2014/main" id="{7E9F1701-37F0-411D-B6F3-7C3B457D0734}"/>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Budget sensitivity against the $10.687B FY2026–27 capital plan.</a:t>
            </a:r>
          </a:p>
        </p:txBody>
      </p:sp>
      <p:sp>
        <p:nvSpPr>
          <p:cNvPr id="3" name="">
            <a:extLst xmlns:a="http://schemas.openxmlformats.org/drawingml/2006/main">
              <a:ext uri="{FF2B5EF4-FFF2-40B4-BE49-F238E27FC236}">
                <a16:creationId xmlns:a16="http://schemas.microsoft.com/office/drawing/2014/main" id="{B896DC4F-40D7-413A-869C-0E708DD4D0A4}"/>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Each row is a separate exposure test. Do not add them or layer them onto an escalated baseline.</a:t>
            </a:r>
          </a:p>
        </p:txBody>
      </p:sp>
      <p:sp>
        <p:nvSpPr>
          <p:cNvPr id="4" name="">
            <a:extLst xmlns:a="http://schemas.openxmlformats.org/drawingml/2006/main">
              <a:ext uri="{FF2B5EF4-FFF2-40B4-BE49-F238E27FC236}">
                <a16:creationId xmlns:a16="http://schemas.microsoft.com/office/drawing/2014/main" id="{88F2694A-675F-44F9-AD85-7CF2D79A1D6D}"/>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8</a:t>
            </a:r>
          </a:p>
        </p:txBody>
      </p:sp>
      <p:graphicFrame>
        <p:nvGraphicFramePr>
          <p:cNvPr id="11" name=""/>
          <p:cNvGraphicFramePr/>
          <p:nvPr/>
        </p:nvGraphicFramePr>
        <p:xfrm>
          <a:off xmlns:a="http://schemas.openxmlformats.org/drawingml/2006/main" x="609600" y="2143125"/>
          <a:ext xmlns:a="http://schemas.openxmlformats.org/drawingml/2006/main" cx="10972800" cy="2809875"/>
        </p:xfrm>
        <a:graphic xmlns:a="http://schemas.openxmlformats.org/drawingml/2006/main">
          <a:graphicData uri="http://schemas.openxmlformats.org/drawingml/2006/table">
            <a:tbl>
              <a:tblPr/>
              <a:tblGrid>
                <a:gridCol w="3810000"/>
                <a:gridCol w="3238500"/>
                <a:gridCol w="3924300"/>
              </a:tblGrid>
              <a:tr h="561975">
                <a:tc>
                  <a:txBody>
                    <a:bodyPr/>
                    <a:lstStyle/>
                    <a:p>
                      <a:r>
                        <a:rPr sz="1725" b="1">
                          <a:solidFill>
                            <a:srgbClr val="FFFFFF"/>
                          </a:solidFill>
                          <a:latin typeface="Helvetica Neue"/>
                          <a:ea typeface="Helvetica Neue"/>
                          <a:cs typeface="Helvetica Neue"/>
                        </a:rPr>
                        <a:t>Price movement</a:t>
                      </a:r>
                    </a:p>
                  </a:txBody>
                  <a:tcPr marL="91440" marR="91440" marT="45720" marB="45720">
                    <a:solidFill>
                      <a:srgbClr val="0077CD"/>
                    </a:solidFill>
                  </a:tcPr>
                </a:tc>
                <a:tc>
                  <a:txBody>
                    <a:bodyPr/>
                    <a:lstStyle/>
                    <a:p>
                      <a:r>
                        <a:rPr sz="1725" b="1">
                          <a:solidFill>
                            <a:srgbClr val="FFFFFF"/>
                          </a:solidFill>
                          <a:latin typeface="Helvetica Neue"/>
                          <a:ea typeface="Helvetica Neue"/>
                          <a:cs typeface="Helvetica Neue"/>
                        </a:rPr>
                        <a:t>Calgary / Edmonton</a:t>
                      </a:r>
                    </a:p>
                  </a:txBody>
                  <a:tcPr marL="91440" marR="91440" marT="45720" marB="45720">
                    <a:solidFill>
                      <a:srgbClr val="0077CD"/>
                    </a:solidFill>
                  </a:tcPr>
                </a:tc>
                <a:tc>
                  <a:txBody>
                    <a:bodyPr/>
                    <a:lstStyle/>
                    <a:p>
                      <a:r>
                        <a:rPr sz="1725" b="1">
                          <a:solidFill>
                            <a:srgbClr val="FFFFFF"/>
                          </a:solidFill>
                          <a:latin typeface="Helvetica Neue"/>
                          <a:ea typeface="Helvetica Neue"/>
                          <a:cs typeface="Helvetica Neue"/>
                        </a:rPr>
                        <a:t>Impact if 25% of plan exposed</a:t>
                      </a:r>
                    </a:p>
                  </a:txBody>
                  <a:tcPr marL="91440" marR="91440" marT="45720" marB="45720">
                    <a:solidFill>
                      <a:srgbClr val="0077CD"/>
                    </a:solidFill>
                  </a:tcPr>
                </a:tc>
              </a:tr>
              <a:tr h="561975">
                <a:tc>
                  <a:txBody>
                    <a:bodyPr/>
                    <a:lstStyle/>
                    <a:p>
                      <a:r>
                        <a:rPr sz="1725" b="0">
                          <a:solidFill>
                            <a:srgbClr val="333333"/>
                          </a:solidFill>
                          <a:latin typeface="Helvetica Neue"/>
                          <a:ea typeface="Helvetica Neue"/>
                          <a:cs typeface="Helvetica Neue"/>
                        </a:rPr>
                        <a:t>Concrete</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4.11% / 5.24%</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$110M / $140M</a:t>
                      </a:r>
                    </a:p>
                  </a:txBody>
                  <a:tcPr marL="91440" marR="91440" marT="45720" marB="45720">
                    <a:solidFill>
                      <a:srgbClr val="FFFFFF"/>
                    </a:solidFill>
                  </a:tcPr>
                </a:tc>
              </a:tr>
              <a:tr h="561975">
                <a:tc>
                  <a:txBody>
                    <a:bodyPr/>
                    <a:lstStyle/>
                    <a:p>
                      <a:r>
                        <a:rPr sz="1725" b="0">
                          <a:solidFill>
                            <a:srgbClr val="333333"/>
                          </a:solidFill>
                          <a:latin typeface="Helvetica Neue"/>
                          <a:ea typeface="Helvetica Neue"/>
                          <a:cs typeface="Helvetica Neue"/>
                        </a:rPr>
                        <a:t>Structural steel</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7.30% / 10.44%</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$195M / $279M</a:t>
                      </a:r>
                    </a:p>
                  </a:txBody>
                  <a:tcPr marL="91440" marR="91440" marT="45720" marB="45720">
                    <a:solidFill>
                      <a:srgbClr val="F2F2F2"/>
                    </a:solidFill>
                  </a:tcPr>
                </a:tc>
              </a:tr>
              <a:tr h="561975">
                <a:tc>
                  <a:txBody>
                    <a:bodyPr/>
                    <a:lstStyle/>
                    <a:p>
                      <a:r>
                        <a:rPr sz="1725" b="0">
                          <a:solidFill>
                            <a:srgbClr val="333333"/>
                          </a:solidFill>
                          <a:latin typeface="Helvetica Neue"/>
                          <a:ea typeface="Helvetica Neue"/>
                          <a:cs typeface="Helvetica Neue"/>
                        </a:rPr>
                        <a:t>Electrical systems</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0.83% / 1.01%</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$22M / $27M</a:t>
                      </a:r>
                    </a:p>
                  </a:txBody>
                  <a:tcPr marL="91440" marR="91440" marT="45720" marB="45720">
                    <a:solidFill>
                      <a:srgbClr val="FFFFFF"/>
                    </a:solidFill>
                  </a:tcPr>
                </a:tc>
              </a:tr>
              <a:tr h="561975">
                <a:tc>
                  <a:txBody>
                    <a:bodyPr/>
                    <a:lstStyle/>
                    <a:p>
                      <a:r>
                        <a:rPr sz="1725" b="0">
                          <a:solidFill>
                            <a:srgbClr val="333333"/>
                          </a:solidFill>
                          <a:latin typeface="Helvetica Neue"/>
                          <a:ea typeface="Helvetica Neue"/>
                          <a:cs typeface="Helvetica Neue"/>
                        </a:rPr>
                        <a:t>HVAC</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10.05% / 10.05%</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$269M / $268M</a:t>
                      </a:r>
                    </a:p>
                  </a:txBody>
                  <a:tcPr marL="91440" marR="91440" marT="45720" marB="45720">
                    <a:solidFill>
                      <a:srgbClr val="F2F2F2"/>
                    </a:solidFill>
                  </a:tcPr>
                </a:tc>
              </a:tr>
            </a:tbl>
          </a:graphicData>
        </a:graphic>
      </p:graphicFrame>
      <p:sp>
        <p:nvSpPr>
          <p:cNvPr id="6" name="">
            <a:extLst xmlns:a="http://schemas.openxmlformats.org/drawingml/2006/main">
              <a:ext uri="{FF2B5EF4-FFF2-40B4-BE49-F238E27FC236}">
                <a16:creationId xmlns:a16="http://schemas.microsoft.com/office/drawing/2014/main" id="{4CE26926-E564-4BEA-A556-8BADA2BCDCE8}"/>
              </a:ext>
            </a:extLst>
          </p:cNvPr>
          <p:cNvSpPr>
            <a:spLocks xmlns:a="http://schemas.openxmlformats.org/drawingml/2006/main" noGrp="1"/>
          </p:cNvSpPr>
          <p:nvPr/>
        </p:nvSpPr>
        <p:spPr>
          <a:xfrm xmlns:a="http://schemas.openxmlformats.org/drawingml/2006/main">
            <a:off x="609600" y="53340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2C4E"/>
                </a:solidFill>
                <a:latin typeface="Helvetica Neue"/>
                <a:ea typeface="Helvetica Neue"/>
                <a:cs typeface="Helvetica Neue"/>
              </a:defRPr>
            </a:pPr>
            <a:r>
              <a:rPr sz="2025" b="1">
                <a:solidFill>
                  <a:srgbClr val="002C4E"/>
                </a:solidFill>
                <a:latin typeface="Helvetica Neue"/>
                <a:ea typeface="Helvetica Neue"/>
                <a:cs typeface="Helvetica Neue"/>
              </a:rPr>
              <a:t>At a 10% shock: 10% exposed = $107M; 25% = $267M; 50% = $534M.</a:t>
            </a:r>
          </a:p>
        </p:txBody>
      </p:sp>
    </p:spTree>
    <p:extLst>
      <p:ext uri="{BB962C8B-B14F-4D97-AF65-F5344CB8AC3E}">
        <p14:creationId xmlns:p14="http://schemas.microsoft.com/office/powerpoint/2010/main" val="14734116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59A528C-4758-43E7-AA4B-D5A2835AE274}"/>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49 Infrastructure-developer records overlap 2027–2036</a:t>
            </a:r>
          </a:p>
        </p:txBody>
      </p:sp>
      <p:sp>
        <p:nvSpPr>
          <p:cNvPr id="2" name="">
            <a:extLst xmlns:a="http://schemas.openxmlformats.org/drawingml/2006/main">
              <a:ext uri="{FF2B5EF4-FFF2-40B4-BE49-F238E27FC236}">
                <a16:creationId xmlns:a16="http://schemas.microsoft.com/office/drawing/2014/main" id="{56A5B3F9-7DAB-4A34-BF76-B27D9E0E204E}"/>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Reported municipality and stage identify a portfolio for package-level review.</a:t>
            </a:r>
          </a:p>
        </p:txBody>
      </p:sp>
      <p:sp>
        <p:nvSpPr>
          <p:cNvPr id="3" name="">
            <a:extLst xmlns:a="http://schemas.openxmlformats.org/drawingml/2006/main">
              <a:ext uri="{FF2B5EF4-FFF2-40B4-BE49-F238E27FC236}">
                <a16:creationId xmlns:a16="http://schemas.microsoft.com/office/drawing/2014/main" id="{B4E93244-D921-45F1-8431-5E7F3CAF8FBB}"/>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Developer is the screening field. Ownership, current package phase and actual shared crews require confirmation.</a:t>
            </a:r>
          </a:p>
        </p:txBody>
      </p:sp>
      <p:sp>
        <p:nvSpPr>
          <p:cNvPr id="4" name="">
            <a:extLst xmlns:a="http://schemas.openxmlformats.org/drawingml/2006/main">
              <a:ext uri="{FF2B5EF4-FFF2-40B4-BE49-F238E27FC236}">
                <a16:creationId xmlns:a16="http://schemas.microsoft.com/office/drawing/2014/main" id="{6E7448BB-AE03-4083-ACF7-9F0C973E980F}"/>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9</a:t>
            </a:r>
          </a:p>
        </p:txBody>
      </p:sp>
      <p:graphicFrame>
        <p:nvGraphicFramePr>
          <p:cNvPr id="11" name=""/>
          <p:cNvGraphicFramePr/>
          <p:nvPr/>
        </p:nvGraphicFramePr>
        <p:xfrm>
          <a:off xmlns:a="http://schemas.openxmlformats.org/drawingml/2006/main" x="609600" y="2095500"/>
          <a:ext xmlns:a="http://schemas.openxmlformats.org/drawingml/2006/main" cx="10972800" cy="3286125"/>
        </p:xfrm>
        <a:graphic xmlns:a="http://schemas.openxmlformats.org/drawingml/2006/main">
          <a:graphicData uri="http://schemas.openxmlformats.org/drawingml/2006/table">
            <a:tbl>
              <a:tblPr/>
              <a:tblGrid>
                <a:gridCol w="5524500"/>
                <a:gridCol w="2286000"/>
                <a:gridCol w="3162300"/>
              </a:tblGrid>
              <a:tr h="547688">
                <a:tc>
                  <a:txBody>
                    <a:bodyPr/>
                    <a:lstStyle/>
                    <a:p>
                      <a:r>
                        <a:rPr sz="1650" b="1">
                          <a:solidFill>
                            <a:srgbClr val="FFFFFF"/>
                          </a:solidFill>
                          <a:latin typeface="Helvetica Neue"/>
                          <a:ea typeface="Helvetica Neue"/>
                          <a:cs typeface="Helvetica Neue"/>
                        </a:rPr>
                        <a:t>Project</a:t>
                      </a:r>
                    </a:p>
                  </a:txBody>
                  <a:tcPr marL="91440" marR="91440" marT="45720" marB="45720">
                    <a:solidFill>
                      <a:srgbClr val="0077CD"/>
                    </a:solidFill>
                  </a:tcPr>
                </a:tc>
                <a:tc>
                  <a:txBody>
                    <a:bodyPr/>
                    <a:lstStyle/>
                    <a:p>
                      <a:r>
                        <a:rPr sz="1650" b="1">
                          <a:solidFill>
                            <a:srgbClr val="FFFFFF"/>
                          </a:solidFill>
                          <a:latin typeface="Helvetica Neue"/>
                          <a:ea typeface="Helvetica Neue"/>
                          <a:cs typeface="Helvetica Neue"/>
                        </a:rPr>
                        <a:t>Municipality</a:t>
                      </a:r>
                    </a:p>
                  </a:txBody>
                  <a:tcPr marL="91440" marR="91440" marT="45720" marB="45720">
                    <a:solidFill>
                      <a:srgbClr val="0077CD"/>
                    </a:solidFill>
                  </a:tcPr>
                </a:tc>
                <a:tc>
                  <a:txBody>
                    <a:bodyPr/>
                    <a:lstStyle/>
                    <a:p>
                      <a:r>
                        <a:rPr sz="1650" b="1">
                          <a:solidFill>
                            <a:srgbClr val="FFFFFF"/>
                          </a:solidFill>
                          <a:latin typeface="Helvetica Neue"/>
                          <a:ea typeface="Helvetica Neue"/>
                          <a:cs typeface="Helvetica Neue"/>
                        </a:rPr>
                        <a:t>Reported stage / years</a:t>
                      </a:r>
                    </a:p>
                  </a:txBody>
                  <a:tcPr marL="91440" marR="91440" marT="45720" marB="45720">
                    <a:solidFill>
                      <a:srgbClr val="0077CD"/>
                    </a:solidFill>
                  </a:tcPr>
                </a:tc>
              </a:tr>
              <a:tr h="547688">
                <a:tc>
                  <a:txBody>
                    <a:bodyPr/>
                    <a:lstStyle/>
                    <a:p>
                      <a:r>
                        <a:rPr sz="1650" b="0">
                          <a:solidFill>
                            <a:srgbClr val="333333"/>
                          </a:solidFill>
                          <a:latin typeface="Helvetica Neue"/>
                          <a:ea typeface="Helvetica Neue"/>
                          <a:cs typeface="Helvetica Neue"/>
                        </a:rPr>
                        <a:t>Alberta Surgical Initiative (02 - Calgary)</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Calgary</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Construction, 2024–2029</a:t>
                      </a:r>
                    </a:p>
                  </a:txBody>
                  <a:tcPr marL="91440" marR="91440" marT="45720" marB="45720">
                    <a:solidFill>
                      <a:srgbClr val="FFFFFF"/>
                    </a:solidFill>
                  </a:tcPr>
                </a:tc>
              </a:tr>
              <a:tr h="547688">
                <a:tc>
                  <a:txBody>
                    <a:bodyPr/>
                    <a:lstStyle/>
                    <a:p>
                      <a:r>
                        <a:rPr sz="1650" b="0">
                          <a:solidFill>
                            <a:srgbClr val="333333"/>
                          </a:solidFill>
                          <a:latin typeface="Helvetica Neue"/>
                          <a:ea typeface="Helvetica Neue"/>
                          <a:cs typeface="Helvetica Neue"/>
                        </a:rPr>
                        <a:t>New K-9 Catholic School in Chestermere</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Chestermere</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Construction, 2025–2027</a:t>
                      </a:r>
                    </a:p>
                  </a:txBody>
                  <a:tcPr marL="91440" marR="91440" marT="45720" marB="45720">
                    <a:solidFill>
                      <a:srgbClr val="F2F2F2"/>
                    </a:solidFill>
                  </a:tcPr>
                </a:tc>
              </a:tr>
              <a:tr h="547688">
                <a:tc>
                  <a:txBody>
                    <a:bodyPr/>
                    <a:lstStyle/>
                    <a:p>
                      <a:r>
                        <a:rPr sz="1650" b="0">
                          <a:solidFill>
                            <a:srgbClr val="333333"/>
                          </a:solidFill>
                          <a:latin typeface="Helvetica Neue"/>
                          <a:ea typeface="Helvetica Neue"/>
                          <a:cs typeface="Helvetica Neue"/>
                        </a:rPr>
                        <a:t>Red Deer Regional Hospital Centre Redevelopment</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Red Deer</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Construction, 2024–2031</a:t>
                      </a:r>
                    </a:p>
                  </a:txBody>
                  <a:tcPr marL="91440" marR="91440" marT="45720" marB="45720">
                    <a:solidFill>
                      <a:srgbClr val="FFFFFF"/>
                    </a:solidFill>
                  </a:tcPr>
                </a:tc>
              </a:tr>
              <a:tr h="547688">
                <a:tc>
                  <a:txBody>
                    <a:bodyPr/>
                    <a:lstStyle/>
                    <a:p>
                      <a:r>
                        <a:rPr sz="1650" b="0">
                          <a:solidFill>
                            <a:srgbClr val="333333"/>
                          </a:solidFill>
                          <a:latin typeface="Helvetica Neue"/>
                          <a:ea typeface="Helvetica Neue"/>
                          <a:cs typeface="Helvetica Neue"/>
                        </a:rPr>
                        <a:t>Alberta Surgical Initiative (06 - Royal Alexandra Hospital)</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Edmonton</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Proposed, 2027–2028</a:t>
                      </a:r>
                    </a:p>
                  </a:txBody>
                  <a:tcPr marL="91440" marR="91440" marT="45720" marB="45720">
                    <a:solidFill>
                      <a:srgbClr val="F2F2F2"/>
                    </a:solidFill>
                  </a:tcPr>
                </a:tc>
              </a:tr>
              <a:tr h="547688">
                <a:tc>
                  <a:txBody>
                    <a:bodyPr/>
                    <a:lstStyle/>
                    <a:p>
                      <a:r>
                        <a:rPr sz="1650" b="0">
                          <a:solidFill>
                            <a:srgbClr val="333333"/>
                          </a:solidFill>
                          <a:latin typeface="Helvetica Neue"/>
                          <a:ea typeface="Helvetica Neue"/>
                          <a:cs typeface="Helvetica Neue"/>
                        </a:rPr>
                        <a:t>Recovery Communities (10 - Grande Prairie)</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Grande Prairie</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Construction, 2026–2028</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AE558BE-9600-4FDC-93DC-8B1EB321B147}"/>
              </a:ext>
            </a:extLst>
          </p:cNvPr>
          <p:cNvSpPr>
            <a:spLocks xmlns:a="http://schemas.openxmlformats.org/drawingml/2006/main" noGrp="1"/>
          </p:cNvSpPr>
          <p:nvPr/>
        </p:nvSpPr>
        <p:spPr>
          <a:xfrm xmlns:a="http://schemas.openxmlformats.org/drawingml/2006/main">
            <a:off x="609600" y="56197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C4E"/>
                </a:solidFill>
                <a:latin typeface="Helvetica Neue"/>
                <a:ea typeface="Helvetica Neue"/>
                <a:cs typeface="Helvetica Neue"/>
              </a:defRPr>
            </a:pPr>
            <a:r>
              <a:rPr sz="1800" b="1">
                <a:solidFill>
                  <a:srgbClr val="002C4E"/>
                </a:solidFill>
                <a:latin typeface="Helvetica Neue"/>
                <a:ea typeface="Helvetica Neue"/>
                <a:cs typeface="Helvetica Neue"/>
              </a:rPr>
              <a:t>Package screen: electrical fit-out, cooling and commissioning. Full 49-record register follows.</a:t>
            </a:r>
          </a:p>
        </p:txBody>
      </p:sp>
    </p:spTree>
    <p:extLst>
      <p:ext uri="{BB962C8B-B14F-4D97-AF65-F5344CB8AC3E}">
        <p14:creationId xmlns:p14="http://schemas.microsoft.com/office/powerpoint/2010/main" val="49466419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DCCF899-C534-4DBF-AD90-BE1F81372F5C}"/>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Power belongs in the delivery conversation</a:t>
            </a:r>
          </a:p>
        </p:txBody>
      </p:sp>
      <p:sp>
        <p:nvSpPr>
          <p:cNvPr id="2" name="">
            <a:extLst xmlns:a="http://schemas.openxmlformats.org/drawingml/2006/main">
              <a:ext uri="{FF2B5EF4-FFF2-40B4-BE49-F238E27FC236}">
                <a16:creationId xmlns:a16="http://schemas.microsoft.com/office/drawing/2014/main" id="{13EBC349-7C69-483F-B9DD-B97D76A153D4}"/>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Three enabling-power proposals total $6.4B, separate from the core data-centre pipeline.</a:t>
            </a:r>
          </a:p>
        </p:txBody>
      </p:sp>
      <p:sp>
        <p:nvSpPr>
          <p:cNvPr id="3" name="">
            <a:extLst xmlns:a="http://schemas.openxmlformats.org/drawingml/2006/main">
              <a:ext uri="{FF2B5EF4-FFF2-40B4-BE49-F238E27FC236}">
                <a16:creationId xmlns:a16="http://schemas.microsoft.com/office/drawing/2014/main" id="{1CCDD291-F125-47F9-A1CC-AB1315132CAB}"/>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Sources: Alberta Major Projects, 31 Aug 2026; AESO large-load page checked 6 Sep 2026</a:t>
            </a:r>
          </a:p>
        </p:txBody>
      </p:sp>
      <p:sp>
        <p:nvSpPr>
          <p:cNvPr id="4" name="">
            <a:extLst xmlns:a="http://schemas.openxmlformats.org/drawingml/2006/main">
              <a:ext uri="{FF2B5EF4-FFF2-40B4-BE49-F238E27FC236}">
                <a16:creationId xmlns:a16="http://schemas.microsoft.com/office/drawing/2014/main" id="{FB09EB12-83BC-4E9B-9D2C-31405A147440}"/>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10</a:t>
            </a:r>
          </a:p>
        </p:txBody>
      </p:sp>
      <p:graphicFrame>
        <p:nvGraphicFramePr>
          <p:cNvPr id="12" name=""/>
          <p:cNvGraphicFramePr/>
          <p:nvPr/>
        </p:nvGraphicFramePr>
        <p:xfrm>
          <a:off xmlns:a="http://schemas.openxmlformats.org/drawingml/2006/main" x="609600" y="2095500"/>
          <a:ext xmlns:a="http://schemas.openxmlformats.org/drawingml/2006/main" cx="10972800" cy="2381250"/>
        </p:xfrm>
        <a:graphic xmlns:a="http://schemas.openxmlformats.org/drawingml/2006/main">
          <a:graphicData uri="http://schemas.openxmlformats.org/drawingml/2006/table">
            <a:tbl>
              <a:tblPr/>
              <a:tblGrid>
                <a:gridCol w="5524500"/>
                <a:gridCol w="3143250"/>
                <a:gridCol w="2305050"/>
              </a:tblGrid>
              <a:tr h="595313">
                <a:tc>
                  <a:txBody>
                    <a:bodyPr/>
                    <a:lstStyle/>
                    <a:p>
                      <a:r>
                        <a:rPr sz="1725" b="1">
                          <a:solidFill>
                            <a:srgbClr val="FFFFFF"/>
                          </a:solidFill>
                          <a:latin typeface="Helvetica Neue"/>
                          <a:ea typeface="Helvetica Neue"/>
                          <a:cs typeface="Helvetica Neue"/>
                        </a:rPr>
                        <a:t>Enabling-power proposal</a:t>
                      </a:r>
                    </a:p>
                  </a:txBody>
                  <a:tcPr marL="91440" marR="91440" marT="45720" marB="45720">
                    <a:solidFill>
                      <a:srgbClr val="0077CD"/>
                    </a:solidFill>
                  </a:tcPr>
                </a:tc>
                <a:tc>
                  <a:txBody>
                    <a:bodyPr/>
                    <a:lstStyle/>
                    <a:p>
                      <a:r>
                        <a:rPr sz="1725" b="1">
                          <a:solidFill>
                            <a:srgbClr val="FFFFFF"/>
                          </a:solidFill>
                          <a:latin typeface="Helvetica Neue"/>
                          <a:ea typeface="Helvetica Neue"/>
                          <a:cs typeface="Helvetica Neue"/>
                        </a:rPr>
                        <a:t>Municipality</a:t>
                      </a:r>
                    </a:p>
                  </a:txBody>
                  <a:tcPr marL="91440" marR="91440" marT="45720" marB="45720">
                    <a:solidFill>
                      <a:srgbClr val="0077CD"/>
                    </a:solidFill>
                  </a:tcPr>
                </a:tc>
                <a:tc>
                  <a:txBody>
                    <a:bodyPr/>
                    <a:lstStyle/>
                    <a:p>
                      <a:r>
                        <a:rPr sz="1725" b="1">
                          <a:solidFill>
                            <a:srgbClr val="FFFFFF"/>
                          </a:solidFill>
                          <a:latin typeface="Helvetica Neue"/>
                          <a:ea typeface="Helvetica Neue"/>
                          <a:cs typeface="Helvetica Neue"/>
                        </a:rPr>
                        <a:t>MW / reported end</a:t>
                      </a:r>
                    </a:p>
                  </a:txBody>
                  <a:tcPr marL="91440" marR="91440" marT="45720" marB="45720">
                    <a:solidFill>
                      <a:srgbClr val="0077CD"/>
                    </a:solidFill>
                  </a:tcPr>
                </a:tc>
              </a:tr>
              <a:tr h="595313">
                <a:tc>
                  <a:txBody>
                    <a:bodyPr/>
                    <a:lstStyle/>
                    <a:p>
                      <a:r>
                        <a:rPr sz="1725" b="0">
                          <a:solidFill>
                            <a:srgbClr val="333333"/>
                          </a:solidFill>
                          <a:latin typeface="Helvetica Neue"/>
                          <a:ea typeface="Helvetica Neue"/>
                          <a:cs typeface="Helvetica Neue"/>
                        </a:rPr>
                        <a:t>Greenlight Electricity Centre</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Sturgeon County</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932 MW / 2030</a:t>
                      </a:r>
                    </a:p>
                  </a:txBody>
                  <a:tcPr marL="91440" marR="91440" marT="45720" marB="45720">
                    <a:solidFill>
                      <a:srgbClr val="FFFFFF"/>
                    </a:solidFill>
                  </a:tcPr>
                </a:tc>
              </a:tr>
              <a:tr h="595313">
                <a:tc>
                  <a:txBody>
                    <a:bodyPr/>
                    <a:lstStyle/>
                    <a:p>
                      <a:r>
                        <a:rPr sz="1725" b="0">
                          <a:solidFill>
                            <a:srgbClr val="333333"/>
                          </a:solidFill>
                          <a:latin typeface="Helvetica Neue"/>
                          <a:ea typeface="Helvetica Neue"/>
                          <a:cs typeface="Helvetica Neue"/>
                        </a:rPr>
                        <a:t>Teton Digital Black Bear Power Project</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Swan Hills</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466 MW / 2028</a:t>
                      </a:r>
                    </a:p>
                  </a:txBody>
                  <a:tcPr marL="91440" marR="91440" marT="45720" marB="45720">
                    <a:solidFill>
                      <a:srgbClr val="F2F2F2"/>
                    </a:solidFill>
                  </a:tcPr>
                </a:tc>
              </a:tr>
              <a:tr h="595313">
                <a:tc>
                  <a:txBody>
                    <a:bodyPr/>
                    <a:lstStyle/>
                    <a:p>
                      <a:r>
                        <a:rPr sz="1725" b="0">
                          <a:solidFill>
                            <a:srgbClr val="333333"/>
                          </a:solidFill>
                          <a:latin typeface="Helvetica Neue"/>
                          <a:ea typeface="Helvetica Neue"/>
                          <a:cs typeface="Helvetica Neue"/>
                        </a:rPr>
                        <a:t>Teton Digital Northern Forge Power Project</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Greenview No. 16</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200 MW / 2028</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863C3C0-52EB-4A53-B62C-EA7F5FEF6FFD}"/>
              </a:ext>
            </a:extLst>
          </p:cNvPr>
          <p:cNvSpPr>
            <a:spLocks xmlns:a="http://schemas.openxmlformats.org/drawingml/2006/main" noGrp="1"/>
          </p:cNvSpPr>
          <p:nvPr/>
        </p:nvSpPr>
        <p:spPr>
          <a:xfrm xmlns:a="http://schemas.openxmlformats.org/drawingml/2006/main">
            <a:off x="609600" y="47815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2C4E"/>
                </a:solidFill>
                <a:latin typeface="Helvetica Neue"/>
                <a:ea typeface="Helvetica Neue"/>
                <a:cs typeface="Helvetica Neue"/>
              </a:defRPr>
            </a:pPr>
            <a:r>
              <a:rPr sz="2175" b="1">
                <a:solidFill>
                  <a:srgbClr val="002C4E"/>
                </a:solidFill>
                <a:latin typeface="Helvetica Neue"/>
                <a:ea typeface="Helvetica Neue"/>
                <a:cs typeface="Helvetica Neue"/>
              </a:rPr>
              <a:t>AESO Phase 1: 1,200 MW allocated to executed load contracts.</a:t>
            </a:r>
          </a:p>
        </p:txBody>
      </p:sp>
      <p:sp>
        <p:nvSpPr>
          <p:cNvPr id="7" name="">
            <a:extLst xmlns:a="http://schemas.openxmlformats.org/drawingml/2006/main">
              <a:ext uri="{FF2B5EF4-FFF2-40B4-BE49-F238E27FC236}">
                <a16:creationId xmlns:a16="http://schemas.microsoft.com/office/drawing/2014/main" id="{62306956-BFE8-4609-8DDD-B9B9044B7FFF}"/>
              </a:ext>
            </a:extLst>
          </p:cNvPr>
          <p:cNvSpPr>
            <a:spLocks xmlns:a="http://schemas.openxmlformats.org/drawingml/2006/main" noGrp="1"/>
          </p:cNvSpPr>
          <p:nvPr/>
        </p:nvSpPr>
        <p:spPr>
          <a:xfrm xmlns:a="http://schemas.openxmlformats.org/drawingml/2006/main">
            <a:off x="609600" y="54292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2C4E"/>
                </a:solidFill>
                <a:latin typeface="Helvetica Neue"/>
                <a:ea typeface="Helvetica Neue"/>
                <a:cs typeface="Helvetica Neue"/>
              </a:defRPr>
            </a:pPr>
            <a:r>
              <a:rPr sz="2025" b="1">
                <a:solidFill>
                  <a:srgbClr val="002C4E"/>
                </a:solidFill>
                <a:latin typeface="Helvetica Neue"/>
                <a:ea typeface="Helvetica Neue"/>
                <a:cs typeface="Helvetica Neue"/>
              </a:rPr>
              <a:t>Infrastructure needs facility-level power-on milestones from AESO and local utilities.</a:t>
            </a:r>
          </a:p>
        </p:txBody>
      </p:sp>
    </p:spTree>
    <p:extLst>
      <p:ext uri="{BB962C8B-B14F-4D97-AF65-F5344CB8AC3E}">
        <p14:creationId xmlns:p14="http://schemas.microsoft.com/office/powerpoint/2010/main" val="195027987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4B7E043-FEDD-4513-AA72-C1A34CB032EB}"/>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Equipment availability can govern delivery dates</a:t>
            </a:r>
          </a:p>
        </p:txBody>
      </p:sp>
      <p:sp>
        <p:nvSpPr>
          <p:cNvPr id="2" name="">
            <a:extLst xmlns:a="http://schemas.openxmlformats.org/drawingml/2006/main">
              <a:ext uri="{FF2B5EF4-FFF2-40B4-BE49-F238E27FC236}">
                <a16:creationId xmlns:a16="http://schemas.microsoft.com/office/drawing/2014/main" id="{9D7CCDE4-6095-47CC-B76F-5F72C71E0E2F}"/>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Supplier lead-time benchmarks relevant to Alberta procurement planning.</a:t>
            </a:r>
          </a:p>
        </p:txBody>
      </p:sp>
      <p:sp>
        <p:nvSpPr>
          <p:cNvPr id="3" name="">
            <a:extLst xmlns:a="http://schemas.openxmlformats.org/drawingml/2006/main">
              <a:ext uri="{FF2B5EF4-FFF2-40B4-BE49-F238E27FC236}">
                <a16:creationId xmlns:a16="http://schemas.microsoft.com/office/drawing/2014/main" id="{1F675E06-E591-403E-A4D5-0EF6C3F4EA43}"/>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SourceBlue, Q2 2026 US market ranges. Alberta delivery requires a product-specific supplier quotation.</a:t>
            </a:r>
          </a:p>
        </p:txBody>
      </p:sp>
      <p:sp>
        <p:nvSpPr>
          <p:cNvPr id="4" name="">
            <a:extLst xmlns:a="http://schemas.openxmlformats.org/drawingml/2006/main">
              <a:ext uri="{FF2B5EF4-FFF2-40B4-BE49-F238E27FC236}">
                <a16:creationId xmlns:a16="http://schemas.microsoft.com/office/drawing/2014/main" id="{158B936E-E756-4786-97C1-4FCE54985F08}"/>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11</a:t>
            </a:r>
          </a:p>
        </p:txBody>
      </p:sp>
      <p:graphicFrame>
        <p:nvGraphicFramePr>
          <p:cNvPr id="10" name=""/>
          <p:cNvGraphicFramePr/>
          <p:nvPr/>
        </p:nvGraphicFramePr>
        <p:xfrm>
          <a:off xmlns:a="http://schemas.openxmlformats.org/drawingml/2006/main" x="609600" y="2000250"/>
          <a:ext xmlns:a="http://schemas.openxmlformats.org/drawingml/2006/main" cx="10972800" cy="3905250"/>
        </p:xfrm>
        <a:graphic xmlns:a="http://schemas.openxmlformats.org/drawingml/2006/main">
          <a:graphicData uri="http://schemas.openxmlformats.org/drawingml/2006/table">
            <a:tbl>
              <a:tblPr/>
              <a:tblGrid>
                <a:gridCol w="3524250"/>
                <a:gridCol w="2381250"/>
                <a:gridCol w="5067300"/>
              </a:tblGrid>
              <a:tr h="433917">
                <a:tc>
                  <a:txBody>
                    <a:bodyPr/>
                    <a:lstStyle/>
                    <a:p>
                      <a:r>
                        <a:rPr sz="1575" b="1">
                          <a:solidFill>
                            <a:srgbClr val="FFFFFF"/>
                          </a:solidFill>
                          <a:latin typeface="Helvetica Neue"/>
                          <a:ea typeface="Helvetica Neue"/>
                          <a:cs typeface="Helvetica Neue"/>
                        </a:rPr>
                        <a:t>Equipment</a:t>
                      </a:r>
                    </a:p>
                  </a:txBody>
                  <a:tcPr marL="91440" marR="91440" marT="45720" marB="45720">
                    <a:solidFill>
                      <a:srgbClr val="0077CD"/>
                    </a:solidFill>
                  </a:tcPr>
                </a:tc>
                <a:tc>
                  <a:txBody>
                    <a:bodyPr/>
                    <a:lstStyle/>
                    <a:p>
                      <a:r>
                        <a:rPr sz="1575" b="1">
                          <a:solidFill>
                            <a:srgbClr val="FFFFFF"/>
                          </a:solidFill>
                          <a:latin typeface="Helvetica Neue"/>
                          <a:ea typeface="Helvetica Neue"/>
                          <a:cs typeface="Helvetica Neue"/>
                        </a:rPr>
                        <a:t>Published lead time</a:t>
                      </a:r>
                    </a:p>
                  </a:txBody>
                  <a:tcPr marL="91440" marR="91440" marT="45720" marB="45720">
                    <a:solidFill>
                      <a:srgbClr val="0077CD"/>
                    </a:solidFill>
                  </a:tcPr>
                </a:tc>
                <a:tc>
                  <a:txBody>
                    <a:bodyPr/>
                    <a:lstStyle/>
                    <a:p>
                      <a:r>
                        <a:rPr sz="1575" b="1">
                          <a:solidFill>
                            <a:srgbClr val="FFFFFF"/>
                          </a:solidFill>
                          <a:latin typeface="Helvetica Neue"/>
                          <a:ea typeface="Helvetica Neue"/>
                          <a:cs typeface="Helvetica Neue"/>
                        </a:rPr>
                        <a:t>Delivery consideration</a:t>
                      </a:r>
                    </a:p>
                  </a:txBody>
                  <a:tcPr marL="91440" marR="91440" marT="45720" marB="45720">
                    <a:solidFill>
                      <a:srgbClr val="0077CD"/>
                    </a:solidFill>
                  </a:tcPr>
                </a:tc>
              </a:tr>
              <a:tr h="433917">
                <a:tc>
                  <a:txBody>
                    <a:bodyPr/>
                    <a:lstStyle/>
                    <a:p>
                      <a:r>
                        <a:rPr sz="1575" b="0">
                          <a:solidFill>
                            <a:srgbClr val="333333"/>
                          </a:solidFill>
                          <a:latin typeface="Helvetica Neue"/>
                          <a:ea typeface="Helvetica Neue"/>
                          <a:cs typeface="Helvetica Neue"/>
                        </a:rPr>
                        <a:t>Cooling towers</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6–19 weeks</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Cooling configuration and installation window</a:t>
                      </a:r>
                    </a:p>
                  </a:txBody>
                  <a:tcPr marL="91440" marR="91440" marT="45720" marB="45720">
                    <a:solidFill>
                      <a:srgbClr val="FFFFFF"/>
                    </a:solidFill>
                  </a:tcPr>
                </a:tc>
              </a:tr>
              <a:tr h="433917">
                <a:tc>
                  <a:txBody>
                    <a:bodyPr/>
                    <a:lstStyle/>
                    <a:p>
                      <a:r>
                        <a:rPr sz="1575" b="0">
                          <a:solidFill>
                            <a:srgbClr val="333333"/>
                          </a:solidFill>
                          <a:latin typeface="Helvetica Neue"/>
                          <a:ea typeface="Helvetica Neue"/>
                          <a:cs typeface="Helvetica Neue"/>
                        </a:rPr>
                        <a:t>Air-cooled chillers</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3–49 weeks</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Duty, redundancy and manufacturer selection</a:t>
                      </a:r>
                    </a:p>
                  </a:txBody>
                  <a:tcPr marL="91440" marR="91440" marT="45720" marB="45720">
                    <a:solidFill>
                      <a:srgbClr val="F2F2F2"/>
                    </a:solidFill>
                  </a:tcPr>
                </a:tc>
              </a:tr>
              <a:tr h="433917">
                <a:tc>
                  <a:txBody>
                    <a:bodyPr/>
                    <a:lstStyle/>
                    <a:p>
                      <a:r>
                        <a:rPr sz="1575" b="0">
                          <a:solidFill>
                            <a:srgbClr val="333333"/>
                          </a:solidFill>
                          <a:latin typeface="Helvetica Neue"/>
                          <a:ea typeface="Helvetica Neue"/>
                          <a:cs typeface="Helvetica Neue"/>
                        </a:rPr>
                        <a:t>Water-cooled chillers</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12–60 weeks</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Cooling-system design and commissioning</a:t>
                      </a:r>
                    </a:p>
                  </a:txBody>
                  <a:tcPr marL="91440" marR="91440" marT="45720" marB="45720">
                    <a:solidFill>
                      <a:srgbClr val="FFFFFF"/>
                    </a:solidFill>
                  </a:tcPr>
                </a:tc>
              </a:tr>
              <a:tr h="433917">
                <a:tc>
                  <a:txBody>
                    <a:bodyPr/>
                    <a:lstStyle/>
                    <a:p>
                      <a:r>
                        <a:rPr sz="1575" b="0">
                          <a:solidFill>
                            <a:srgbClr val="333333"/>
                          </a:solidFill>
                          <a:latin typeface="Helvetica Neue"/>
                          <a:ea typeface="Helvetica Neue"/>
                          <a:cs typeface="Helvetica Neue"/>
                        </a:rPr>
                        <a:t>Air handling units</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8–78 weeks</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Custom specification and controls integration</a:t>
                      </a:r>
                    </a:p>
                  </a:txBody>
                  <a:tcPr marL="91440" marR="91440" marT="45720" marB="45720">
                    <a:solidFill>
                      <a:srgbClr val="F2F2F2"/>
                    </a:solidFill>
                  </a:tcPr>
                </a:tc>
              </a:tr>
              <a:tr h="433917">
                <a:tc>
                  <a:txBody>
                    <a:bodyPr/>
                    <a:lstStyle/>
                    <a:p>
                      <a:r>
                        <a:rPr sz="1575" b="0">
                          <a:solidFill>
                            <a:srgbClr val="333333"/>
                          </a:solidFill>
                          <a:latin typeface="Helvetica Neue"/>
                          <a:ea typeface="Helvetica Neue"/>
                          <a:cs typeface="Helvetica Neue"/>
                        </a:rPr>
                        <a:t>Generators</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28–66 weeks</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Rating, approvals and site installation</a:t>
                      </a:r>
                    </a:p>
                  </a:txBody>
                  <a:tcPr marL="91440" marR="91440" marT="45720" marB="45720">
                    <a:solidFill>
                      <a:srgbClr val="FFFFFF"/>
                    </a:solidFill>
                  </a:tcPr>
                </a:tc>
              </a:tr>
              <a:tr h="433917">
                <a:tc>
                  <a:txBody>
                    <a:bodyPr/>
                    <a:lstStyle/>
                    <a:p>
                      <a:r>
                        <a:rPr sz="1575" b="0">
                          <a:solidFill>
                            <a:srgbClr val="333333"/>
                          </a:solidFill>
                          <a:latin typeface="Helvetica Neue"/>
                          <a:ea typeface="Helvetica Neue"/>
                          <a:cs typeface="Helvetica Neue"/>
                        </a:rPr>
                        <a:t>Low-voltage switchgear</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26–58 weeks</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Electrical design and approved submittals</a:t>
                      </a:r>
                    </a:p>
                  </a:txBody>
                  <a:tcPr marL="91440" marR="91440" marT="45720" marB="45720">
                    <a:solidFill>
                      <a:srgbClr val="F2F2F2"/>
                    </a:solidFill>
                  </a:tcPr>
                </a:tc>
              </a:tr>
              <a:tr h="433917">
                <a:tc>
                  <a:txBody>
                    <a:bodyPr/>
                    <a:lstStyle/>
                    <a:p>
                      <a:r>
                        <a:rPr sz="1575" b="0">
                          <a:solidFill>
                            <a:srgbClr val="333333"/>
                          </a:solidFill>
                          <a:latin typeface="Helvetica Neue"/>
                          <a:ea typeface="Helvetica Neue"/>
                          <a:cs typeface="Helvetica Neue"/>
                        </a:rPr>
                        <a:t>Medium-voltage switchgear</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28–48 weeks</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Utility interface and technical specification</a:t>
                      </a:r>
                    </a:p>
                  </a:txBody>
                  <a:tcPr marL="91440" marR="91440" marT="45720" marB="45720">
                    <a:solidFill>
                      <a:srgbClr val="FFFFFF"/>
                    </a:solidFill>
                  </a:tcPr>
                </a:tc>
              </a:tr>
              <a:tr h="433917">
                <a:tc>
                  <a:txBody>
                    <a:bodyPr/>
                    <a:lstStyle/>
                    <a:p>
                      <a:r>
                        <a:rPr sz="1575" b="0">
                          <a:solidFill>
                            <a:srgbClr val="333333"/>
                          </a:solidFill>
                          <a:latin typeface="Helvetica Neue"/>
                          <a:ea typeface="Helvetica Neue"/>
                          <a:cs typeface="Helvetica Neue"/>
                        </a:rPr>
                        <a:t>UPS</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16–42 weeks</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Power architecture and testing requirements</a:t>
                      </a:r>
                    </a:p>
                  </a:txBody>
                  <a:tcPr marL="91440" marR="91440" marT="45720" marB="45720">
                    <a:solidFill>
                      <a:srgbClr val="F2F2F2"/>
                    </a:solidFill>
                  </a:tcPr>
                </a:tc>
              </a:tr>
            </a:tbl>
          </a:graphicData>
        </a:graphic>
      </p:graphicFrame>
    </p:spTree>
    <p:extLst>
      <p:ext uri="{BB962C8B-B14F-4D97-AF65-F5344CB8AC3E}">
        <p14:creationId xmlns:p14="http://schemas.microsoft.com/office/powerpoint/2010/main" val="179508659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A02BDB3-0424-47C0-8121-8EE8E6E191F6}"/>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Three decisions would turn the screen into a delivery response</a:t>
            </a:r>
          </a:p>
        </p:txBody>
      </p:sp>
      <p:sp>
        <p:nvSpPr>
          <p:cNvPr id="2" name="">
            <a:extLst xmlns:a="http://schemas.openxmlformats.org/drawingml/2006/main">
              <a:ext uri="{FF2B5EF4-FFF2-40B4-BE49-F238E27FC236}">
                <a16:creationId xmlns:a16="http://schemas.microsoft.com/office/drawing/2014/main" id="{AC311050-38BE-4726-8299-F13C649B7821}"/>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Proposed direction for the ADM, Infrastructure.</a:t>
            </a:r>
          </a:p>
        </p:txBody>
      </p:sp>
      <p:sp>
        <p:nvSpPr>
          <p:cNvPr id="3" name="">
            <a:extLst xmlns:a="http://schemas.openxmlformats.org/drawingml/2006/main">
              <a:ext uri="{FF2B5EF4-FFF2-40B4-BE49-F238E27FC236}">
                <a16:creationId xmlns:a16="http://schemas.microsoft.com/office/drawing/2014/main" id="{ECCD4F33-27D6-4DBA-9977-CFEB9758F3D2}"/>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Proposed responsibilities and deadlines, subject to ADM direction</a:t>
            </a:r>
          </a:p>
        </p:txBody>
      </p:sp>
      <p:sp>
        <p:nvSpPr>
          <p:cNvPr id="4" name="">
            <a:extLst xmlns:a="http://schemas.openxmlformats.org/drawingml/2006/main">
              <a:ext uri="{FF2B5EF4-FFF2-40B4-BE49-F238E27FC236}">
                <a16:creationId xmlns:a16="http://schemas.microsoft.com/office/drawing/2014/main" id="{B2D2431F-F26B-40C3-961C-9F54269C88EB}"/>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12</a:t>
            </a:r>
          </a:p>
        </p:txBody>
      </p:sp>
      <p:graphicFrame>
        <p:nvGraphicFramePr>
          <p:cNvPr id="11" name=""/>
          <p:cNvGraphicFramePr/>
          <p:nvPr/>
        </p:nvGraphicFramePr>
        <p:xfrm>
          <a:off xmlns:a="http://schemas.openxmlformats.org/drawingml/2006/main" x="609600" y="2143125"/>
          <a:ext xmlns:a="http://schemas.openxmlformats.org/drawingml/2006/main" cx="10972800" cy="3333750"/>
        </p:xfrm>
        <a:graphic xmlns:a="http://schemas.openxmlformats.org/drawingml/2006/main">
          <a:graphicData uri="http://schemas.openxmlformats.org/drawingml/2006/table">
            <a:tbl>
              <a:tblPr/>
              <a:tblGrid>
                <a:gridCol w="5143500"/>
                <a:gridCol w="2714625"/>
                <a:gridCol w="3114675"/>
              </a:tblGrid>
              <a:tr h="833438">
                <a:tc>
                  <a:txBody>
                    <a:bodyPr/>
                    <a:lstStyle/>
                    <a:p>
                      <a:r>
                        <a:rPr sz="1725" b="1">
                          <a:solidFill>
                            <a:srgbClr val="FFFFFF"/>
                          </a:solidFill>
                          <a:latin typeface="Helvetica Neue"/>
                          <a:ea typeface="Helvetica Neue"/>
                          <a:cs typeface="Helvetica Neue"/>
                        </a:rPr>
                        <a:t>Decision requested</a:t>
                      </a:r>
                    </a:p>
                  </a:txBody>
                  <a:tcPr marL="91440" marR="91440" marT="45720" marB="45720">
                    <a:solidFill>
                      <a:srgbClr val="0077CD"/>
                    </a:solidFill>
                  </a:tcPr>
                </a:tc>
                <a:tc>
                  <a:txBody>
                    <a:bodyPr/>
                    <a:lstStyle/>
                    <a:p>
                      <a:r>
                        <a:rPr sz="1725" b="1">
                          <a:solidFill>
                            <a:srgbClr val="FFFFFF"/>
                          </a:solidFill>
                          <a:latin typeface="Helvetica Neue"/>
                          <a:ea typeface="Helvetica Neue"/>
                          <a:cs typeface="Helvetica Neue"/>
                        </a:rPr>
                        <a:t>Accountable lead</a:t>
                      </a:r>
                    </a:p>
                  </a:txBody>
                  <a:tcPr marL="91440" marR="91440" marT="45720" marB="45720">
                    <a:solidFill>
                      <a:srgbClr val="0077CD"/>
                    </a:solidFill>
                  </a:tcPr>
                </a:tc>
                <a:tc>
                  <a:txBody>
                    <a:bodyPr/>
                    <a:lstStyle/>
                    <a:p>
                      <a:r>
                        <a:rPr sz="1725" b="1">
                          <a:solidFill>
                            <a:srgbClr val="FFFFFF"/>
                          </a:solidFill>
                          <a:latin typeface="Helvetica Neue"/>
                          <a:ea typeface="Helvetica Neue"/>
                          <a:cs typeface="Helvetica Neue"/>
                        </a:rPr>
                        <a:t>Return to the ADM</a:t>
                      </a:r>
                    </a:p>
                  </a:txBody>
                  <a:tcPr marL="91440" marR="91440" marT="45720" marB="45720">
                    <a:solidFill>
                      <a:srgbClr val="0077CD"/>
                    </a:solidFill>
                  </a:tcPr>
                </a:tc>
              </a:tr>
              <a:tr h="833438">
                <a:tc>
                  <a:txBody>
                    <a:bodyPr/>
                    <a:lstStyle/>
                    <a:p>
                      <a:r>
                        <a:rPr sz="1725" b="0">
                          <a:solidFill>
                            <a:srgbClr val="333333"/>
                          </a:solidFill>
                          <a:latin typeface="Helvetica Neue"/>
                          <a:ea typeface="Helvetica Neue"/>
                          <a:cs typeface="Helvetica Neue"/>
                        </a:rPr>
                        <a:t>Authorize a 30-day review of uncommitted capital packages</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Infrastructure capital planning</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Cost-weighted exposure and contingency recommendation</a:t>
                      </a:r>
                    </a:p>
                  </a:txBody>
                  <a:tcPr marL="91440" marR="91440" marT="45720" marB="45720">
                    <a:solidFill>
                      <a:srgbClr val="FFFFFF"/>
                    </a:solidFill>
                  </a:tcPr>
                </a:tc>
              </a:tr>
              <a:tr h="833438">
                <a:tc>
                  <a:txBody>
                    <a:bodyPr/>
                    <a:lstStyle/>
                    <a:p>
                      <a:r>
                        <a:rPr sz="1725" b="0">
                          <a:solidFill>
                            <a:srgbClr val="333333"/>
                          </a:solidFill>
                          <a:latin typeface="Helvetica Neue"/>
                          <a:ea typeface="Helvetica Neue"/>
                          <a:cs typeface="Helvetica Neue"/>
                        </a:rPr>
                        <a:t>Direct a 60-day switchgear and chiller procurement review</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Infrastructure project delivery / procurement</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Release dates, alternatives and early-order business cases</a:t>
                      </a:r>
                    </a:p>
                  </a:txBody>
                  <a:tcPr marL="91440" marR="91440" marT="45720" marB="45720">
                    <a:solidFill>
                      <a:srgbClr val="F2F2F2"/>
                    </a:solidFill>
                  </a:tcPr>
                </a:tc>
              </a:tr>
              <a:tr h="833438">
                <a:tc>
                  <a:txBody>
                    <a:bodyPr/>
                    <a:lstStyle/>
                    <a:p>
                      <a:r>
                        <a:rPr sz="1725" b="0">
                          <a:solidFill>
                            <a:srgbClr val="333333"/>
                          </a:solidFill>
                          <a:latin typeface="Helvetica Neue"/>
                          <a:ea typeface="Helvetica Neue"/>
                          <a:cs typeface="Helvetica Neue"/>
                        </a:rPr>
                        <a:t>Establish a power and workforce coordination table</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Infrastructure with T&amp;I, utilities and AESO</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Power-on dates and a regional workforce plan</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B5889C3-F023-4975-A80D-4098DB11215A}"/>
              </a:ext>
            </a:extLst>
          </p:cNvPr>
          <p:cNvSpPr>
            <a:spLocks xmlns:a="http://schemas.openxmlformats.org/drawingml/2006/main" noGrp="1"/>
          </p:cNvSpPr>
          <p:nvPr/>
        </p:nvSpPr>
        <p:spPr>
          <a:xfrm xmlns:a="http://schemas.openxmlformats.org/drawingml/2006/main">
            <a:off x="609600" y="5695950"/>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C4E"/>
                </a:solidFill>
                <a:latin typeface="Helvetica Neue"/>
                <a:ea typeface="Helvetica Neue"/>
                <a:cs typeface="Helvetica Neue"/>
              </a:defRPr>
            </a:pPr>
            <a:r>
              <a:rPr sz="1800" b="1">
                <a:solidFill>
                  <a:srgbClr val="002C4E"/>
                </a:solidFill>
                <a:latin typeface="Helvetica Neue"/>
                <a:ea typeface="Helvetica Neue"/>
                <a:cs typeface="Helvetica Neue"/>
              </a:rPr>
              <a:t>No blanket contingency uplift today. Bring back a scoped funding decision after the exposure review.</a:t>
            </a:r>
          </a:p>
        </p:txBody>
      </p:sp>
    </p:spTree>
    <p:extLst>
      <p:ext uri="{BB962C8B-B14F-4D97-AF65-F5344CB8AC3E}">
        <p14:creationId xmlns:p14="http://schemas.microsoft.com/office/powerpoint/2010/main" val="25857693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9147CAA-3738-4FAA-8C29-60B252202EF1}"/>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Method and interpretation</a:t>
            </a:r>
          </a:p>
        </p:txBody>
      </p:sp>
      <p:sp>
        <p:nvSpPr>
          <p:cNvPr id="2" name="">
            <a:extLst xmlns:a="http://schemas.openxmlformats.org/drawingml/2006/main">
              <a:ext uri="{FF2B5EF4-FFF2-40B4-BE49-F238E27FC236}">
                <a16:creationId xmlns:a16="http://schemas.microsoft.com/office/drawing/2014/main" id="{384CBC78-85BC-4E2A-9303-5FE6E90FFA39}"/>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One evidence base, with three distinct uses.</a:t>
            </a:r>
          </a:p>
        </p:txBody>
      </p:sp>
      <p:sp>
        <p:nvSpPr>
          <p:cNvPr id="3" name="">
            <a:extLst xmlns:a="http://schemas.openxmlformats.org/drawingml/2006/main">
              <a:ext uri="{FF2B5EF4-FFF2-40B4-BE49-F238E27FC236}">
                <a16:creationId xmlns:a16="http://schemas.microsoft.com/office/drawing/2014/main" id="{CD759F9A-0B4C-4821-BA57-8A258EA0029A}"/>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Detailed calculations and source references appear in the relevant slide notes.</a:t>
            </a:r>
          </a:p>
        </p:txBody>
      </p:sp>
      <p:sp>
        <p:nvSpPr>
          <p:cNvPr id="4" name="">
            <a:extLst xmlns:a="http://schemas.openxmlformats.org/drawingml/2006/main">
              <a:ext uri="{FF2B5EF4-FFF2-40B4-BE49-F238E27FC236}">
                <a16:creationId xmlns:a16="http://schemas.microsoft.com/office/drawing/2014/main" id="{49FA7529-8CC7-4B47-998F-1F8D7377928C}"/>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13</a:t>
            </a:r>
          </a:p>
        </p:txBody>
      </p:sp>
      <p:graphicFrame>
        <p:nvGraphicFramePr>
          <p:cNvPr id="10" name=""/>
          <p:cNvGraphicFramePr/>
          <p:nvPr/>
        </p:nvGraphicFramePr>
        <p:xfrm>
          <a:off xmlns:a="http://schemas.openxmlformats.org/drawingml/2006/main" x="609600" y="2095500"/>
          <a:ext xmlns:a="http://schemas.openxmlformats.org/drawingml/2006/main" cx="10972800" cy="3333750"/>
        </p:xfrm>
        <a:graphic xmlns:a="http://schemas.openxmlformats.org/drawingml/2006/main">
          <a:graphicData uri="http://schemas.openxmlformats.org/drawingml/2006/table">
            <a:tbl>
              <a:tblPr/>
              <a:tblGrid>
                <a:gridCol w="2571750"/>
                <a:gridCol w="4667250"/>
                <a:gridCol w="3733800"/>
              </a:tblGrid>
              <a:tr h="666750">
                <a:tc>
                  <a:txBody>
                    <a:bodyPr/>
                    <a:lstStyle/>
                    <a:p>
                      <a:r>
                        <a:rPr sz="1725" b="1">
                          <a:solidFill>
                            <a:srgbClr val="FFFFFF"/>
                          </a:solidFill>
                          <a:latin typeface="Helvetica Neue"/>
                          <a:ea typeface="Helvetica Neue"/>
                          <a:cs typeface="Helvetica Neue"/>
                        </a:rPr>
                        <a:t>Use</a:t>
                      </a:r>
                    </a:p>
                  </a:txBody>
                  <a:tcPr marL="91440" marR="91440" marT="45720" marB="45720">
                    <a:solidFill>
                      <a:srgbClr val="0077CD"/>
                    </a:solidFill>
                  </a:tcPr>
                </a:tc>
                <a:tc>
                  <a:txBody>
                    <a:bodyPr/>
                    <a:lstStyle/>
                    <a:p>
                      <a:r>
                        <a:rPr sz="1725" b="1">
                          <a:solidFill>
                            <a:srgbClr val="FFFFFF"/>
                          </a:solidFill>
                          <a:latin typeface="Helvetica Neue"/>
                          <a:ea typeface="Helvetica Neue"/>
                          <a:cs typeface="Helvetica Neue"/>
                        </a:rPr>
                        <a:t>Calculation / evidence</a:t>
                      </a:r>
                    </a:p>
                  </a:txBody>
                  <a:tcPr marL="91440" marR="91440" marT="45720" marB="45720">
                    <a:solidFill>
                      <a:srgbClr val="0077CD"/>
                    </a:solidFill>
                  </a:tcPr>
                </a:tc>
                <a:tc>
                  <a:txBody>
                    <a:bodyPr/>
                    <a:lstStyle/>
                    <a:p>
                      <a:r>
                        <a:rPr sz="1725" b="1">
                          <a:solidFill>
                            <a:srgbClr val="FFFFFF"/>
                          </a:solidFill>
                          <a:latin typeface="Helvetica Neue"/>
                          <a:ea typeface="Helvetica Neue"/>
                          <a:cs typeface="Helvetica Neue"/>
                        </a:rPr>
                        <a:t>Interpretation</a:t>
                      </a:r>
                    </a:p>
                  </a:txBody>
                  <a:tcPr marL="91440" marR="91440" marT="45720" marB="45720">
                    <a:solidFill>
                      <a:srgbClr val="0077CD"/>
                    </a:solidFill>
                  </a:tcPr>
                </a:tc>
              </a:tr>
              <a:tr h="666750">
                <a:tc>
                  <a:txBody>
                    <a:bodyPr/>
                    <a:lstStyle/>
                    <a:p>
                      <a:r>
                        <a:rPr sz="1725" b="0">
                          <a:solidFill>
                            <a:srgbClr val="333333"/>
                          </a:solidFill>
                          <a:latin typeface="Helvetica Neue"/>
                          <a:ea typeface="Helvetica Neue"/>
                          <a:cs typeface="Helvetica Neue"/>
                        </a:rPr>
                        <a:t>Observed landscape</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Dated project inventory, workforce stocks, price indexes, published lead times</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Records and source periods remain visible</a:t>
                      </a:r>
                    </a:p>
                  </a:txBody>
                  <a:tcPr marL="91440" marR="91440" marT="45720" marB="45720">
                    <a:solidFill>
                      <a:srgbClr val="FFFFFF"/>
                    </a:solidFill>
                  </a:tcPr>
                </a:tc>
              </a:tr>
              <a:tr h="666750">
                <a:tc>
                  <a:txBody>
                    <a:bodyPr/>
                    <a:lstStyle/>
                    <a:p>
                      <a:r>
                        <a:rPr sz="1725" b="0">
                          <a:solidFill>
                            <a:srgbClr val="333333"/>
                          </a:solidFill>
                          <a:latin typeface="Helvetica Neue"/>
                          <a:ea typeface="Helvetica Neue"/>
                          <a:cs typeface="Helvetica Neue"/>
                        </a:rPr>
                        <a:t>Labour demand model</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Project trade hours × monthly work-profile weights ÷ annual paid hours</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Schedule-resolved conditional model; low / central / high intensity</a:t>
                      </a:r>
                    </a:p>
                  </a:txBody>
                  <a:tcPr marL="91440" marR="91440" marT="45720" marB="45720">
                    <a:solidFill>
                      <a:srgbClr val="F2F2F2"/>
                    </a:solidFill>
                  </a:tcPr>
                </a:tc>
              </a:tr>
              <a:tr h="666750">
                <a:tc>
                  <a:txBody>
                    <a:bodyPr/>
                    <a:lstStyle/>
                    <a:p>
                      <a:r>
                        <a:rPr sz="1725" b="0">
                          <a:solidFill>
                            <a:srgbClr val="333333"/>
                          </a:solidFill>
                          <a:latin typeface="Helvetica Neue"/>
                          <a:ea typeface="Helvetica Neue"/>
                          <a:cs typeface="Helvetica Neue"/>
                        </a:rPr>
                        <a:t>Budget sensitivity</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Capital plan × exposed share × price movement</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Budget stress; no causal AI premium</a:t>
                      </a:r>
                    </a:p>
                  </a:txBody>
                  <a:tcPr marL="91440" marR="91440" marT="45720" marB="45720">
                    <a:solidFill>
                      <a:srgbClr val="FFFFFF"/>
                    </a:solidFill>
                  </a:tcPr>
                </a:tc>
              </a:tr>
              <a:tr h="666750">
                <a:tc>
                  <a:txBody>
                    <a:bodyPr/>
                    <a:lstStyle/>
                    <a:p>
                      <a:r>
                        <a:rPr sz="1725" b="0">
                          <a:solidFill>
                            <a:srgbClr val="333333"/>
                          </a:solidFill>
                          <a:latin typeface="Helvetica Neue"/>
                          <a:ea typeface="Helvetica Neue"/>
                          <a:cs typeface="Helvetica Neue"/>
                        </a:rPr>
                        <a:t>Project and power exposure</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Named Infrastructure developer, reported schedules, AESO process evidence</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Screen for confirmation; no inferred critical-path delay</a:t>
                      </a:r>
                    </a:p>
                  </a:txBody>
                  <a:tcPr marL="91440" marR="91440" marT="45720" marB="45720">
                    <a:solidFill>
                      <a:srgbClr val="F2F2F2"/>
                    </a:solidFill>
                  </a:tcPr>
                </a:tc>
              </a:tr>
            </a:tbl>
          </a:graphicData>
        </a:graphic>
      </p:graphicFrame>
    </p:spTree>
    <p:extLst>
      <p:ext uri="{BB962C8B-B14F-4D97-AF65-F5344CB8AC3E}">
        <p14:creationId xmlns:p14="http://schemas.microsoft.com/office/powerpoint/2010/main" val="125141897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9CD6BBA-50F3-4122-9959-9A0E30BE3C1C}"/>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Project model schedule register 1</a:t>
            </a:r>
          </a:p>
        </p:txBody>
      </p:sp>
      <p:sp>
        <p:nvSpPr>
          <p:cNvPr id="2" name="">
            <a:extLst xmlns:a="http://schemas.openxmlformats.org/drawingml/2006/main">
              <a:ext uri="{FF2B5EF4-FFF2-40B4-BE49-F238E27FC236}">
                <a16:creationId xmlns:a16="http://schemas.microsoft.com/office/drawing/2014/main" id="{7DD6DD7B-0AF4-4B66-92A3-BFCD321CEC26}"/>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Reported fields remain unchanged. The model retains a separate schedule basis.</a:t>
            </a:r>
          </a:p>
        </p:txBody>
      </p:sp>
      <p:sp>
        <p:nvSpPr>
          <p:cNvPr id="3" name="">
            <a:extLst xmlns:a="http://schemas.openxmlformats.org/drawingml/2006/main">
              <a:ext uri="{FF2B5EF4-FFF2-40B4-BE49-F238E27FC236}">
                <a16:creationId xmlns:a16="http://schemas.microsoft.com/office/drawing/2014/main" id="{E3A0DBEB-9FC9-4B75-AA89-78DFFF809DC4}"/>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Model-assigned dates are planning inputs and do not establish developer commitments.</a:t>
            </a:r>
          </a:p>
        </p:txBody>
      </p:sp>
      <p:sp>
        <p:nvSpPr>
          <p:cNvPr id="4" name="">
            <a:extLst xmlns:a="http://schemas.openxmlformats.org/drawingml/2006/main">
              <a:ext uri="{FF2B5EF4-FFF2-40B4-BE49-F238E27FC236}">
                <a16:creationId xmlns:a16="http://schemas.microsoft.com/office/drawing/2014/main" id="{7428153B-FE8A-410B-840A-5A4D53659245}"/>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14</a:t>
            </a:r>
          </a:p>
        </p:txBody>
      </p:sp>
      <p:graphicFrame>
        <p:nvGraphicFramePr>
          <p:cNvPr id="10" name=""/>
          <p:cNvGraphicFramePr/>
          <p:nvPr/>
        </p:nvGraphicFramePr>
        <p:xfrm>
          <a:off xmlns:a="http://schemas.openxmlformats.org/drawingml/2006/main" x="609600" y="2000250"/>
          <a:ext xmlns:a="http://schemas.openxmlformats.org/drawingml/2006/main" cx="10972800" cy="4000500"/>
        </p:xfrm>
        <a:graphic xmlns:a="http://schemas.openxmlformats.org/drawingml/2006/main">
          <a:graphicData uri="http://schemas.openxmlformats.org/drawingml/2006/table">
            <a:tbl>
              <a:tblPr/>
              <a:tblGrid>
                <a:gridCol w="4762500"/>
                <a:gridCol w="2333625"/>
                <a:gridCol w="3876675"/>
              </a:tblGrid>
              <a:tr h="666750">
                <a:tc>
                  <a:txBody>
                    <a:bodyPr/>
                    <a:lstStyle/>
                    <a:p>
                      <a:r>
                        <a:rPr sz="1500" b="1">
                          <a:solidFill>
                            <a:srgbClr val="FFFFFF"/>
                          </a:solidFill>
                          <a:latin typeface="Helvetica Neue"/>
                          <a:ea typeface="Helvetica Neue"/>
                          <a:cs typeface="Helvetica Neue"/>
                        </a:rPr>
                        <a:t>Costed phase</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Model start / finish</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Schedule basis</a:t>
                      </a:r>
                    </a:p>
                  </a:txBody>
                  <a:tcPr marL="91440" marR="91440" marT="45720" marB="45720">
                    <a:solidFill>
                      <a:srgbClr val="0077CD"/>
                    </a:solidFill>
                  </a:tcPr>
                </a:tc>
              </a:tr>
              <a:tr h="666750">
                <a:tc>
                  <a:txBody>
                    <a:bodyPr/>
                    <a:lstStyle/>
                    <a:p>
                      <a:r>
                        <a:rPr sz="1500" b="0">
                          <a:solidFill>
                            <a:srgbClr val="333333"/>
                          </a:solidFill>
                          <a:latin typeface="Helvetica Neue"/>
                          <a:ea typeface="Helvetica Neue"/>
                          <a:cs typeface="Helvetica Neue"/>
                        </a:rPr>
                        <a:t>eStruxture CAL-3 Data Centre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2024-01 / 2026-12</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Reported start/end years; January/December conventions</a:t>
                      </a:r>
                    </a:p>
                  </a:txBody>
                  <a:tcPr marL="91440" marR="91440" marT="45720" marB="45720">
                    <a:solidFill>
                      <a:srgbClr val="FFFFFF"/>
                    </a:solidFill>
                  </a:tcPr>
                </a:tc>
              </a:tr>
              <a:tr h="666750">
                <a:tc>
                  <a:txBody>
                    <a:bodyPr/>
                    <a:lstStyle/>
                    <a:p>
                      <a:r>
                        <a:rPr sz="1500" b="0">
                          <a:solidFill>
                            <a:srgbClr val="333333"/>
                          </a:solidFill>
                          <a:latin typeface="Helvetica Neue"/>
                          <a:ea typeface="Helvetica Neue"/>
                          <a:cs typeface="Helvetica Neue"/>
                        </a:rPr>
                        <a:t>Wonder Valley AI Data Centre Park (Phase 1)</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2028-03 / 2031-02</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Model-assigned start: as-of + 18 months; 36-month duration</a:t>
                      </a:r>
                    </a:p>
                  </a:txBody>
                  <a:tcPr marL="91440" marR="91440" marT="45720" marB="45720">
                    <a:solidFill>
                      <a:srgbClr val="F2F2F2"/>
                    </a:solidFill>
                  </a:tcPr>
                </a:tc>
              </a:tr>
              <a:tr h="666750">
                <a:tc>
                  <a:txBody>
                    <a:bodyPr/>
                    <a:lstStyle/>
                    <a:p>
                      <a:r>
                        <a:rPr sz="1500" b="0">
                          <a:solidFill>
                            <a:srgbClr val="333333"/>
                          </a:solidFill>
                          <a:latin typeface="Helvetica Neue"/>
                          <a:ea typeface="Helvetica Neue"/>
                          <a:cs typeface="Helvetica Neue"/>
                        </a:rPr>
                        <a:t>Beacon Foothills AI Data Centre Hub</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2028-03 / 2031-02</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Model-assigned start: as-of + 18 months; 36-month duration</a:t>
                      </a:r>
                    </a:p>
                  </a:txBody>
                  <a:tcPr marL="91440" marR="91440" marT="45720" marB="45720">
                    <a:solidFill>
                      <a:srgbClr val="FFFFFF"/>
                    </a:solidFill>
                  </a:tcPr>
                </a:tc>
              </a:tr>
              <a:tr h="666750">
                <a:tc>
                  <a:txBody>
                    <a:bodyPr/>
                    <a:lstStyle/>
                    <a:p>
                      <a:r>
                        <a:rPr sz="1500" b="0">
                          <a:solidFill>
                            <a:srgbClr val="333333"/>
                          </a:solidFill>
                          <a:latin typeface="Helvetica Neue"/>
                          <a:ea typeface="Helvetica Neue"/>
                          <a:cs typeface="Helvetica Neue"/>
                        </a:rPr>
                        <a:t>Crusoe AI Data Centres Alberta</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2028-03 / 2031-02</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Model-assigned start: as-of + 18 months; 36-month duration</a:t>
                      </a:r>
                    </a:p>
                  </a:txBody>
                  <a:tcPr marL="91440" marR="91440" marT="45720" marB="45720">
                    <a:solidFill>
                      <a:srgbClr val="F2F2F2"/>
                    </a:solidFill>
                  </a:tcPr>
                </a:tc>
              </a:tr>
              <a:tr h="666750">
                <a:tc>
                  <a:txBody>
                    <a:bodyPr/>
                    <a:lstStyle/>
                    <a:p>
                      <a:r>
                        <a:rPr sz="1500" b="0">
                          <a:solidFill>
                            <a:srgbClr val="333333"/>
                          </a:solidFill>
                          <a:latin typeface="Helvetica Neue"/>
                          <a:ea typeface="Helvetica Neue"/>
                          <a:cs typeface="Helvetica Neue"/>
                        </a:rPr>
                        <a:t>Technologies New Energy &amp; Data District Data Centres (Phase 1)</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2026-09 / 2029-08</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Reported start year; model-inferred end from 36-month duration; past proposed start shifted to as-of month</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94494053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E86CEF-887B-4FE2-9F95-19DB8489AD24}"/>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Project model schedule register 2</a:t>
            </a:r>
          </a:p>
        </p:txBody>
      </p:sp>
      <p:sp>
        <p:nvSpPr>
          <p:cNvPr id="2" name="">
            <a:extLst xmlns:a="http://schemas.openxmlformats.org/drawingml/2006/main">
              <a:ext uri="{FF2B5EF4-FFF2-40B4-BE49-F238E27FC236}">
                <a16:creationId xmlns:a16="http://schemas.microsoft.com/office/drawing/2014/main" id="{5746735E-46FC-4C37-8B44-69B435573AE7}"/>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Reported fields remain unchanged. The model retains a separate schedule basis.</a:t>
            </a:r>
          </a:p>
        </p:txBody>
      </p:sp>
      <p:sp>
        <p:nvSpPr>
          <p:cNvPr id="3" name="">
            <a:extLst xmlns:a="http://schemas.openxmlformats.org/drawingml/2006/main">
              <a:ext uri="{FF2B5EF4-FFF2-40B4-BE49-F238E27FC236}">
                <a16:creationId xmlns:a16="http://schemas.microsoft.com/office/drawing/2014/main" id="{39B963E5-F99D-4B7B-9556-3503C7DBF43A}"/>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Model-assigned dates are planning inputs and do not establish developer commitments.</a:t>
            </a:r>
          </a:p>
        </p:txBody>
      </p:sp>
      <p:sp>
        <p:nvSpPr>
          <p:cNvPr id="4" name="">
            <a:extLst xmlns:a="http://schemas.openxmlformats.org/drawingml/2006/main">
              <a:ext uri="{FF2B5EF4-FFF2-40B4-BE49-F238E27FC236}">
                <a16:creationId xmlns:a16="http://schemas.microsoft.com/office/drawing/2014/main" id="{3DB70749-D5D5-429B-802B-BBE6911F5457}"/>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15</a:t>
            </a:r>
          </a:p>
        </p:txBody>
      </p:sp>
      <p:graphicFrame>
        <p:nvGraphicFramePr>
          <p:cNvPr id="10" name=""/>
          <p:cNvGraphicFramePr/>
          <p:nvPr/>
        </p:nvGraphicFramePr>
        <p:xfrm>
          <a:off xmlns:a="http://schemas.openxmlformats.org/drawingml/2006/main" x="609600" y="2000250"/>
          <a:ext xmlns:a="http://schemas.openxmlformats.org/drawingml/2006/main" cx="10972800" cy="2000250"/>
        </p:xfrm>
        <a:graphic xmlns:a="http://schemas.openxmlformats.org/drawingml/2006/main">
          <a:graphicData uri="http://schemas.openxmlformats.org/drawingml/2006/table">
            <a:tbl>
              <a:tblPr/>
              <a:tblGrid>
                <a:gridCol w="4762500"/>
                <a:gridCol w="2333625"/>
                <a:gridCol w="3876675"/>
              </a:tblGrid>
              <a:tr h="666750">
                <a:tc>
                  <a:txBody>
                    <a:bodyPr/>
                    <a:lstStyle/>
                    <a:p>
                      <a:r>
                        <a:rPr sz="1500" b="1">
                          <a:solidFill>
                            <a:srgbClr val="FFFFFF"/>
                          </a:solidFill>
                          <a:latin typeface="Helvetica Neue"/>
                          <a:ea typeface="Helvetica Neue"/>
                          <a:cs typeface="Helvetica Neue"/>
                        </a:rPr>
                        <a:t>Costed phase</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Model start / finish</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Schedule basis</a:t>
                      </a:r>
                    </a:p>
                  </a:txBody>
                  <a:tcPr marL="91440" marR="91440" marT="45720" marB="45720">
                    <a:solidFill>
                      <a:srgbClr val="0077CD"/>
                    </a:solidFill>
                  </a:tcPr>
                </a:tc>
              </a:tr>
              <a:tr h="666750">
                <a:tc>
                  <a:txBody>
                    <a:bodyPr/>
                    <a:lstStyle/>
                    <a:p>
                      <a:r>
                        <a:rPr sz="1500" b="0">
                          <a:solidFill>
                            <a:srgbClr val="333333"/>
                          </a:solidFill>
                          <a:latin typeface="Helvetica Neue"/>
                          <a:ea typeface="Helvetica Neue"/>
                          <a:cs typeface="Helvetica Neue"/>
                        </a:rPr>
                        <a:t>Meta Data Centre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2028-03 / 2031-02</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Model-assigned start: as-of + 18 months; 36-month duration</a:t>
                      </a:r>
                    </a:p>
                  </a:txBody>
                  <a:tcPr marL="91440" marR="91440" marT="45720" marB="45720">
                    <a:solidFill>
                      <a:srgbClr val="FFFFFF"/>
                    </a:solidFill>
                  </a:tcPr>
                </a:tc>
              </a:tr>
              <a:tr h="666750">
                <a:tc>
                  <a:txBody>
                    <a:bodyPr/>
                    <a:lstStyle/>
                    <a:p>
                      <a:r>
                        <a:rPr sz="1500" b="0">
                          <a:solidFill>
                            <a:srgbClr val="333333"/>
                          </a:solidFill>
                          <a:latin typeface="Helvetica Neue"/>
                          <a:ea typeface="Helvetica Neue"/>
                          <a:cs typeface="Helvetica Neue"/>
                        </a:rPr>
                        <a:t>Malachite One Data Centre</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2027-01 / 2030-12</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Reported start/end years; January/December conventions</a:t>
                      </a:r>
                    </a:p>
                  </a:txBody>
                  <a:tcPr marL="91440" marR="91440" marT="45720" marB="45720">
                    <a:solidFill>
                      <a:srgbClr val="F2F2F2"/>
                    </a:solidFill>
                  </a:tcPr>
                </a:tc>
              </a:tr>
            </a:tbl>
          </a:graphicData>
        </a:graphic>
      </p:graphicFrame>
    </p:spTree>
    <p:extLst>
      <p:ext uri="{BB962C8B-B14F-4D97-AF65-F5344CB8AC3E}">
        <p14:creationId xmlns:p14="http://schemas.microsoft.com/office/powerpoint/2010/main" val="38757729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C1A4315-B966-49BE-BEAE-4057D3B9B76A}"/>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Infrastructure exposure register 1</a:t>
            </a:r>
          </a:p>
        </p:txBody>
      </p:sp>
      <p:sp>
        <p:nvSpPr>
          <p:cNvPr id="2" name="">
            <a:extLst xmlns:a="http://schemas.openxmlformats.org/drawingml/2006/main">
              <a:ext uri="{FF2B5EF4-FFF2-40B4-BE49-F238E27FC236}">
                <a16:creationId xmlns:a16="http://schemas.microsoft.com/office/drawing/2014/main" id="{AC10D620-5065-40CB-A4C2-7896C558ED8F}"/>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Developer: Alberta Infrastructure. Known schedule overlap with 2027–2036.</a:t>
            </a:r>
          </a:p>
        </p:txBody>
      </p:sp>
      <p:sp>
        <p:nvSpPr>
          <p:cNvPr id="3" name="">
            <a:extLst xmlns:a="http://schemas.openxmlformats.org/drawingml/2006/main">
              <a:ext uri="{FF2B5EF4-FFF2-40B4-BE49-F238E27FC236}">
                <a16:creationId xmlns:a16="http://schemas.microsoft.com/office/drawing/2014/main" id="{923D5986-5D1A-40FD-BB93-116BAA5DC37F}"/>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Package phase and legal ownership unverified. Electrical, cooling and commissioning are screening intersections.</a:t>
            </a:r>
          </a:p>
        </p:txBody>
      </p:sp>
      <p:sp>
        <p:nvSpPr>
          <p:cNvPr id="4" name="">
            <a:extLst xmlns:a="http://schemas.openxmlformats.org/drawingml/2006/main">
              <a:ext uri="{FF2B5EF4-FFF2-40B4-BE49-F238E27FC236}">
                <a16:creationId xmlns:a16="http://schemas.microsoft.com/office/drawing/2014/main" id="{6784CEA8-2822-4F48-8990-35ECF346765A}"/>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16</a:t>
            </a:r>
          </a:p>
        </p:txBody>
      </p:sp>
      <p:graphicFrame>
        <p:nvGraphicFramePr>
          <p:cNvPr id="10" name=""/>
          <p:cNvGraphicFramePr/>
          <p:nvPr/>
        </p:nvGraphicFramePr>
        <p:xfrm>
          <a:off xmlns:a="http://schemas.openxmlformats.org/drawingml/2006/main" x="609600" y="2000250"/>
          <a:ext xmlns:a="http://schemas.openxmlformats.org/drawingml/2006/main" cx="10972800" cy="3867150"/>
        </p:xfrm>
        <a:graphic xmlns:a="http://schemas.openxmlformats.org/drawingml/2006/main">
          <a:graphicData uri="http://schemas.openxmlformats.org/drawingml/2006/table">
            <a:tbl>
              <a:tblPr/>
              <a:tblGrid>
                <a:gridCol w="6191250"/>
                <a:gridCol w="2143125"/>
                <a:gridCol w="2638425"/>
              </a:tblGrid>
              <a:tr h="552450">
                <a:tc>
                  <a:txBody>
                    <a:bodyPr/>
                    <a:lstStyle/>
                    <a:p>
                      <a:r>
                        <a:rPr sz="1500" b="1">
                          <a:solidFill>
                            <a:srgbClr val="FFFFFF"/>
                          </a:solidFill>
                          <a:latin typeface="Helvetica Neue"/>
                          <a:ea typeface="Helvetica Neue"/>
                          <a:cs typeface="Helvetica Neue"/>
                        </a:rPr>
                        <a:t>Project</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Municipality</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Stage / years</a:t>
                      </a:r>
                    </a:p>
                  </a:txBody>
                  <a:tcPr marL="91440" marR="91440" marT="45720" marB="45720">
                    <a:solidFill>
                      <a:srgbClr val="0077CD"/>
                    </a:solidFill>
                  </a:tcPr>
                </a:tc>
              </a:tr>
              <a:tr h="552450">
                <a:tc>
                  <a:txBody>
                    <a:bodyPr/>
                    <a:lstStyle/>
                    <a:p>
                      <a:r>
                        <a:rPr sz="1500" b="0">
                          <a:solidFill>
                            <a:srgbClr val="333333"/>
                          </a:solidFill>
                          <a:latin typeface="Helvetica Neue"/>
                          <a:ea typeface="Helvetica Neue"/>
                          <a:cs typeface="Helvetica Neue"/>
                        </a:rPr>
                        <a:t>Alberta Surgical Initiative (02 - Calgary)</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Calgary</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2024–2029</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Alberta Surgical Initiative (06 - Royal Alexandra Hospital)</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Edmonton</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Proposed</a:t>
                      </a:r>
                    </a:p>
                    <a:p>
                      <a:r>
                        <a:rPr sz="1500" b="0">
                          <a:solidFill>
                            <a:srgbClr val="333333"/>
                          </a:solidFill>
                          <a:latin typeface="Helvetica Neue"/>
                          <a:ea typeface="Helvetica Neue"/>
                          <a:cs typeface="Helvetica Neue"/>
                        </a:rPr>
                        <a:t>2027–2028</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Alberta Surgical Initiative (07 - Sturgeon Community Hospital)</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St. Albert</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p>
                      <a:r>
                        <a:rPr sz="1500" b="0">
                          <a:solidFill>
                            <a:srgbClr val="333333"/>
                          </a:solidFill>
                          <a:latin typeface="Helvetica Neue"/>
                          <a:ea typeface="Helvetica Neue"/>
                          <a:cs typeface="Helvetica Neue"/>
                        </a:rPr>
                        <a:t>2027–2028</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Alberta Surgical Initiative (13 - Ponoka Hospital and Care Centre)</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Ponoka</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2025–2028</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Alberta Surgical Initiative (14 - Fort Saskatchewan)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Fort Saskatchewan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p>
                      <a:r>
                        <a:rPr sz="1500" b="0">
                          <a:solidFill>
                            <a:srgbClr val="333333"/>
                          </a:solidFill>
                          <a:latin typeface="Helvetica Neue"/>
                          <a:ea typeface="Helvetica Neue"/>
                          <a:cs typeface="Helvetica Neue"/>
                        </a:rPr>
                        <a:t>2026–2028</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Alberta Surgical Initiative (15 - Alberta Children's Hospital)</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Calgary</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2026–2027</a:t>
                      </a:r>
                    </a:p>
                  </a:txBody>
                  <a:tcPr marL="91440" marR="91440" marT="45720" marB="45720">
                    <a:solidFill>
                      <a:srgbClr val="F2F2F2"/>
                    </a:solidFill>
                  </a:tcPr>
                </a:tc>
              </a:tr>
            </a:tbl>
          </a:graphicData>
        </a:graphic>
      </p:graphicFrame>
    </p:spTree>
    <p:extLst>
      <p:ext uri="{BB962C8B-B14F-4D97-AF65-F5344CB8AC3E}">
        <p14:creationId xmlns:p14="http://schemas.microsoft.com/office/powerpoint/2010/main" val="178765319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8E3B4B1-DDD8-411F-86DE-71DAB7FDEAAA}"/>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Infrastructure exposure register 2</a:t>
            </a:r>
          </a:p>
        </p:txBody>
      </p:sp>
      <p:sp>
        <p:nvSpPr>
          <p:cNvPr id="2" name="">
            <a:extLst xmlns:a="http://schemas.openxmlformats.org/drawingml/2006/main">
              <a:ext uri="{FF2B5EF4-FFF2-40B4-BE49-F238E27FC236}">
                <a16:creationId xmlns:a16="http://schemas.microsoft.com/office/drawing/2014/main" id="{B135369F-6CF8-43B5-BEDB-9638CA07BB0E}"/>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Developer: Alberta Infrastructure. Known schedule overlap with 2027–2036.</a:t>
            </a:r>
          </a:p>
        </p:txBody>
      </p:sp>
      <p:sp>
        <p:nvSpPr>
          <p:cNvPr id="3" name="">
            <a:extLst xmlns:a="http://schemas.openxmlformats.org/drawingml/2006/main">
              <a:ext uri="{FF2B5EF4-FFF2-40B4-BE49-F238E27FC236}">
                <a16:creationId xmlns:a16="http://schemas.microsoft.com/office/drawing/2014/main" id="{403D3CA6-BA4C-4131-A08E-620EF673FC14}"/>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Package phase and legal ownership unverified. Electrical, cooling and commissioning are screening intersections.</a:t>
            </a:r>
          </a:p>
        </p:txBody>
      </p:sp>
      <p:sp>
        <p:nvSpPr>
          <p:cNvPr id="4" name="">
            <a:extLst xmlns:a="http://schemas.openxmlformats.org/drawingml/2006/main">
              <a:ext uri="{FF2B5EF4-FFF2-40B4-BE49-F238E27FC236}">
                <a16:creationId xmlns:a16="http://schemas.microsoft.com/office/drawing/2014/main" id="{A640EAE4-8221-4442-A850-DAA8965541AB}"/>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17</a:t>
            </a:r>
          </a:p>
        </p:txBody>
      </p:sp>
      <p:graphicFrame>
        <p:nvGraphicFramePr>
          <p:cNvPr id="10" name=""/>
          <p:cNvGraphicFramePr/>
          <p:nvPr/>
        </p:nvGraphicFramePr>
        <p:xfrm>
          <a:off xmlns:a="http://schemas.openxmlformats.org/drawingml/2006/main" x="609600" y="2000250"/>
          <a:ext xmlns:a="http://schemas.openxmlformats.org/drawingml/2006/main" cx="10972800" cy="3867150"/>
        </p:xfrm>
        <a:graphic xmlns:a="http://schemas.openxmlformats.org/drawingml/2006/main">
          <a:graphicData uri="http://schemas.openxmlformats.org/drawingml/2006/table">
            <a:tbl>
              <a:tblPr/>
              <a:tblGrid>
                <a:gridCol w="6191250"/>
                <a:gridCol w="2143125"/>
                <a:gridCol w="2638425"/>
              </a:tblGrid>
              <a:tr h="552450">
                <a:tc>
                  <a:txBody>
                    <a:bodyPr/>
                    <a:lstStyle/>
                    <a:p>
                      <a:r>
                        <a:rPr sz="1500" b="1">
                          <a:solidFill>
                            <a:srgbClr val="FFFFFF"/>
                          </a:solidFill>
                          <a:latin typeface="Helvetica Neue"/>
                          <a:ea typeface="Helvetica Neue"/>
                          <a:cs typeface="Helvetica Neue"/>
                        </a:rPr>
                        <a:t>Project</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Municipality</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Stage / years</a:t>
                      </a:r>
                    </a:p>
                  </a:txBody>
                  <a:tcPr marL="91440" marR="91440" marT="45720" marB="45720">
                    <a:solidFill>
                      <a:srgbClr val="0077CD"/>
                    </a:solidFill>
                  </a:tcPr>
                </a:tc>
              </a:tr>
              <a:tr h="552450">
                <a:tc>
                  <a:txBody>
                    <a:bodyPr/>
                    <a:lstStyle/>
                    <a:p>
                      <a:r>
                        <a:rPr sz="1500" b="0">
                          <a:solidFill>
                            <a:srgbClr val="333333"/>
                          </a:solidFill>
                          <a:latin typeface="Helvetica Neue"/>
                          <a:ea typeface="Helvetica Neue"/>
                          <a:cs typeface="Helvetica Neue"/>
                        </a:rPr>
                        <a:t>Alberta Surgical Initiative (16 - Grey Nuns Hospital)</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Edmonton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p>
                      <a:r>
                        <a:rPr sz="1500" b="0">
                          <a:solidFill>
                            <a:srgbClr val="333333"/>
                          </a:solidFill>
                          <a:latin typeface="Helvetica Neue"/>
                          <a:ea typeface="Helvetica Neue"/>
                          <a:cs typeface="Helvetica Neue"/>
                        </a:rPr>
                        <a:t>2026–2028</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Calgary Complex Needs Residential Facility</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Calgary</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Calgary Radiopharmaceutical Centre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Calgary</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Foothills Medical Centre Power Plant Upgrade Cogeneration Initiative</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Calgary</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2021–2027</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La Crete Maternity and Community Health Centre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Mackenzie County</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2025–2028</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Medical Device Reprocessing (MDR) Upgrades Program - Phase 1 (4 - Northern Lights)</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Wood Buffalo</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2F2F2"/>
                    </a:solidFill>
                  </a:tcPr>
                </a:tc>
              </a:tr>
            </a:tbl>
          </a:graphicData>
        </a:graphic>
      </p:graphicFrame>
    </p:spTree>
    <p:extLst>
      <p:ext uri="{BB962C8B-B14F-4D97-AF65-F5344CB8AC3E}">
        <p14:creationId xmlns:p14="http://schemas.microsoft.com/office/powerpoint/2010/main" val="88618748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138CE97-9F34-4574-985A-E1ACBA38E9CA}"/>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Infrastructure exposure register 3</a:t>
            </a:r>
          </a:p>
        </p:txBody>
      </p:sp>
      <p:sp>
        <p:nvSpPr>
          <p:cNvPr id="2" name="">
            <a:extLst xmlns:a="http://schemas.openxmlformats.org/drawingml/2006/main">
              <a:ext uri="{FF2B5EF4-FFF2-40B4-BE49-F238E27FC236}">
                <a16:creationId xmlns:a16="http://schemas.microsoft.com/office/drawing/2014/main" id="{74169D35-F87C-4189-B738-ED7C61370574}"/>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Developer: Alberta Infrastructure. Known schedule overlap with 2027–2036.</a:t>
            </a:r>
          </a:p>
        </p:txBody>
      </p:sp>
      <p:sp>
        <p:nvSpPr>
          <p:cNvPr id="3" name="">
            <a:extLst xmlns:a="http://schemas.openxmlformats.org/drawingml/2006/main">
              <a:ext uri="{FF2B5EF4-FFF2-40B4-BE49-F238E27FC236}">
                <a16:creationId xmlns:a16="http://schemas.microsoft.com/office/drawing/2014/main" id="{26F6E362-5923-4ADC-A95B-32FA343E02BC}"/>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Package phase and legal ownership unverified. Electrical, cooling and commissioning are screening intersections.</a:t>
            </a:r>
          </a:p>
        </p:txBody>
      </p:sp>
      <p:sp>
        <p:nvSpPr>
          <p:cNvPr id="4" name="">
            <a:extLst xmlns:a="http://schemas.openxmlformats.org/drawingml/2006/main">
              <a:ext uri="{FF2B5EF4-FFF2-40B4-BE49-F238E27FC236}">
                <a16:creationId xmlns:a16="http://schemas.microsoft.com/office/drawing/2014/main" id="{B8AB8043-D666-4E4A-A3DE-4A7EAF919C67}"/>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18</a:t>
            </a:r>
          </a:p>
        </p:txBody>
      </p:sp>
      <p:graphicFrame>
        <p:nvGraphicFramePr>
          <p:cNvPr id="10" name=""/>
          <p:cNvGraphicFramePr/>
          <p:nvPr/>
        </p:nvGraphicFramePr>
        <p:xfrm>
          <a:off xmlns:a="http://schemas.openxmlformats.org/drawingml/2006/main" x="609600" y="2000250"/>
          <a:ext xmlns:a="http://schemas.openxmlformats.org/drawingml/2006/main" cx="10972800" cy="3867150"/>
        </p:xfrm>
        <a:graphic xmlns:a="http://schemas.openxmlformats.org/drawingml/2006/main">
          <a:graphicData uri="http://schemas.openxmlformats.org/drawingml/2006/table">
            <a:tbl>
              <a:tblPr/>
              <a:tblGrid>
                <a:gridCol w="6191250"/>
                <a:gridCol w="2143125"/>
                <a:gridCol w="2638425"/>
              </a:tblGrid>
              <a:tr h="552450">
                <a:tc>
                  <a:txBody>
                    <a:bodyPr/>
                    <a:lstStyle/>
                    <a:p>
                      <a:r>
                        <a:rPr sz="1500" b="1">
                          <a:solidFill>
                            <a:srgbClr val="FFFFFF"/>
                          </a:solidFill>
                          <a:latin typeface="Helvetica Neue"/>
                          <a:ea typeface="Helvetica Neue"/>
                          <a:cs typeface="Helvetica Neue"/>
                        </a:rPr>
                        <a:t>Project</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Municipality</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Stage / years</a:t>
                      </a:r>
                    </a:p>
                  </a:txBody>
                  <a:tcPr marL="91440" marR="91440" marT="45720" marB="45720">
                    <a:solidFill>
                      <a:srgbClr val="0077CD"/>
                    </a:solidFill>
                  </a:tcPr>
                </a:tc>
              </a:tr>
              <a:tr h="552450">
                <a:tc>
                  <a:txBody>
                    <a:bodyPr/>
                    <a:lstStyle/>
                    <a:p>
                      <a:r>
                        <a:rPr sz="1500" b="0">
                          <a:solidFill>
                            <a:srgbClr val="333333"/>
                          </a:solidFill>
                          <a:latin typeface="Helvetica Neue"/>
                          <a:ea typeface="Helvetica Neue"/>
                          <a:cs typeface="Helvetica Neue"/>
                        </a:rPr>
                        <a:t>Medical Device Reprocessing (MDR) Upgrades Program - Phase 1 (5 - Westlock)</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Westlock</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p>
                      <a:r>
                        <a:rPr sz="1500" b="0">
                          <a:solidFill>
                            <a:srgbClr val="333333"/>
                          </a:solidFill>
                          <a:latin typeface="Helvetica Neue"/>
                          <a:ea typeface="Helvetica Neue"/>
                          <a:cs typeface="Helvetica Neue"/>
                        </a:rPr>
                        <a:t>2026–2028</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Medical Device Reprocessing (MDR) Upgrades Program - Phase 1 (6 - Sturgeon)</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St. Albert</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Proposed</a:t>
                      </a:r>
                    </a:p>
                    <a:p>
                      <a:r>
                        <a:rPr sz="1500" b="0">
                          <a:solidFill>
                            <a:srgbClr val="333333"/>
                          </a:solidFill>
                          <a:latin typeface="Helvetica Neue"/>
                          <a:ea typeface="Helvetica Neue"/>
                          <a:cs typeface="Helvetica Neue"/>
                        </a:rPr>
                        <a:t>2027–2030</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Medical Device Reprocessing (MDR) Upgrades Program - Phase 2 (1 - Misericordia Community Hospital)</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Edmonton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2026–2029</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Medical Device Reprocessing (MDR) Upgrades Program - Phase 2 (2 - Grey Nuns Community Hospital)</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Edmonton</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2026–2028</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National Association of Pharmacy Regulatory Authorities Capital Program (Medicine Hat)</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Medicine Hat</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2026–2027</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Northern Alberta Youth Recovery Centre (NAYRC) - Edmonton EYOC</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Edmonton</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2F2F2"/>
                    </a:solidFill>
                  </a:tcPr>
                </a:tc>
              </a:tr>
            </a:tbl>
          </a:graphicData>
        </a:graphic>
      </p:graphicFrame>
    </p:spTree>
    <p:extLst>
      <p:ext uri="{BB962C8B-B14F-4D97-AF65-F5344CB8AC3E}">
        <p14:creationId xmlns:p14="http://schemas.microsoft.com/office/powerpoint/2010/main" val="155197184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AE2B980-B3FF-44CC-B9AC-F3784509D844}"/>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Infrastructure exposure register 4</a:t>
            </a:r>
          </a:p>
        </p:txBody>
      </p:sp>
      <p:sp>
        <p:nvSpPr>
          <p:cNvPr id="2" name="">
            <a:extLst xmlns:a="http://schemas.openxmlformats.org/drawingml/2006/main">
              <a:ext uri="{FF2B5EF4-FFF2-40B4-BE49-F238E27FC236}">
                <a16:creationId xmlns:a16="http://schemas.microsoft.com/office/drawing/2014/main" id="{96572C3C-248A-4E0B-9C84-8E6A208A185B}"/>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Developer: Alberta Infrastructure. Known schedule overlap with 2027–2036.</a:t>
            </a:r>
          </a:p>
        </p:txBody>
      </p:sp>
      <p:sp>
        <p:nvSpPr>
          <p:cNvPr id="3" name="">
            <a:extLst xmlns:a="http://schemas.openxmlformats.org/drawingml/2006/main">
              <a:ext uri="{FF2B5EF4-FFF2-40B4-BE49-F238E27FC236}">
                <a16:creationId xmlns:a16="http://schemas.microsoft.com/office/drawing/2014/main" id="{2CACD4D7-3297-432C-93C4-42A7B4164D73}"/>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Package phase and legal ownership unverified. Electrical, cooling and commissioning are screening intersections.</a:t>
            </a:r>
          </a:p>
        </p:txBody>
      </p:sp>
      <p:sp>
        <p:nvSpPr>
          <p:cNvPr id="4" name="">
            <a:extLst xmlns:a="http://schemas.openxmlformats.org/drawingml/2006/main">
              <a:ext uri="{FF2B5EF4-FFF2-40B4-BE49-F238E27FC236}">
                <a16:creationId xmlns:a16="http://schemas.microsoft.com/office/drawing/2014/main" id="{52673238-F017-4263-8ECE-FCE6885D4DD1}"/>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19</a:t>
            </a:r>
          </a:p>
        </p:txBody>
      </p:sp>
      <p:graphicFrame>
        <p:nvGraphicFramePr>
          <p:cNvPr id="10" name=""/>
          <p:cNvGraphicFramePr/>
          <p:nvPr/>
        </p:nvGraphicFramePr>
        <p:xfrm>
          <a:off xmlns:a="http://schemas.openxmlformats.org/drawingml/2006/main" x="609600" y="2000250"/>
          <a:ext xmlns:a="http://schemas.openxmlformats.org/drawingml/2006/main" cx="10972800" cy="3867150"/>
        </p:xfrm>
        <a:graphic xmlns:a="http://schemas.openxmlformats.org/drawingml/2006/main">
          <a:graphicData uri="http://schemas.openxmlformats.org/drawingml/2006/table">
            <a:tbl>
              <a:tblPr/>
              <a:tblGrid>
                <a:gridCol w="6191250"/>
                <a:gridCol w="2143125"/>
                <a:gridCol w="2638425"/>
              </a:tblGrid>
              <a:tr h="552450">
                <a:tc>
                  <a:txBody>
                    <a:bodyPr/>
                    <a:lstStyle/>
                    <a:p>
                      <a:r>
                        <a:rPr sz="1500" b="1">
                          <a:solidFill>
                            <a:srgbClr val="FFFFFF"/>
                          </a:solidFill>
                          <a:latin typeface="Helvetica Neue"/>
                          <a:ea typeface="Helvetica Neue"/>
                          <a:cs typeface="Helvetica Neue"/>
                        </a:rPr>
                        <a:t>Project</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Municipality</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Stage / years</a:t>
                      </a:r>
                    </a:p>
                  </a:txBody>
                  <a:tcPr marL="91440" marR="91440" marT="45720" marB="45720">
                    <a:solidFill>
                      <a:srgbClr val="0077CD"/>
                    </a:solidFill>
                  </a:tcPr>
                </a:tc>
              </a:tr>
              <a:tr h="552450">
                <a:tc>
                  <a:txBody>
                    <a:bodyPr/>
                    <a:lstStyle/>
                    <a:p>
                      <a:r>
                        <a:rPr sz="1500" b="0">
                          <a:solidFill>
                            <a:srgbClr val="333333"/>
                          </a:solidFill>
                          <a:latin typeface="Helvetica Neue"/>
                          <a:ea typeface="Helvetica Neue"/>
                          <a:cs typeface="Helvetica Neue"/>
                        </a:rPr>
                        <a:t>Recovery Communities (10 - Grande Prairie)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Grande Prairie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2026–2028</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Recovery Communities (12 - Edmonton Young Offender Centre)</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Edmonton</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Red Deer Regional Hospital - Ambulatory Building</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Red Deer</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2026–2029</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Red Deer Regional Hospital Centre Redevelopment</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Red Deer</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2024–2031</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University of Alberta Hospital Brain Centre - Neurosciences Intensive Care Unit (NSICU)</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Edmonton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2024–2029</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Barrhead Composite High School Modernization</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Barrhead</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2025–2028</a:t>
                      </a:r>
                    </a:p>
                  </a:txBody>
                  <a:tcPr marL="91440" marR="91440" marT="45720" marB="45720">
                    <a:solidFill>
                      <a:srgbClr val="F2F2F2"/>
                    </a:solidFill>
                  </a:tcPr>
                </a:tc>
              </a:tr>
            </a:tbl>
          </a:graphicData>
        </a:graphic>
      </p:graphicFrame>
    </p:spTree>
    <p:extLst>
      <p:ext uri="{BB962C8B-B14F-4D97-AF65-F5344CB8AC3E}">
        <p14:creationId xmlns:p14="http://schemas.microsoft.com/office/powerpoint/2010/main" val="208212227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8DC311-3379-4AF6-A941-404900181384}"/>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Infrastructure exposure register 5</a:t>
            </a:r>
          </a:p>
        </p:txBody>
      </p:sp>
      <p:sp>
        <p:nvSpPr>
          <p:cNvPr id="2" name="">
            <a:extLst xmlns:a="http://schemas.openxmlformats.org/drawingml/2006/main">
              <a:ext uri="{FF2B5EF4-FFF2-40B4-BE49-F238E27FC236}">
                <a16:creationId xmlns:a16="http://schemas.microsoft.com/office/drawing/2014/main" id="{FA3F7F5F-E927-4AA0-A56C-2554CF9B13F7}"/>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Developer: Alberta Infrastructure. Known schedule overlap with 2027–2036.</a:t>
            </a:r>
          </a:p>
        </p:txBody>
      </p:sp>
      <p:sp>
        <p:nvSpPr>
          <p:cNvPr id="3" name="">
            <a:extLst xmlns:a="http://schemas.openxmlformats.org/drawingml/2006/main">
              <a:ext uri="{FF2B5EF4-FFF2-40B4-BE49-F238E27FC236}">
                <a16:creationId xmlns:a16="http://schemas.microsoft.com/office/drawing/2014/main" id="{2B39D90F-7ACF-42D6-9AF0-05605B6F2CE1}"/>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Package phase and legal ownership unverified. Electrical, cooling and commissioning are screening intersections.</a:t>
            </a:r>
          </a:p>
        </p:txBody>
      </p:sp>
      <p:sp>
        <p:nvSpPr>
          <p:cNvPr id="4" name="">
            <a:extLst xmlns:a="http://schemas.openxmlformats.org/drawingml/2006/main">
              <a:ext uri="{FF2B5EF4-FFF2-40B4-BE49-F238E27FC236}">
                <a16:creationId xmlns:a16="http://schemas.microsoft.com/office/drawing/2014/main" id="{1C1BA40C-2CB3-41DB-8194-C34D77B566F4}"/>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20</a:t>
            </a:r>
          </a:p>
        </p:txBody>
      </p:sp>
      <p:graphicFrame>
        <p:nvGraphicFramePr>
          <p:cNvPr id="10" name=""/>
          <p:cNvGraphicFramePr/>
          <p:nvPr/>
        </p:nvGraphicFramePr>
        <p:xfrm>
          <a:off xmlns:a="http://schemas.openxmlformats.org/drawingml/2006/main" x="609600" y="2000250"/>
          <a:ext xmlns:a="http://schemas.openxmlformats.org/drawingml/2006/main" cx="10972800" cy="3867150"/>
        </p:xfrm>
        <a:graphic xmlns:a="http://schemas.openxmlformats.org/drawingml/2006/main">
          <a:graphicData uri="http://schemas.openxmlformats.org/drawingml/2006/table">
            <a:tbl>
              <a:tblPr/>
              <a:tblGrid>
                <a:gridCol w="6191250"/>
                <a:gridCol w="2143125"/>
                <a:gridCol w="2638425"/>
              </a:tblGrid>
              <a:tr h="552450">
                <a:tc>
                  <a:txBody>
                    <a:bodyPr/>
                    <a:lstStyle/>
                    <a:p>
                      <a:r>
                        <a:rPr sz="1500" b="1">
                          <a:solidFill>
                            <a:srgbClr val="FFFFFF"/>
                          </a:solidFill>
                          <a:latin typeface="Helvetica Neue"/>
                          <a:ea typeface="Helvetica Neue"/>
                          <a:cs typeface="Helvetica Neue"/>
                        </a:rPr>
                        <a:t>Project</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Municipality</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Stage / years</a:t>
                      </a:r>
                    </a:p>
                  </a:txBody>
                  <a:tcPr marL="91440" marR="91440" marT="45720" marB="45720">
                    <a:solidFill>
                      <a:srgbClr val="0077CD"/>
                    </a:solidFill>
                  </a:tcPr>
                </a:tc>
              </a:tr>
              <a:tr h="552450">
                <a:tc>
                  <a:txBody>
                    <a:bodyPr/>
                    <a:lstStyle/>
                    <a:p>
                      <a:r>
                        <a:rPr sz="1500" b="0">
                          <a:solidFill>
                            <a:srgbClr val="333333"/>
                          </a:solidFill>
                          <a:latin typeface="Helvetica Neue"/>
                          <a:ea typeface="Helvetica Neue"/>
                          <a:cs typeface="Helvetica Neue"/>
                        </a:rPr>
                        <a:t>Breton School K-12 Modernization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Breton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Delton K-6 Replacement School</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Edmonton</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2026–2028</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Ecole Heritage K-12 Modernization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Falher</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2026–2027</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Holy Family K-12 Replacement School (Waskatenau)</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Waskatenau</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Holy Trinity Academy (formerly St. Francis Xavier K-9 Replacement School)</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Medicine Hat</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New 7-12 Catholic and Public High School in West Edmonton</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Edmonton</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2026–2029</a:t>
                      </a:r>
                    </a:p>
                  </a:txBody>
                  <a:tcPr marL="91440" marR="91440" marT="45720" marB="45720">
                    <a:solidFill>
                      <a:srgbClr val="F2F2F2"/>
                    </a:solidFill>
                  </a:tcPr>
                </a:tc>
              </a:tr>
            </a:tbl>
          </a:graphicData>
        </a:graphic>
      </p:graphicFrame>
    </p:spTree>
    <p:extLst>
      <p:ext uri="{BB962C8B-B14F-4D97-AF65-F5344CB8AC3E}">
        <p14:creationId xmlns:p14="http://schemas.microsoft.com/office/powerpoint/2010/main" val="203257336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A758110-99D8-4AB0-8AB4-FF744A959D85}"/>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Infrastructure exposure register 6</a:t>
            </a:r>
          </a:p>
        </p:txBody>
      </p:sp>
      <p:sp>
        <p:nvSpPr>
          <p:cNvPr id="2" name="">
            <a:extLst xmlns:a="http://schemas.openxmlformats.org/drawingml/2006/main">
              <a:ext uri="{FF2B5EF4-FFF2-40B4-BE49-F238E27FC236}">
                <a16:creationId xmlns:a16="http://schemas.microsoft.com/office/drawing/2014/main" id="{6DCF227D-C502-45B7-A163-C5FA6D54321F}"/>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Developer: Alberta Infrastructure. Known schedule overlap with 2027–2036.</a:t>
            </a:r>
          </a:p>
        </p:txBody>
      </p:sp>
      <p:sp>
        <p:nvSpPr>
          <p:cNvPr id="3" name="">
            <a:extLst xmlns:a="http://schemas.openxmlformats.org/drawingml/2006/main">
              <a:ext uri="{FF2B5EF4-FFF2-40B4-BE49-F238E27FC236}">
                <a16:creationId xmlns:a16="http://schemas.microsoft.com/office/drawing/2014/main" id="{910729FE-825D-4E4C-9FD8-C63DA2652362}"/>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Package phase and legal ownership unverified. Electrical, cooling and commissioning are screening intersections.</a:t>
            </a:r>
          </a:p>
        </p:txBody>
      </p:sp>
      <p:sp>
        <p:nvSpPr>
          <p:cNvPr id="4" name="">
            <a:extLst xmlns:a="http://schemas.openxmlformats.org/drawingml/2006/main">
              <a:ext uri="{FF2B5EF4-FFF2-40B4-BE49-F238E27FC236}">
                <a16:creationId xmlns:a16="http://schemas.microsoft.com/office/drawing/2014/main" id="{A54CB7B1-3AB7-482A-A15B-5349B6C1EBA9}"/>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21</a:t>
            </a:r>
          </a:p>
        </p:txBody>
      </p:sp>
      <p:graphicFrame>
        <p:nvGraphicFramePr>
          <p:cNvPr id="10" name=""/>
          <p:cNvGraphicFramePr/>
          <p:nvPr/>
        </p:nvGraphicFramePr>
        <p:xfrm>
          <a:off xmlns:a="http://schemas.openxmlformats.org/drawingml/2006/main" x="609600" y="2000250"/>
          <a:ext xmlns:a="http://schemas.openxmlformats.org/drawingml/2006/main" cx="10972800" cy="3867150"/>
        </p:xfrm>
        <a:graphic xmlns:a="http://schemas.openxmlformats.org/drawingml/2006/main">
          <a:graphicData uri="http://schemas.openxmlformats.org/drawingml/2006/table">
            <a:tbl>
              <a:tblPr/>
              <a:tblGrid>
                <a:gridCol w="6191250"/>
                <a:gridCol w="2143125"/>
                <a:gridCol w="2638425"/>
              </a:tblGrid>
              <a:tr h="552450">
                <a:tc>
                  <a:txBody>
                    <a:bodyPr/>
                    <a:lstStyle/>
                    <a:p>
                      <a:r>
                        <a:rPr sz="1500" b="1">
                          <a:solidFill>
                            <a:srgbClr val="FFFFFF"/>
                          </a:solidFill>
                          <a:latin typeface="Helvetica Neue"/>
                          <a:ea typeface="Helvetica Neue"/>
                          <a:cs typeface="Helvetica Neue"/>
                        </a:rPr>
                        <a:t>Project</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Municipality</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Stage / years</a:t>
                      </a:r>
                    </a:p>
                  </a:txBody>
                  <a:tcPr marL="91440" marR="91440" marT="45720" marB="45720">
                    <a:solidFill>
                      <a:srgbClr val="0077CD"/>
                    </a:solidFill>
                  </a:tcPr>
                </a:tc>
              </a:tr>
              <a:tr h="552450">
                <a:tc>
                  <a:txBody>
                    <a:bodyPr/>
                    <a:lstStyle/>
                    <a:p>
                      <a:r>
                        <a:rPr sz="1500" b="0">
                          <a:solidFill>
                            <a:srgbClr val="333333"/>
                          </a:solidFill>
                          <a:latin typeface="Helvetica Neue"/>
                          <a:ea typeface="Helvetica Neue"/>
                          <a:cs typeface="Helvetica Neue"/>
                        </a:rPr>
                        <a:t>New 7-12 School in Glenridding Heights (Edmonton)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Edmonton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New High School in West Calgary</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Calgary</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2025–2028</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New K-5 School in Blackfalds</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Blackfalds</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New K-8 School in Bayview (SW Airdrie)</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Airdrie</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2026–2028</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New K-8 School in Windsong (SW Airdrie)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Airdrie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New K-9 Catholic School in Chestermere</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Chestermere</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2F2F2"/>
                    </a:solidFill>
                  </a:tcPr>
                </a:tc>
              </a:tr>
            </a:tbl>
          </a:graphicData>
        </a:graphic>
      </p:graphicFrame>
    </p:spTree>
    <p:extLst>
      <p:ext uri="{BB962C8B-B14F-4D97-AF65-F5344CB8AC3E}">
        <p14:creationId xmlns:p14="http://schemas.microsoft.com/office/powerpoint/2010/main" val="152977324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2E0602B-F3DD-4258-9421-4A744E32AF4C}"/>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Infrastructure exposure register 7</a:t>
            </a:r>
          </a:p>
        </p:txBody>
      </p:sp>
      <p:sp>
        <p:nvSpPr>
          <p:cNvPr id="2" name="">
            <a:extLst xmlns:a="http://schemas.openxmlformats.org/drawingml/2006/main">
              <a:ext uri="{FF2B5EF4-FFF2-40B4-BE49-F238E27FC236}">
                <a16:creationId xmlns:a16="http://schemas.microsoft.com/office/drawing/2014/main" id="{7726EBE4-6ED0-4630-9986-D96E8AE96E53}"/>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Developer: Alberta Infrastructure. Known schedule overlap with 2027–2036.</a:t>
            </a:r>
          </a:p>
        </p:txBody>
      </p:sp>
      <p:sp>
        <p:nvSpPr>
          <p:cNvPr id="3" name="">
            <a:extLst xmlns:a="http://schemas.openxmlformats.org/drawingml/2006/main">
              <a:ext uri="{FF2B5EF4-FFF2-40B4-BE49-F238E27FC236}">
                <a16:creationId xmlns:a16="http://schemas.microsoft.com/office/drawing/2014/main" id="{52CB34C9-51F0-496C-AFA0-5F10F28A0FE2}"/>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Package phase and legal ownership unverified. Electrical, cooling and commissioning are screening intersections.</a:t>
            </a:r>
          </a:p>
        </p:txBody>
      </p:sp>
      <p:sp>
        <p:nvSpPr>
          <p:cNvPr id="4" name="">
            <a:extLst xmlns:a="http://schemas.openxmlformats.org/drawingml/2006/main">
              <a:ext uri="{FF2B5EF4-FFF2-40B4-BE49-F238E27FC236}">
                <a16:creationId xmlns:a16="http://schemas.microsoft.com/office/drawing/2014/main" id="{D7C8F1E5-1FC8-4721-B36A-E43533367BBB}"/>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22</a:t>
            </a:r>
          </a:p>
        </p:txBody>
      </p:sp>
      <p:graphicFrame>
        <p:nvGraphicFramePr>
          <p:cNvPr id="10" name=""/>
          <p:cNvGraphicFramePr/>
          <p:nvPr/>
        </p:nvGraphicFramePr>
        <p:xfrm>
          <a:off xmlns:a="http://schemas.openxmlformats.org/drawingml/2006/main" x="609600" y="2000250"/>
          <a:ext xmlns:a="http://schemas.openxmlformats.org/drawingml/2006/main" cx="10972800" cy="3867150"/>
        </p:xfrm>
        <a:graphic xmlns:a="http://schemas.openxmlformats.org/drawingml/2006/main">
          <a:graphicData uri="http://schemas.openxmlformats.org/drawingml/2006/table">
            <a:tbl>
              <a:tblPr/>
              <a:tblGrid>
                <a:gridCol w="6191250"/>
                <a:gridCol w="2143125"/>
                <a:gridCol w="2638425"/>
              </a:tblGrid>
              <a:tr h="552450">
                <a:tc>
                  <a:txBody>
                    <a:bodyPr/>
                    <a:lstStyle/>
                    <a:p>
                      <a:r>
                        <a:rPr sz="1500" b="1">
                          <a:solidFill>
                            <a:srgbClr val="FFFFFF"/>
                          </a:solidFill>
                          <a:latin typeface="Helvetica Neue"/>
                          <a:ea typeface="Helvetica Neue"/>
                          <a:cs typeface="Helvetica Neue"/>
                        </a:rPr>
                        <a:t>Project</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Municipality</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Stage / years</a:t>
                      </a:r>
                    </a:p>
                  </a:txBody>
                  <a:tcPr marL="91440" marR="91440" marT="45720" marB="45720">
                    <a:solidFill>
                      <a:srgbClr val="0077CD"/>
                    </a:solidFill>
                  </a:tcPr>
                </a:tc>
              </a:tr>
              <a:tr h="552450">
                <a:tc>
                  <a:txBody>
                    <a:bodyPr/>
                    <a:lstStyle/>
                    <a:p>
                      <a:r>
                        <a:rPr sz="1500" b="0">
                          <a:solidFill>
                            <a:srgbClr val="333333"/>
                          </a:solidFill>
                          <a:latin typeface="Helvetica Neue"/>
                          <a:ea typeface="Helvetica Neue"/>
                          <a:cs typeface="Helvetica Neue"/>
                        </a:rPr>
                        <a:t>New K-9 Nolan Hill (Calgary)</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Calgary</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New Rangeview High School</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Calgary</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New Secondary (7-12) School in Airdrie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Airdrie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2026–2027</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Solution for Nanton School</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Nanton</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Solution for Rundle Heights K-9 School</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Edmonton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Solution for École Michaelle Jean &amp; Gabrielle Roy</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Edmonton</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2025–2028</a:t>
                      </a:r>
                    </a:p>
                  </a:txBody>
                  <a:tcPr marL="91440" marR="91440" marT="45720" marB="45720">
                    <a:solidFill>
                      <a:srgbClr val="F2F2F2"/>
                    </a:solidFill>
                  </a:tcPr>
                </a:tc>
              </a:tr>
            </a:tbl>
          </a:graphicData>
        </a:graphic>
      </p:graphicFrame>
    </p:spTree>
    <p:extLst>
      <p:ext uri="{BB962C8B-B14F-4D97-AF65-F5344CB8AC3E}">
        <p14:creationId xmlns:p14="http://schemas.microsoft.com/office/powerpoint/2010/main" val="187051381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15E6A17-D2F2-4DD1-8899-FF5632791DD2}"/>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Infrastructure exposure register 8</a:t>
            </a:r>
          </a:p>
        </p:txBody>
      </p:sp>
      <p:sp>
        <p:nvSpPr>
          <p:cNvPr id="2" name="">
            <a:extLst xmlns:a="http://schemas.openxmlformats.org/drawingml/2006/main">
              <a:ext uri="{FF2B5EF4-FFF2-40B4-BE49-F238E27FC236}">
                <a16:creationId xmlns:a16="http://schemas.microsoft.com/office/drawing/2014/main" id="{DC536BDA-75E6-4317-B6EC-438B92948C97}"/>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Developer: Alberta Infrastructure. Known schedule overlap with 2027–2036.</a:t>
            </a:r>
          </a:p>
        </p:txBody>
      </p:sp>
      <p:sp>
        <p:nvSpPr>
          <p:cNvPr id="3" name="">
            <a:extLst xmlns:a="http://schemas.openxmlformats.org/drawingml/2006/main">
              <a:ext uri="{FF2B5EF4-FFF2-40B4-BE49-F238E27FC236}">
                <a16:creationId xmlns:a16="http://schemas.microsoft.com/office/drawing/2014/main" id="{86F75677-B1ED-43F3-8BC1-43CE902AA3B8}"/>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Package phase and legal ownership unverified. Electrical, cooling and commissioning are screening intersections.</a:t>
            </a:r>
          </a:p>
        </p:txBody>
      </p:sp>
      <p:sp>
        <p:nvSpPr>
          <p:cNvPr id="4" name="">
            <a:extLst xmlns:a="http://schemas.openxmlformats.org/drawingml/2006/main">
              <a:ext uri="{FF2B5EF4-FFF2-40B4-BE49-F238E27FC236}">
                <a16:creationId xmlns:a16="http://schemas.microsoft.com/office/drawing/2014/main" id="{49550A47-DB35-46B7-9AD6-D3CEF8B6A095}"/>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23</a:t>
            </a:r>
          </a:p>
        </p:txBody>
      </p:sp>
      <p:graphicFrame>
        <p:nvGraphicFramePr>
          <p:cNvPr id="10" name=""/>
          <p:cNvGraphicFramePr/>
          <p:nvPr/>
        </p:nvGraphicFramePr>
        <p:xfrm>
          <a:off xmlns:a="http://schemas.openxmlformats.org/drawingml/2006/main" x="609600" y="2000250"/>
          <a:ext xmlns:a="http://schemas.openxmlformats.org/drawingml/2006/main" cx="10972800" cy="3867150"/>
        </p:xfrm>
        <a:graphic xmlns:a="http://schemas.openxmlformats.org/drawingml/2006/main">
          <a:graphicData uri="http://schemas.openxmlformats.org/drawingml/2006/table">
            <a:tbl>
              <a:tblPr/>
              <a:tblGrid>
                <a:gridCol w="6191250"/>
                <a:gridCol w="2143125"/>
                <a:gridCol w="2638425"/>
              </a:tblGrid>
              <a:tr h="552450">
                <a:tc>
                  <a:txBody>
                    <a:bodyPr/>
                    <a:lstStyle/>
                    <a:p>
                      <a:r>
                        <a:rPr sz="1500" b="1">
                          <a:solidFill>
                            <a:srgbClr val="FFFFFF"/>
                          </a:solidFill>
                          <a:latin typeface="Helvetica Neue"/>
                          <a:ea typeface="Helvetica Neue"/>
                          <a:cs typeface="Helvetica Neue"/>
                        </a:rPr>
                        <a:t>Project</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Municipality</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Stage / years</a:t>
                      </a:r>
                    </a:p>
                  </a:txBody>
                  <a:tcPr marL="91440" marR="91440" marT="45720" marB="45720">
                    <a:solidFill>
                      <a:srgbClr val="0077CD"/>
                    </a:solidFill>
                  </a:tcPr>
                </a:tc>
              </a:tr>
              <a:tr h="552450">
                <a:tc>
                  <a:txBody>
                    <a:bodyPr/>
                    <a:lstStyle/>
                    <a:p>
                      <a:r>
                        <a:rPr sz="1500" b="0">
                          <a:solidFill>
                            <a:srgbClr val="333333"/>
                          </a:solidFill>
                          <a:latin typeface="Helvetica Neue"/>
                          <a:ea typeface="Helvetica Neue"/>
                          <a:cs typeface="Helvetica Neue"/>
                        </a:rPr>
                        <a:t>Spruce Grove Composite High School Replacement</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Spruce Grove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2025–2028</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St. Kateri Elementary School (West Lethbridge)</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Lethbridge</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St. Martin de Porres High School Addition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Airdrie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2024–2028</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Vera M. Welsh School Replacement</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Lac la Biche County</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2F2F2"/>
                    </a:solidFill>
                  </a:tcPr>
                </a:tc>
              </a:tr>
              <a:tr h="552450">
                <a:tc>
                  <a:txBody>
                    <a:bodyPr/>
                    <a:lstStyle/>
                    <a:p>
                      <a:r>
                        <a:rPr sz="1500" b="0">
                          <a:solidFill>
                            <a:srgbClr val="333333"/>
                          </a:solidFill>
                          <a:latin typeface="Helvetica Neue"/>
                          <a:ea typeface="Helvetica Neue"/>
                          <a:cs typeface="Helvetica Neue"/>
                        </a:rPr>
                        <a:t>Wainwright K-6 Elementary Replacement</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Wainwright</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FFFFF"/>
                    </a:solidFill>
                  </a:tcPr>
                </a:tc>
              </a:tr>
              <a:tr h="552450">
                <a:tc>
                  <a:txBody>
                    <a:bodyPr/>
                    <a:lstStyle/>
                    <a:p>
                      <a:r>
                        <a:rPr sz="1500" b="0">
                          <a:solidFill>
                            <a:srgbClr val="333333"/>
                          </a:solidFill>
                          <a:latin typeface="Helvetica Neue"/>
                          <a:ea typeface="Helvetica Neue"/>
                          <a:cs typeface="Helvetica Neue"/>
                        </a:rPr>
                        <a:t>École Good Shepherd K-9 Replacement</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Okotoks</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2F2F2"/>
                    </a:solidFill>
                  </a:tcPr>
                </a:tc>
              </a:tr>
            </a:tbl>
          </a:graphicData>
        </a:graphic>
      </p:graphicFrame>
    </p:spTree>
    <p:extLst>
      <p:ext uri="{BB962C8B-B14F-4D97-AF65-F5344CB8AC3E}">
        <p14:creationId xmlns:p14="http://schemas.microsoft.com/office/powerpoint/2010/main" val="160861461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B656D05-38E9-4984-9101-72EC8B739A79}"/>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Infrastructure exposure register 9</a:t>
            </a:r>
          </a:p>
        </p:txBody>
      </p:sp>
      <p:sp>
        <p:nvSpPr>
          <p:cNvPr id="2" name="">
            <a:extLst xmlns:a="http://schemas.openxmlformats.org/drawingml/2006/main">
              <a:ext uri="{FF2B5EF4-FFF2-40B4-BE49-F238E27FC236}">
                <a16:creationId xmlns:a16="http://schemas.microsoft.com/office/drawing/2014/main" id="{69284794-40E5-4BF1-BF46-C9AE9D0010C9}"/>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Developer: Alberta Infrastructure. Known schedule overlap with 2027–2036.</a:t>
            </a:r>
          </a:p>
        </p:txBody>
      </p:sp>
      <p:sp>
        <p:nvSpPr>
          <p:cNvPr id="3" name="">
            <a:extLst xmlns:a="http://schemas.openxmlformats.org/drawingml/2006/main">
              <a:ext uri="{FF2B5EF4-FFF2-40B4-BE49-F238E27FC236}">
                <a16:creationId xmlns:a16="http://schemas.microsoft.com/office/drawing/2014/main" id="{46481330-A7A3-41F9-BA92-18CED4DE629A}"/>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Package phase and legal ownership unverified. Electrical, cooling and commissioning are screening intersections.</a:t>
            </a:r>
          </a:p>
        </p:txBody>
      </p:sp>
      <p:sp>
        <p:nvSpPr>
          <p:cNvPr id="4" name="">
            <a:extLst xmlns:a="http://schemas.openxmlformats.org/drawingml/2006/main">
              <a:ext uri="{FF2B5EF4-FFF2-40B4-BE49-F238E27FC236}">
                <a16:creationId xmlns:a16="http://schemas.microsoft.com/office/drawing/2014/main" id="{18A2DDCD-19E3-45A2-A936-6C8505178D65}"/>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24</a:t>
            </a:r>
          </a:p>
        </p:txBody>
      </p:sp>
      <p:graphicFrame>
        <p:nvGraphicFramePr>
          <p:cNvPr id="10" name=""/>
          <p:cNvGraphicFramePr/>
          <p:nvPr/>
        </p:nvGraphicFramePr>
        <p:xfrm>
          <a:off xmlns:a="http://schemas.openxmlformats.org/drawingml/2006/main" x="609600" y="2000250"/>
          <a:ext xmlns:a="http://schemas.openxmlformats.org/drawingml/2006/main" cx="10972800" cy="1104900"/>
        </p:xfrm>
        <a:graphic xmlns:a="http://schemas.openxmlformats.org/drawingml/2006/main">
          <a:graphicData uri="http://schemas.openxmlformats.org/drawingml/2006/table">
            <a:tbl>
              <a:tblPr/>
              <a:tblGrid>
                <a:gridCol w="6191250"/>
                <a:gridCol w="2143125"/>
                <a:gridCol w="2638425"/>
              </a:tblGrid>
              <a:tr h="552450">
                <a:tc>
                  <a:txBody>
                    <a:bodyPr/>
                    <a:lstStyle/>
                    <a:p>
                      <a:r>
                        <a:rPr sz="1500" b="1">
                          <a:solidFill>
                            <a:srgbClr val="FFFFFF"/>
                          </a:solidFill>
                          <a:latin typeface="Helvetica Neue"/>
                          <a:ea typeface="Helvetica Neue"/>
                          <a:cs typeface="Helvetica Neue"/>
                        </a:rPr>
                        <a:t>Project</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Municipality</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Stage / years</a:t>
                      </a:r>
                    </a:p>
                  </a:txBody>
                  <a:tcPr marL="91440" marR="91440" marT="45720" marB="45720">
                    <a:solidFill>
                      <a:srgbClr val="0077CD"/>
                    </a:solidFill>
                  </a:tcPr>
                </a:tc>
              </a:tr>
              <a:tr h="552450">
                <a:tc>
                  <a:txBody>
                    <a:bodyPr/>
                    <a:lstStyle/>
                    <a:p>
                      <a:r>
                        <a:rPr sz="1500" b="0">
                          <a:solidFill>
                            <a:srgbClr val="333333"/>
                          </a:solidFill>
                          <a:latin typeface="Helvetica Neue"/>
                          <a:ea typeface="Helvetica Neue"/>
                          <a:cs typeface="Helvetica Neue"/>
                        </a:rPr>
                        <a:t>École Mallaig K-12 Replacement School</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St. Paul County No. 19</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p>
                      <a:r>
                        <a:rPr sz="1500" b="0">
                          <a:solidFill>
                            <a:srgbClr val="333333"/>
                          </a:solidFill>
                          <a:latin typeface="Helvetica Neue"/>
                          <a:ea typeface="Helvetica Neue"/>
                          <a:cs typeface="Helvetica Neue"/>
                        </a:rPr>
                        <a:t>2025–2027</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05062274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DD18391-734A-42C6-9A7F-A8A7A3AD5A43}"/>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Alberta pipeline reference 1 of 3</a:t>
            </a:r>
          </a:p>
        </p:txBody>
      </p:sp>
      <p:sp>
        <p:nvSpPr>
          <p:cNvPr id="2" name="">
            <a:extLst xmlns:a="http://schemas.openxmlformats.org/drawingml/2006/main">
              <a:ext uri="{FF2B5EF4-FFF2-40B4-BE49-F238E27FC236}">
                <a16:creationId xmlns:a16="http://schemas.microsoft.com/office/drawing/2014/main" id="{3A240962-F825-4330-A0B5-C59C8F3A36C1}"/>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Full identified core project and phase records.</a:t>
            </a:r>
          </a:p>
        </p:txBody>
      </p:sp>
      <p:sp>
        <p:nvSpPr>
          <p:cNvPr id="3" name="">
            <a:extLst xmlns:a="http://schemas.openxmlformats.org/drawingml/2006/main">
              <a:ext uri="{FF2B5EF4-FFF2-40B4-BE49-F238E27FC236}">
                <a16:creationId xmlns:a16="http://schemas.microsoft.com/office/drawing/2014/main" id="{58491EEF-808F-4126-B51E-85777A98C371}"/>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Alberta Major Projects, 31 Aug 2026. ? = missing year; — = missing cost. Estimated scope varies.</a:t>
            </a:r>
          </a:p>
        </p:txBody>
      </p:sp>
      <p:sp>
        <p:nvSpPr>
          <p:cNvPr id="4" name="">
            <a:extLst xmlns:a="http://schemas.openxmlformats.org/drawingml/2006/main">
              <a:ext uri="{FF2B5EF4-FFF2-40B4-BE49-F238E27FC236}">
                <a16:creationId xmlns:a16="http://schemas.microsoft.com/office/drawing/2014/main" id="{2661B1A2-91BD-4C08-B612-81491023A023}"/>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25</a:t>
            </a:r>
          </a:p>
        </p:txBody>
      </p:sp>
      <p:graphicFrame>
        <p:nvGraphicFramePr>
          <p:cNvPr id="10" name=""/>
          <p:cNvGraphicFramePr/>
          <p:nvPr/>
        </p:nvGraphicFramePr>
        <p:xfrm>
          <a:off xmlns:a="http://schemas.openxmlformats.org/drawingml/2006/main" x="609600" y="2095500"/>
          <a:ext xmlns:a="http://schemas.openxmlformats.org/drawingml/2006/main" cx="10972800" cy="3619500"/>
        </p:xfrm>
        <a:graphic xmlns:a="http://schemas.openxmlformats.org/drawingml/2006/main">
          <a:graphicData uri="http://schemas.openxmlformats.org/drawingml/2006/table">
            <a:tbl>
              <a:tblPr/>
              <a:tblGrid>
                <a:gridCol w="6000750"/>
                <a:gridCol w="1714500"/>
                <a:gridCol w="2000250"/>
                <a:gridCol w="1257300"/>
              </a:tblGrid>
              <a:tr h="452438">
                <a:tc>
                  <a:txBody>
                    <a:bodyPr/>
                    <a:lstStyle/>
                    <a:p>
                      <a:r>
                        <a:rPr sz="1500" b="1">
                          <a:solidFill>
                            <a:srgbClr val="FFFFFF"/>
                          </a:solidFill>
                          <a:latin typeface="Helvetica Neue"/>
                          <a:ea typeface="Helvetica Neue"/>
                          <a:cs typeface="Helvetica Neue"/>
                        </a:rPr>
                        <a:t>Project / phase</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Stage</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Reported years</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CAD B</a:t>
                      </a:r>
                    </a:p>
                  </a:txBody>
                  <a:tcPr marL="91440" marR="91440" marT="45720" marB="45720">
                    <a:solidFill>
                      <a:srgbClr val="0077CD"/>
                    </a:solidFill>
                  </a:tcPr>
                </a:tc>
              </a:tr>
              <a:tr h="452438">
                <a:tc>
                  <a:txBody>
                    <a:bodyPr/>
                    <a:lstStyle/>
                    <a:p>
                      <a:r>
                        <a:rPr sz="1500" b="0">
                          <a:solidFill>
                            <a:srgbClr val="333333"/>
                          </a:solidFill>
                          <a:latin typeface="Helvetica Neue"/>
                          <a:ea typeface="Helvetica Neue"/>
                          <a:cs typeface="Helvetica Neue"/>
                        </a:rPr>
                        <a:t>eStruxture CAL-3 Data Centre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2024–2026</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0.75</a:t>
                      </a:r>
                    </a:p>
                  </a:txBody>
                  <a:tcPr marL="91440" marR="91440" marT="45720" marB="45720">
                    <a:solidFill>
                      <a:srgbClr val="FFFFFF"/>
                    </a:solidFill>
                  </a:tcPr>
                </a:tc>
              </a:tr>
              <a:tr h="452438">
                <a:tc>
                  <a:txBody>
                    <a:bodyPr/>
                    <a:lstStyle/>
                    <a:p>
                      <a:r>
                        <a:rPr sz="1500" b="0">
                          <a:solidFill>
                            <a:srgbClr val="333333"/>
                          </a:solidFill>
                          <a:latin typeface="Helvetica Neue"/>
                          <a:ea typeface="Helvetica Neue"/>
                          <a:cs typeface="Helvetica Neue"/>
                        </a:rPr>
                        <a:t>Wonder Valley AI Data Centre Park (Phase 1)</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12.00</a:t>
                      </a:r>
                    </a:p>
                  </a:txBody>
                  <a:tcPr marL="91440" marR="91440" marT="45720" marB="45720">
                    <a:solidFill>
                      <a:srgbClr val="F2F2F2"/>
                    </a:solidFill>
                  </a:tcPr>
                </a:tc>
              </a:tr>
              <a:tr h="452438">
                <a:tc>
                  <a:txBody>
                    <a:bodyPr/>
                    <a:lstStyle/>
                    <a:p>
                      <a:r>
                        <a:rPr sz="1500" b="0">
                          <a:solidFill>
                            <a:srgbClr val="333333"/>
                          </a:solidFill>
                          <a:latin typeface="Helvetica Neue"/>
                          <a:ea typeface="Helvetica Neue"/>
                          <a:cs typeface="Helvetica Neue"/>
                        </a:rPr>
                        <a:t>Beacon Foothills AI Data Centre Hub</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4.00</a:t>
                      </a:r>
                    </a:p>
                  </a:txBody>
                  <a:tcPr marL="91440" marR="91440" marT="45720" marB="45720">
                    <a:solidFill>
                      <a:srgbClr val="FFFFFF"/>
                    </a:solidFill>
                  </a:tcPr>
                </a:tc>
              </a:tr>
              <a:tr h="452438">
                <a:tc>
                  <a:txBody>
                    <a:bodyPr/>
                    <a:lstStyle/>
                    <a:p>
                      <a:r>
                        <a:rPr sz="1500" b="0">
                          <a:solidFill>
                            <a:srgbClr val="333333"/>
                          </a:solidFill>
                          <a:latin typeface="Helvetica Neue"/>
                          <a:ea typeface="Helvetica Neue"/>
                          <a:cs typeface="Helvetica Neue"/>
                        </a:rPr>
                        <a:t>Beacon Harry Smith AI Data Centre Hub</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2F2F2"/>
                    </a:solidFill>
                  </a:tcPr>
                </a:tc>
              </a:tr>
              <a:tr h="452438">
                <a:tc>
                  <a:txBody>
                    <a:bodyPr/>
                    <a:lstStyle/>
                    <a:p>
                      <a:r>
                        <a:rPr sz="1500" b="0">
                          <a:solidFill>
                            <a:srgbClr val="333333"/>
                          </a:solidFill>
                          <a:latin typeface="Helvetica Neue"/>
                          <a:ea typeface="Helvetica Neue"/>
                          <a:cs typeface="Helvetica Neue"/>
                        </a:rPr>
                        <a:t>Beacon Indus Data Centre Hub</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r>
              <a:tr h="452438">
                <a:tc>
                  <a:txBody>
                    <a:bodyPr/>
                    <a:lstStyle/>
                    <a:p>
                      <a:r>
                        <a:rPr sz="1500" b="0">
                          <a:solidFill>
                            <a:srgbClr val="333333"/>
                          </a:solidFill>
                          <a:latin typeface="Helvetica Neue"/>
                          <a:ea typeface="Helvetica Neue"/>
                          <a:cs typeface="Helvetica Neue"/>
                        </a:rPr>
                        <a:t>Beacon Heartland AI Data Centre Hub</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?–2027</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2F2F2"/>
                    </a:solidFill>
                  </a:tcPr>
                </a:tc>
              </a:tr>
              <a:tr h="452438">
                <a:tc>
                  <a:txBody>
                    <a:bodyPr/>
                    <a:lstStyle/>
                    <a:p>
                      <a:r>
                        <a:rPr sz="1500" b="0">
                          <a:solidFill>
                            <a:srgbClr val="333333"/>
                          </a:solidFill>
                          <a:latin typeface="Helvetica Neue"/>
                          <a:ea typeface="Helvetica Neue"/>
                          <a:cs typeface="Helvetica Neue"/>
                        </a:rPr>
                        <a:t>Beacon Saunders Lake AI Data Centre Hub</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02563307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F2F46AD-E0CA-41D8-BCDD-86C34B66C939}"/>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Alberta pipeline reference 2 of 3</a:t>
            </a:r>
          </a:p>
        </p:txBody>
      </p:sp>
      <p:sp>
        <p:nvSpPr>
          <p:cNvPr id="2" name="">
            <a:extLst xmlns:a="http://schemas.openxmlformats.org/drawingml/2006/main">
              <a:ext uri="{FF2B5EF4-FFF2-40B4-BE49-F238E27FC236}">
                <a16:creationId xmlns:a16="http://schemas.microsoft.com/office/drawing/2014/main" id="{1AD5C2F5-4ED8-4427-9141-AFA5B48DD98A}"/>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Full identified core project and phase records.</a:t>
            </a:r>
          </a:p>
        </p:txBody>
      </p:sp>
      <p:sp>
        <p:nvSpPr>
          <p:cNvPr id="3" name="">
            <a:extLst xmlns:a="http://schemas.openxmlformats.org/drawingml/2006/main">
              <a:ext uri="{FF2B5EF4-FFF2-40B4-BE49-F238E27FC236}">
                <a16:creationId xmlns:a16="http://schemas.microsoft.com/office/drawing/2014/main" id="{876CEF22-30FE-409E-A387-5E9DD0DDB726}"/>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Alberta Major Projects, 31 Aug 2026. ? = missing year; — = missing cost. Estimated scope varies.</a:t>
            </a:r>
          </a:p>
        </p:txBody>
      </p:sp>
      <p:sp>
        <p:nvSpPr>
          <p:cNvPr id="4" name="">
            <a:extLst xmlns:a="http://schemas.openxmlformats.org/drawingml/2006/main">
              <a:ext uri="{FF2B5EF4-FFF2-40B4-BE49-F238E27FC236}">
                <a16:creationId xmlns:a16="http://schemas.microsoft.com/office/drawing/2014/main" id="{2613244B-C667-4EF8-988A-E48D0B2936E2}"/>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26</a:t>
            </a:r>
          </a:p>
        </p:txBody>
      </p:sp>
      <p:graphicFrame>
        <p:nvGraphicFramePr>
          <p:cNvPr id="10" name=""/>
          <p:cNvGraphicFramePr/>
          <p:nvPr/>
        </p:nvGraphicFramePr>
        <p:xfrm>
          <a:off xmlns:a="http://schemas.openxmlformats.org/drawingml/2006/main" x="609600" y="2095500"/>
          <a:ext xmlns:a="http://schemas.openxmlformats.org/drawingml/2006/main" cx="10972800" cy="3619500"/>
        </p:xfrm>
        <a:graphic xmlns:a="http://schemas.openxmlformats.org/drawingml/2006/main">
          <a:graphicData uri="http://schemas.openxmlformats.org/drawingml/2006/table">
            <a:tbl>
              <a:tblPr/>
              <a:tblGrid>
                <a:gridCol w="6000750"/>
                <a:gridCol w="1714500"/>
                <a:gridCol w="2000250"/>
                <a:gridCol w="1257300"/>
              </a:tblGrid>
              <a:tr h="452438">
                <a:tc>
                  <a:txBody>
                    <a:bodyPr/>
                    <a:lstStyle/>
                    <a:p>
                      <a:r>
                        <a:rPr sz="1500" b="1">
                          <a:solidFill>
                            <a:srgbClr val="FFFFFF"/>
                          </a:solidFill>
                          <a:latin typeface="Helvetica Neue"/>
                          <a:ea typeface="Helvetica Neue"/>
                          <a:cs typeface="Helvetica Neue"/>
                        </a:rPr>
                        <a:t>Project / phase</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Stage</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Reported years</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CAD B</a:t>
                      </a:r>
                    </a:p>
                  </a:txBody>
                  <a:tcPr marL="91440" marR="91440" marT="45720" marB="45720">
                    <a:solidFill>
                      <a:srgbClr val="0077CD"/>
                    </a:solidFill>
                  </a:tcPr>
                </a:tc>
              </a:tr>
              <a:tr h="452438">
                <a:tc>
                  <a:txBody>
                    <a:bodyPr/>
                    <a:lstStyle/>
                    <a:p>
                      <a:r>
                        <a:rPr sz="1500" b="0">
                          <a:solidFill>
                            <a:srgbClr val="333333"/>
                          </a:solidFill>
                          <a:latin typeface="Helvetica Neue"/>
                          <a:ea typeface="Helvetica Neue"/>
                          <a:cs typeface="Helvetica Neue"/>
                        </a:rPr>
                        <a:t>Crusoe AI Data Centres Alberta</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3.00</a:t>
                      </a:r>
                    </a:p>
                  </a:txBody>
                  <a:tcPr marL="91440" marR="91440" marT="45720" marB="45720">
                    <a:solidFill>
                      <a:srgbClr val="FFFFFF"/>
                    </a:solidFill>
                  </a:tcPr>
                </a:tc>
              </a:tr>
              <a:tr h="452438">
                <a:tc>
                  <a:txBody>
                    <a:bodyPr/>
                    <a:lstStyle/>
                    <a:p>
                      <a:r>
                        <a:rPr sz="1500" b="0">
                          <a:solidFill>
                            <a:srgbClr val="333333"/>
                          </a:solidFill>
                          <a:latin typeface="Helvetica Neue"/>
                          <a:ea typeface="Helvetica Neue"/>
                          <a:cs typeface="Helvetica Neue"/>
                        </a:rPr>
                        <a:t>HubOne AI &amp; BTC High Density Compute Park</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2F2F2"/>
                    </a:solidFill>
                  </a:tcPr>
                </a:tc>
              </a:tr>
              <a:tr h="452438">
                <a:tc>
                  <a:txBody>
                    <a:bodyPr/>
                    <a:lstStyle/>
                    <a:p>
                      <a:r>
                        <a:rPr sz="1500" b="0">
                          <a:solidFill>
                            <a:srgbClr val="333333"/>
                          </a:solidFill>
                          <a:latin typeface="Helvetica Neue"/>
                          <a:ea typeface="Helvetica Neue"/>
                          <a:cs typeface="Helvetica Neue"/>
                        </a:rPr>
                        <a:t>Prairie Sky Data Solutions Strathmore Data Center (Phase 1)</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?–2026</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r>
              <a:tr h="452438">
                <a:tc>
                  <a:txBody>
                    <a:bodyPr/>
                    <a:lstStyle/>
                    <a:p>
                      <a:r>
                        <a:rPr sz="1500" b="0">
                          <a:solidFill>
                            <a:srgbClr val="333333"/>
                          </a:solidFill>
                          <a:latin typeface="Helvetica Neue"/>
                          <a:ea typeface="Helvetica Neue"/>
                          <a:cs typeface="Helvetica Neue"/>
                        </a:rPr>
                        <a:t>eStruxture CAL-1 Data Centre - Phase 4 Alterations</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2025–?</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2F2F2"/>
                    </a:solidFill>
                  </a:tcPr>
                </a:tc>
              </a:tr>
              <a:tr h="452438">
                <a:tc>
                  <a:txBody>
                    <a:bodyPr/>
                    <a:lstStyle/>
                    <a:p>
                      <a:r>
                        <a:rPr sz="1500" b="0">
                          <a:solidFill>
                            <a:srgbClr val="333333"/>
                          </a:solidFill>
                          <a:latin typeface="Helvetica Neue"/>
                          <a:ea typeface="Helvetica Neue"/>
                          <a:cs typeface="Helvetica Neue"/>
                        </a:rPr>
                        <a:t>Blindman Industrial Park AI Data Centre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2026–2026</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r>
              <a:tr h="452438">
                <a:tc>
                  <a:txBody>
                    <a:bodyPr/>
                    <a:lstStyle/>
                    <a:p>
                      <a:r>
                        <a:rPr sz="1500" b="0">
                          <a:solidFill>
                            <a:srgbClr val="333333"/>
                          </a:solidFill>
                          <a:latin typeface="Helvetica Neue"/>
                          <a:ea typeface="Helvetica Neue"/>
                          <a:cs typeface="Helvetica Neue"/>
                        </a:rPr>
                        <a:t>Technologies New Energy &amp; Data District Data Centres (Phase 1)</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2026–?</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1.26</a:t>
                      </a:r>
                    </a:p>
                  </a:txBody>
                  <a:tcPr marL="91440" marR="91440" marT="45720" marB="45720">
                    <a:solidFill>
                      <a:srgbClr val="F2F2F2"/>
                    </a:solidFill>
                  </a:tcPr>
                </a:tc>
              </a:tr>
              <a:tr h="452438">
                <a:tc>
                  <a:txBody>
                    <a:bodyPr/>
                    <a:lstStyle/>
                    <a:p>
                      <a:r>
                        <a:rPr sz="1500" b="0">
                          <a:solidFill>
                            <a:srgbClr val="333333"/>
                          </a:solidFill>
                          <a:latin typeface="Helvetica Neue"/>
                          <a:ea typeface="Helvetica Neue"/>
                          <a:cs typeface="Helvetica Neue"/>
                        </a:rPr>
                        <a:t>Data Centre (Clive)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2026–?</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1162492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8EF4596-5CC8-4877-9A96-9DAB232BCC4E}"/>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Alberta pipeline reference 3 of 3</a:t>
            </a:r>
          </a:p>
        </p:txBody>
      </p:sp>
      <p:sp>
        <p:nvSpPr>
          <p:cNvPr id="2" name="">
            <a:extLst xmlns:a="http://schemas.openxmlformats.org/drawingml/2006/main">
              <a:ext uri="{FF2B5EF4-FFF2-40B4-BE49-F238E27FC236}">
                <a16:creationId xmlns:a16="http://schemas.microsoft.com/office/drawing/2014/main" id="{460FC2CF-E56B-4AD0-9F67-6D929B66031C}"/>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Full identified core project and phase records.</a:t>
            </a:r>
          </a:p>
        </p:txBody>
      </p:sp>
      <p:sp>
        <p:nvSpPr>
          <p:cNvPr id="3" name="">
            <a:extLst xmlns:a="http://schemas.openxmlformats.org/drawingml/2006/main">
              <a:ext uri="{FF2B5EF4-FFF2-40B4-BE49-F238E27FC236}">
                <a16:creationId xmlns:a16="http://schemas.microsoft.com/office/drawing/2014/main" id="{4D9B88E1-09C0-47D6-81F3-FA7175EF4B3A}"/>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Alberta Major Projects, 31 Aug 2026. ? = missing year; — = missing cost. Estimated scope varies.</a:t>
            </a:r>
          </a:p>
        </p:txBody>
      </p:sp>
      <p:sp>
        <p:nvSpPr>
          <p:cNvPr id="4" name="">
            <a:extLst xmlns:a="http://schemas.openxmlformats.org/drawingml/2006/main">
              <a:ext uri="{FF2B5EF4-FFF2-40B4-BE49-F238E27FC236}">
                <a16:creationId xmlns:a16="http://schemas.microsoft.com/office/drawing/2014/main" id="{5E0DCF1A-069D-4EFF-B0AC-E54C8D5775A6}"/>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27</a:t>
            </a:r>
          </a:p>
        </p:txBody>
      </p:sp>
      <p:graphicFrame>
        <p:nvGraphicFramePr>
          <p:cNvPr id="10" name=""/>
          <p:cNvGraphicFramePr/>
          <p:nvPr/>
        </p:nvGraphicFramePr>
        <p:xfrm>
          <a:off xmlns:a="http://schemas.openxmlformats.org/drawingml/2006/main" x="609600" y="2095500"/>
          <a:ext xmlns:a="http://schemas.openxmlformats.org/drawingml/2006/main" cx="10972800" cy="3619500"/>
        </p:xfrm>
        <a:graphic xmlns:a="http://schemas.openxmlformats.org/drawingml/2006/main">
          <a:graphicData uri="http://schemas.openxmlformats.org/drawingml/2006/table">
            <a:tbl>
              <a:tblPr/>
              <a:tblGrid>
                <a:gridCol w="6000750"/>
                <a:gridCol w="1714500"/>
                <a:gridCol w="2000250"/>
                <a:gridCol w="1257300"/>
              </a:tblGrid>
              <a:tr h="603250">
                <a:tc>
                  <a:txBody>
                    <a:bodyPr/>
                    <a:lstStyle/>
                    <a:p>
                      <a:r>
                        <a:rPr sz="1500" b="1">
                          <a:solidFill>
                            <a:srgbClr val="FFFFFF"/>
                          </a:solidFill>
                          <a:latin typeface="Helvetica Neue"/>
                          <a:ea typeface="Helvetica Neue"/>
                          <a:cs typeface="Helvetica Neue"/>
                        </a:rPr>
                        <a:t>Project / phase</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Stage</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Reported years</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CAD B</a:t>
                      </a:r>
                    </a:p>
                  </a:txBody>
                  <a:tcPr marL="91440" marR="91440" marT="45720" marB="45720">
                    <a:solidFill>
                      <a:srgbClr val="0077CD"/>
                    </a:solidFill>
                  </a:tcPr>
                </a:tc>
              </a:tr>
              <a:tr h="603250">
                <a:tc>
                  <a:txBody>
                    <a:bodyPr/>
                    <a:lstStyle/>
                    <a:p>
                      <a:r>
                        <a:rPr sz="1500" b="0">
                          <a:solidFill>
                            <a:srgbClr val="333333"/>
                          </a:solidFill>
                          <a:latin typeface="Helvetica Neue"/>
                          <a:ea typeface="Helvetica Neue"/>
                          <a:cs typeface="Helvetica Neue"/>
                        </a:rPr>
                        <a:t>Mihta Askiy Data Centre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2027–?</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r>
              <a:tr h="603250">
                <a:tc>
                  <a:txBody>
                    <a:bodyPr/>
                    <a:lstStyle/>
                    <a:p>
                      <a:r>
                        <a:rPr sz="1500" b="0">
                          <a:solidFill>
                            <a:srgbClr val="333333"/>
                          </a:solidFill>
                          <a:latin typeface="Helvetica Neue"/>
                          <a:ea typeface="Helvetica Neue"/>
                          <a:cs typeface="Helvetica Neue"/>
                        </a:rPr>
                        <a:t>Beacon Chestermere AI Data Centre Hub</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?–2027</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2F2F2"/>
                    </a:solidFill>
                  </a:tcPr>
                </a:tc>
              </a:tr>
              <a:tr h="603250">
                <a:tc>
                  <a:txBody>
                    <a:bodyPr/>
                    <a:lstStyle/>
                    <a:p>
                      <a:r>
                        <a:rPr sz="1500" b="0">
                          <a:solidFill>
                            <a:srgbClr val="333333"/>
                          </a:solidFill>
                          <a:latin typeface="Helvetica Neue"/>
                          <a:ea typeface="Helvetica Neue"/>
                          <a:cs typeface="Helvetica Neue"/>
                        </a:rPr>
                        <a:t>K-Tech and Aurora AZ Energy Compute Facility</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2026–?</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r>
              <a:tr h="603250">
                <a:tc>
                  <a:txBody>
                    <a:bodyPr/>
                    <a:lstStyle/>
                    <a:p>
                      <a:r>
                        <a:rPr sz="1500" b="0">
                          <a:solidFill>
                            <a:srgbClr val="333333"/>
                          </a:solidFill>
                          <a:latin typeface="Helvetica Neue"/>
                          <a:ea typeface="Helvetica Neue"/>
                          <a:cs typeface="Helvetica Neue"/>
                        </a:rPr>
                        <a:t>Meta Data Centre</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13.00</a:t>
                      </a:r>
                    </a:p>
                  </a:txBody>
                  <a:tcPr marL="91440" marR="91440" marT="45720" marB="45720">
                    <a:solidFill>
                      <a:srgbClr val="F2F2F2"/>
                    </a:solidFill>
                  </a:tcPr>
                </a:tc>
              </a:tr>
              <a:tr h="603250">
                <a:tc>
                  <a:txBody>
                    <a:bodyPr/>
                    <a:lstStyle/>
                    <a:p>
                      <a:r>
                        <a:rPr sz="1500" b="0">
                          <a:solidFill>
                            <a:srgbClr val="333333"/>
                          </a:solidFill>
                          <a:latin typeface="Helvetica Neue"/>
                          <a:ea typeface="Helvetica Neue"/>
                          <a:cs typeface="Helvetica Neue"/>
                        </a:rPr>
                        <a:t>Malachite One Data Centre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2027–2030</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15.00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3135729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2026-09-06T21:11:59.6830000Z</dcterms:created>
  <dcterms:modified xsi:type="dcterms:W3CDTF">2026-09-06T21:11:59.6830000Z</dcterms:modified>
</coreProperties>
</file>