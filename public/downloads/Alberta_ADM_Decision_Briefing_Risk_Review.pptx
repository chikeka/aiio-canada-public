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4.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3f2119cb8404e52" /><Relationship Type="http://schemas.openxmlformats.org/officeDocument/2006/relationships/extended-properties" Target="/docProps/app.xml" Id="Rb95c3ce3a70848f0" /><Relationship Type="http://schemas.openxmlformats.org/officeDocument/2006/relationships/officeDocument" Target="/ppt/presentation.xml" Id="R8c4703cd16594d88" /></Relationships>
</file>

<file path=ppt/presentation.xml><?xml version="1.0" encoding="utf-8"?>
<p:presentation xmlns:p="http://schemas.openxmlformats.org/presentationml/2006/main">
  <p:sldMasterIdLst>
    <p:sldMasterId xmlns:r="http://schemas.openxmlformats.org/officeDocument/2006/relationships" id="2147483648" r:id="Rc016168e4e1c408b"/>
  </p:sldMasterIdLst>
  <p:notesMasterIdLst>
    <p:notesMasterId xmlns:r="http://schemas.openxmlformats.org/officeDocument/2006/relationships" r:id="Rfbf06edc86234c2c"/>
  </p:notesMasterIdLst>
  <p:sldIdLst>
    <p:sldId xmlns:r="http://schemas.openxmlformats.org/officeDocument/2006/relationships" id="256" r:id="R02710a0598a54e2f"/>
    <p:sldId xmlns:r="http://schemas.openxmlformats.org/officeDocument/2006/relationships" id="257" r:id="R5b929a7dd6d141ef"/>
    <p:sldId xmlns:r="http://schemas.openxmlformats.org/officeDocument/2006/relationships" id="258" r:id="Rbe6745eb9cde4d9a"/>
    <p:sldId xmlns:r="http://schemas.openxmlformats.org/officeDocument/2006/relationships" id="259" r:id="R4ec73e96cce84969"/>
    <p:sldId xmlns:r="http://schemas.openxmlformats.org/officeDocument/2006/relationships" id="260" r:id="R797f56039fb2410a"/>
    <p:sldId xmlns:r="http://schemas.openxmlformats.org/officeDocument/2006/relationships" id="261" r:id="Rd3aa128c2aae4a94"/>
    <p:sldId xmlns:r="http://schemas.openxmlformats.org/officeDocument/2006/relationships" id="262" r:id="R5db7300aa1d04c58"/>
    <p:sldId xmlns:r="http://schemas.openxmlformats.org/officeDocument/2006/relationships" id="263" r:id="Racdda58d337841aa"/>
    <p:sldId xmlns:r="http://schemas.openxmlformats.org/officeDocument/2006/relationships" id="264" r:id="R2b76fc503a454531"/>
    <p:sldId xmlns:r="http://schemas.openxmlformats.org/officeDocument/2006/relationships" id="265" r:id="Rba9db819b9084dfd"/>
    <p:sldId xmlns:r="http://schemas.openxmlformats.org/officeDocument/2006/relationships" id="266" r:id="Rcd11ac8e8ed54cfb"/>
    <p:sldId xmlns:r="http://schemas.openxmlformats.org/officeDocument/2006/relationships" id="267" r:id="R797f1f4d15264d57"/>
    <p:sldId xmlns:r="http://schemas.openxmlformats.org/officeDocument/2006/relationships" id="268" r:id="Rd8e1122def1048c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6c55cb88cf548cd" /><Relationship Type="http://schemas.openxmlformats.org/officeDocument/2006/relationships/slideMaster" Target="/ppt/slideMasters/slideMaster1.xml" Id="Rc016168e4e1c408b" /><Relationship Type="http://schemas.openxmlformats.org/officeDocument/2006/relationships/notesMaster" Target="/ppt/notesMasters/notesMaster1.xml" Id="Rfbf06edc86234c2c" /><Relationship Type="http://schemas.openxmlformats.org/officeDocument/2006/relationships/presProps" Target="/ppt/presProps.xml" Id="R764abbae4fd54029" /><Relationship Type="http://schemas.openxmlformats.org/officeDocument/2006/relationships/tableStyles" Target="/ppt/tableStyles.xml" Id="R423ea8298c2a49ce" /><Relationship Type="http://schemas.openxmlformats.org/officeDocument/2006/relationships/slide" Target="/ppt/slides/slide1.xml" Id="R02710a0598a54e2f" /><Relationship Type="http://schemas.openxmlformats.org/officeDocument/2006/relationships/slide" Target="/ppt/slides/slide2.xml" Id="R5b929a7dd6d141ef" /><Relationship Type="http://schemas.openxmlformats.org/officeDocument/2006/relationships/slide" Target="/ppt/slides/slide3.xml" Id="Rbe6745eb9cde4d9a" /><Relationship Type="http://schemas.openxmlformats.org/officeDocument/2006/relationships/slide" Target="/ppt/slides/slide4.xml" Id="R4ec73e96cce84969" /><Relationship Type="http://schemas.openxmlformats.org/officeDocument/2006/relationships/slide" Target="/ppt/slides/slide5.xml" Id="R797f56039fb2410a" /><Relationship Type="http://schemas.openxmlformats.org/officeDocument/2006/relationships/slide" Target="/ppt/slides/slide6.xml" Id="Rd3aa128c2aae4a94" /><Relationship Type="http://schemas.openxmlformats.org/officeDocument/2006/relationships/slide" Target="/ppt/slides/slide7.xml" Id="R5db7300aa1d04c58" /><Relationship Type="http://schemas.openxmlformats.org/officeDocument/2006/relationships/slide" Target="/ppt/slides/slide8.xml" Id="Racdda58d337841aa" /><Relationship Type="http://schemas.openxmlformats.org/officeDocument/2006/relationships/slide" Target="/ppt/slides/slide9.xml" Id="R2b76fc503a454531" /><Relationship Type="http://schemas.openxmlformats.org/officeDocument/2006/relationships/slide" Target="/ppt/slides/slide10.xml" Id="Rba9db819b9084dfd" /><Relationship Type="http://schemas.openxmlformats.org/officeDocument/2006/relationships/slide" Target="/ppt/slides/slide11.xml" Id="Rcd11ac8e8ed54cfb" /><Relationship Type="http://schemas.openxmlformats.org/officeDocument/2006/relationships/slide" Target="/ppt/slides/slide12.xml" Id="R797f1f4d15264d57" /><Relationship Type="http://schemas.openxmlformats.org/officeDocument/2006/relationships/slide" Target="/ppt/slides/slide13.xml" Id="Rd8e1122def1048c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7bffc38722a478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c15db9e10b14c28" /><Relationship Type="http://schemas.openxmlformats.org/officeDocument/2006/relationships/notesMaster" Target="/ppt/notesMasters/notesMaster1.xml" Id="Redec0606f8fe4563" /></Relationships>
</file>

<file path=ppt/notesSlides/_rels/notesSlide2.xml.rels>&#65279;<?xml version="1.0" encoding="utf-8"?><Relationships xmlns="http://schemas.openxmlformats.org/package/2006/relationships"><Relationship Type="http://schemas.openxmlformats.org/officeDocument/2006/relationships/slide" Target="/ppt/slides/slide2.xml" Id="Re1a67121fd62489e" /><Relationship Type="http://schemas.openxmlformats.org/officeDocument/2006/relationships/notesMaster" Target="/ppt/notesMasters/notesMaster1.xml" Id="R4fd2769e4fde4a2f" /></Relationships>
</file>

<file path=ppt/notesSlides/_rels/notesSlide3.xml.rels>&#65279;<?xml version="1.0" encoding="utf-8"?><Relationships xmlns="http://schemas.openxmlformats.org/package/2006/relationships"><Relationship Type="http://schemas.openxmlformats.org/officeDocument/2006/relationships/slide" Target="/ppt/slides/slide3.xml" Id="Reca26f8dda2b49c0" /><Relationship Type="http://schemas.openxmlformats.org/officeDocument/2006/relationships/notesMaster" Target="/ppt/notesMasters/notesMaster1.xml" Id="Rf5f18d40ff1b4875" /></Relationships>
</file>

<file path=ppt/notesSlides/_rels/notesSlide4.xml.rels>&#65279;<?xml version="1.0" encoding="utf-8"?><Relationships xmlns="http://schemas.openxmlformats.org/package/2006/relationships"><Relationship Type="http://schemas.openxmlformats.org/officeDocument/2006/relationships/slide" Target="/ppt/slides/slide4.xml" Id="R6cb462d90f614ccc" /><Relationship Type="http://schemas.openxmlformats.org/officeDocument/2006/relationships/notesMaster" Target="/ppt/notesMasters/notesMaster1.xml" Id="Ra3c0c62921754f35" /></Relationships>
</file>

<file path=ppt/notesSlides/_rels/notesSlide5.xml.rels>&#65279;<?xml version="1.0" encoding="utf-8"?><Relationships xmlns="http://schemas.openxmlformats.org/package/2006/relationships"><Relationship Type="http://schemas.openxmlformats.org/officeDocument/2006/relationships/slide" Target="/ppt/slides/slide5.xml" Id="R0f119f9e08fc40e4" /><Relationship Type="http://schemas.openxmlformats.org/officeDocument/2006/relationships/notesMaster" Target="/ppt/notesMasters/notesMaster1.xml" Id="R39d781a8ac4a4979" /></Relationships>
</file>

<file path=ppt/notesSlides/_rels/notesSlide6.xml.rels>&#65279;<?xml version="1.0" encoding="utf-8"?><Relationships xmlns="http://schemas.openxmlformats.org/package/2006/relationships"><Relationship Type="http://schemas.openxmlformats.org/officeDocument/2006/relationships/slide" Target="/ppt/slides/slide6.xml" Id="Rcf1ef108da1349af" /><Relationship Type="http://schemas.openxmlformats.org/officeDocument/2006/relationships/notesMaster" Target="/ppt/notesMasters/notesMaster1.xml" Id="R24f61f27f77740ac" /></Relationships>
</file>

<file path=ppt/notesSlides/_rels/notesSlide7.xml.rels>&#65279;<?xml version="1.0" encoding="utf-8"?><Relationships xmlns="http://schemas.openxmlformats.org/package/2006/relationships"><Relationship Type="http://schemas.openxmlformats.org/officeDocument/2006/relationships/slide" Target="/ppt/slides/slide7.xml" Id="R1aa4d6d255b8473b" /><Relationship Type="http://schemas.openxmlformats.org/officeDocument/2006/relationships/notesMaster" Target="/ppt/notesMasters/notesMaster1.xml" Id="R8e18a4df195e4adb" /></Relationships>
</file>

<file path=ppt/notesSlides/_rels/notesSlide8.xml.rels>&#65279;<?xml version="1.0" encoding="utf-8"?><Relationships xmlns="http://schemas.openxmlformats.org/package/2006/relationships"><Relationship Type="http://schemas.openxmlformats.org/officeDocument/2006/relationships/slide" Target="/ppt/slides/slide8.xml" Id="Rc1fd02a595d847af" /><Relationship Type="http://schemas.openxmlformats.org/officeDocument/2006/relationships/notesMaster" Target="/ppt/notesMasters/notesMaster1.xml" Id="Rfd37a4d7ee284dc2" /></Relationships>
</file>

<file path=ppt/notesSlides/_rels/notesSlide9.xml.rels>&#65279;<?xml version="1.0" encoding="utf-8"?><Relationships xmlns="http://schemas.openxmlformats.org/package/2006/relationships"><Relationship Type="http://schemas.openxmlformats.org/officeDocument/2006/relationships/slide" Target="/ppt/slides/slide9.xml" Id="Rd7f95116bbc34075" /><Relationship Type="http://schemas.openxmlformats.org/officeDocument/2006/relationships/notesMaster" Target="/ppt/notesMasters/notesMaster1.xml" Id="R3596b2e3dc5e4ba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caaee0ab20543e0" /><Relationship Type="http://schemas.openxmlformats.org/officeDocument/2006/relationships/notesMaster" Target="/ppt/notesMasters/notesMaster1.xml" Id="Rf017d72142df4e1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4a314d18aa447b3" /><Relationship Type="http://schemas.openxmlformats.org/officeDocument/2006/relationships/notesMaster" Target="/ppt/notesMasters/notesMaster1.xml" Id="R9a873b620553425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3f7af01654548d4" /><Relationship Type="http://schemas.openxmlformats.org/officeDocument/2006/relationships/notesMaster" Target="/ppt/notesMasters/notesMaster1.xml" Id="R565056e2559940a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56c1c14ab0d4dda" /><Relationship Type="http://schemas.openxmlformats.org/officeDocument/2006/relationships/notesMaster" Target="/ppt/notesMasters/notesMaster1.xml" Id="R90ff153dd17c4da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analysis. Colour reference: https://www.alberta.ca/colour-palette. Government of Alberta blue, sky and prairie palette. No government endorsement implied. Project snapshot 31 August 2026. Source dates are retained on each evidence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Government of Alberta, Alberta Major Projects inventory, snapshot 31 August 2026. https://www.majorprojects.alberta.ca/</a:t>
            </a:r>
          </a:p>
          <a:p xmlns:a="http://schemas.openxmlformats.org/drawingml/2006/main">
            <a:r>
              <a:t>Methodology: https://majorprojects.alberta.ca/methodology</a:t>
            </a:r>
          </a:p>
          <a:p xmlns:a="http://schemas.openxmlformats.org/drawingml/2006/main">
            <a:r>
              <a:t>https://open.alberta.ca/dataset/9c81a5a7-cdf1-49ad-a923-d1ecb42944e4/resource/eaeb7a75-0c9f-4964-be53-0f1cc889ffab/download/tbf-2026-27-first-quarter-fiscal-update-economic-statement.pdf</a:t>
            </a:r>
          </a:p>
          <a:p xmlns:a="http://schemas.openxmlformats.org/drawingml/2006/main">
            <a:r>
              <a:t>The 19 core records can represent phases or multi-location programmes, rather than unique campuses. Three enabling power records are separate. Proposed status does not establish financing, procurement or construction start. The capital plan spans different asset classes and includes more than construction labour.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Government of Alberta, Alberta Major Projects inventory, snapshot 31 August 2026. https://www.majorprojects.alberta.ca/</a:t>
            </a:r>
          </a:p>
          <a:p xmlns:a="http://schemas.openxmlformats.org/drawingml/2006/main">
            <a:r>
              <a:t>Methodology: https://majorprojects.alberta.ca/methodology</a:t>
            </a:r>
          </a:p>
          <a:p xmlns:a="http://schemas.openxmlformats.org/drawingml/2006/main">
            <a:r>
              <a:t>Seven core estimated costs sum to CAD49.01B. The other 12 core records lack costs. The sum excludes CAD6.40B from three enabling power records. Amounts may include servers, land and enabling works. The separate project model uses explicit construction and labour coefficients. Names are shortened on the chart; the appendix carries the full record names.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Engineering interpretation of typical data-centre construction packages. The table identifies shared resources, not measured project quantities or incremental Alberta job demand. Site location, cooling design, electrical architecture and prefabrication determine the final scope. Electrical utility connections and permitting can be separate from the building contract.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Government of Alberta, Alberta Major Projects inventory, snapshot 31 August 2026. https://www.majorprojects.alberta.ca/</a:t>
            </a:r>
          </a:p>
          <a:p xmlns:a="http://schemas.openxmlformats.org/drawingml/2006/main">
            <a:r>
              <a:t>Methodology: https://majorprojects.alberta.ca/methodology</a:t>
            </a:r>
          </a:p>
          <a:p xmlns:a="http://schemas.openxmlformats.org/drawingml/2006/main">
            <a:r>
              <a:t>50% is a uniform volume reduction on proposed projects, not a calibrated probability or a selected half of projects. Construction-stage volumes are retained. The 48-month case changes only wholly undated durations. Reported anchors can still require inferred endpoints. Historical workforce ratios are scale comparisons, not available capacity.</a:t>
            </a:r>
          </a:p>
          <a:p xmlns:a="http://schemas.openxmlformats.org/drawingml/2006/main">
            <a:r>
              <a:t>Trade hours = cost × construction share × labour share / loaded paid-hour cost × trade payroll share. Monthly triangular weights conserve trade hours; annual FTE = hours / 1840. Four fully undated records use evidence month + 18 months and 36 months. Three records have at least one reported year anchor; these are not wholly observed construction schedules. The fall after completion is a cohort effect, not no future demand.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Statistics Canada, Alberta observations. Census Table 98-10-0449-01, May 2021 employed persons: https://www150.statcan.gc.ca/t1/tbl1/en/tv.action?pid=9810044901</a:t>
            </a:r>
          </a:p>
          <a:p xmlns:a="http://schemas.openxmlformats.org/drawingml/2006/main">
            <a:r>
              <a:t>Job Vacancy and Wage Survey, Table 14-10-0444-01, Q1 2026: https://www150.statcan.gc.ca/t1/tbl1/en/tv.action?pid=1410044401</a:t>
            </a:r>
          </a:p>
          <a:p xmlns:a="http://schemas.openxmlformats.org/drawingml/2006/main">
            <a:r>
              <a:t>50% is a uniform volume reduction on proposed projects, not a calibrated probability or a selected half of projects. Construction-stage volumes are retained. The 48-month case changes only wholly undated durations. Reported anchors can still require inferred endpoints. Historical workforce ratios are scale comparisons, not available capacity.</a:t>
            </a:r>
          </a:p>
          <a:p xmlns:a="http://schemas.openxmlformats.org/drawingml/2006/main">
            <a:r>
              <a:t>Full realization / 36 months: electrical 3,940 FTE in 2029; HVAC 1,926 FTE in 2030.</a:t>
            </a:r>
          </a:p>
          <a:p xmlns:a="http://schemas.openxmlformats.org/drawingml/2006/main">
            <a:r>
              <a:t>50% proposed volume / 36 months: electrical 1,970 FTE in 2029; HVAC 963 FTE in 2030.</a:t>
            </a:r>
          </a:p>
          <a:p xmlns:a="http://schemas.openxmlformats.org/drawingml/2006/main">
            <a:r>
              <a:t>Full realization / 48 months: electrical 3,503 FTE in 2030; HVAC 1,813 FTE in 2030.</a:t>
            </a:r>
          </a:p>
          <a:p xmlns:a="http://schemas.openxmlformats.org/drawingml/2006/main">
            <a:r>
              <a:t>The 48-month sensitivity changes only the four wholly undated phases; Malachite retains its reported 2027–2030 window. 50% realization means half the proposed volume at each date, not a random project selection. Low/high intensity parameters remain in the model, separate from realization.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Statistics Canada, Building construction price indexes, Table 18-10-0289-01, Calgary and Edmonton industrial-factory components, Q2 2026 year-over-year changes. https://www150.statcan.gc.ca/t1/tbl1/en/tv.action?pid=1810028901</a:t>
            </a:r>
          </a:p>
          <a:p xmlns:a="http://schemas.openxmlformats.org/drawingml/2006/main">
            <a:r>
              <a:t>Year-over-year component changes from the industrial-factory archetype. It is a proxy for construction cost conditions, not a data-centre construction price index. Figures do not measure physical material volumes or supplier spare capacity, nor identify the causal contribution of data-centre activity.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Statistics Canada, Building construction price indexes, Table 18-10-0289-01, Calgary and Edmonton industrial-factory components, Q2 2026 year-over-year changes. https://www150.statcan.gc.ca/t1/tbl1/en/tv.action?pid=1810028901</a:t>
            </a:r>
          </a:p>
          <a:p xmlns:a="http://schemas.openxmlformats.org/drawingml/2006/main">
            <a:r>
              <a:t>https://open.alberta.ca/dataset/9c81a5a7-cdf1-49ad-a923-d1ecb42944e4/resource/eaeb7a75-0c9f-4964-be53-0f1cc889ffab/download/tbf-2026-27-first-quarter-fiscal-update-economic-statement.pdf</a:t>
            </a:r>
          </a:p>
          <a:p xmlns:a="http://schemas.openxmlformats.org/drawingml/2006/main">
            <a:r>
              <a:t>Exposure share is an analyst assumption, not measured capital-plan composition. Impact = $10,687M × exposed share × observed YoY percentage/100. Each row assumes the same quarter of the plan independently exposed to that component movement. No rows are summed. The historical movement is applied as a stress, not a future forecast or AI-attributable premium. Use uncommitted scope, contract allocation of price risk and current baseline price date before reserving contingency. 1% of whole plan = $106.87M; 10% = $1,068.7M. The plan is consolidated provincial capital, not the Infrastructure ministry budget alone.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Alberta Major Projects inventory, snapshot 31 August 2026. https://www.majorprojects.alberta.ca/</a:t>
            </a:r>
          </a:p>
          <a:p xmlns:a="http://schemas.openxmlformats.org/drawingml/2006/main">
            <a:r>
              <a:t>Analytical screen: school/postsecondary, roads/transit/airports, health, power, water/resilience and government/civic categories. Records can include private ownership. Schedule overlap does not demonstrate resource competition.</a:t>
            </a:r>
          </a:p>
          <a:p xmlns:a="http://schemas.openxmlformats.org/drawingml/2006/main">
            <a:r>
              <a:t>Filter: developer Alberta Infrastructure; reported start &lt;=2030 and end &gt;=2029. Seven of the 49 known 2027–2036 overlaps. Packages to confirm: electrical fit-out, cooling and commissioning. Municipal proximity is an analytical screen, not a verified labour catchment. Calgary pairs with Beacon Foothills, Crusoe Rocky View and TNE Calgary; Red Deer with Crusoe Red Deer; Edmonton/St Albert with Meta Sturgeon and TNE Edmonton. Multi-location programme costs are not allocated between municipalities. No matching northwest record in this seven-record subset is inferred for Wonder Valley.</a:t>
            </a:r>
          </a:p>
          <a:p xmlns:a="http://schemas.openxmlformats.org/drawingml/2006/main">
            <a:r>
              <a:t>Alberta Surgical Initiative (02 - Calgary): 2024–2029; Under Construction</a:t>
            </a:r>
          </a:p>
          <a:p xmlns:a="http://schemas.openxmlformats.org/drawingml/2006/main">
            <a:r>
              <a:t>Medical Device Reprocessing (MDR) Upgrades Program - Phase 1 (6 - Sturgeon): 2027–2030; Proposed</a:t>
            </a:r>
          </a:p>
          <a:p xmlns:a="http://schemas.openxmlformats.org/drawingml/2006/main">
            <a:r>
              <a:t>Medical Device Reprocessing (MDR) Upgrades Program - Phase 2 (1 - Misericordia Community Hospital): 2026–2029; Under Construction</a:t>
            </a:r>
          </a:p>
          <a:p xmlns:a="http://schemas.openxmlformats.org/drawingml/2006/main">
            <a:r>
              <a:t>Red Deer Regional Hospital - Ambulatory Building: 2026–2029; Under Construction</a:t>
            </a:r>
          </a:p>
          <a:p xmlns:a="http://schemas.openxmlformats.org/drawingml/2006/main">
            <a:r>
              <a:t>Red Deer Regional Hospital Centre Redevelopment: 2024–2031; Under Construction</a:t>
            </a:r>
          </a:p>
          <a:p xmlns:a="http://schemas.openxmlformats.org/drawingml/2006/main">
            <a:r>
              <a:t>University of Alberta Hospital Brain Centre - Neurosciences Intensive Care Unit (NSICU): 2024–2029; Under Construction</a:t>
            </a:r>
          </a:p>
          <a:p xmlns:a="http://schemas.openxmlformats.org/drawingml/2006/main">
            <a:r>
              <a:t>New 7-12 Catholic and Public High School in West Edmonton: 2026–2029; Under Construction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Government of Alberta, Alberta Major Projects inventory, snapshot 31 August 2026. https://www.majorprojects.alberta.ca/</a:t>
            </a:r>
          </a:p>
          <a:p xmlns:a="http://schemas.openxmlformats.org/drawingml/2006/main">
            <a:r>
              <a:t>Methodology: https://majorprojects.alberta.ca/methodology</a:t>
            </a:r>
          </a:p>
          <a:p xmlns:a="http://schemas.openxmlformats.org/drawingml/2006/main">
            <a:r>
              <a:t>Greenlight Electricity Centre: https://greenlightelectricitycentre.ca/</a:t>
            </a:r>
          </a:p>
          <a:p xmlns:a="http://schemas.openxmlformats.org/drawingml/2006/main">
            <a:r>
              <a:t>Teton Digital Black Bear Power Project: https://www.tetondigital.io/black-bear</a:t>
            </a:r>
          </a:p>
          <a:p xmlns:a="http://schemas.openxmlformats.org/drawingml/2006/main">
            <a:r>
              <a:t>Teton Digital Northern Forge Power Project: https://www.tetondigital.io/northern-forge</a:t>
            </a:r>
          </a:p>
          <a:p xmlns:a="http://schemas.openxmlformats.org/drawingml/2006/main">
            <a:r>
              <a:t>https://www.aeso.ca/grid/connecting-to-the-grid/large-load-projects/</a:t>
            </a:r>
          </a:p>
          <a:p xmlns:a="http://schemas.openxmlformats.org/drawingml/2006/main">
            <a:r>
              <a:t>AESO checked 6 September 2026: Phase 1 allocates 970 MW to GLDC Load and 230 MW to Keephills Data Centre Phase I. The projects continue through the Connection Process. Phase 2A is a BYOG process. Executed contracts do not mean energized load. Generation proposals total 1,598 MW, distinct from load contracts and not a measure of spare network capacity. Their data-centre-enabling classification is analytical. No inference of a province-wide transmission shortage or a public-facility delay. Distribution service and equipment can matter independently of the large-load process.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https://sourceblue.com/equipment-cost-index/q2-2026-cost-index-report</a:t>
            </a:r>
          </a:p>
          <a:p xmlns:a="http://schemas.openxmlformats.org/drawingml/2006/main">
            <a:r>
              <a:t>Underlying report: https://sourceblue.blob.core.windows.net/qa-sourceblue/uploads/media/1786376580684-59991e4c8f932e82.pdf</a:t>
            </a:r>
          </a:p>
          <a:p xmlns:a="http://schemas.openxmlformats.org/drawingml/2006/main">
            <a:r>
              <a:t>These are external procurement benchmarks, not assumed project durations or observed Alberta delivery commitments. Ranges vary by product and manufacturer. Confirm release-to-manufacture basis, freight, testing and installation before building a project schedule. No weeks of project delay are calculated.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decisions, not existing mandates, approved funding or assigned commitments. The capital review should distinguish contract-protected spend, allowances already held and genuinely uncommitted exposure. Early orders require stable designs, procurement authority, cancellation terms and a costed business case. Coordinate facility timelines without assuming AESO has responsibility for every distribution connection. Training and contractor participation require agreement; no outreach has occurred.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coefficients: construction share 30/40/50%, labour share 30/35/40%, loaded hourly cost $100/$90/$80, electrician/HVAC payroll shares 20/10%, 1840 paid hours per FTE-year. Each project retains reported dates and explicitly inferred endpoints or assigned starts. Undated start = evidence month + 18 months, default duration 36 months, triangular work curves. Full, 50% proposed-volume and 48-month undated-duration sensitivities. No calibrated probabilities, spare capacity or causal cost elasticity. Budget sensitivities remain separate from labour demand.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396c6ae0d5e442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36ebd03ba94481a" /><Relationship Type="http://schemas.openxmlformats.org/officeDocument/2006/relationships/slideLayout" Target="/ppt/slideLayouts/slideLayout1.xml" Id="R9e6339cff9ab4d0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e6339cff9ab4d0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312fd3d1762437f" /><Relationship Type="http://schemas.openxmlformats.org/officeDocument/2006/relationships/notesSlide" Target="/ppt/notesSlides/notesSlide1.xml" Id="R9abff9e6a29749c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75f39c03e3d4cce" /><Relationship Type="http://schemas.openxmlformats.org/officeDocument/2006/relationships/chart" Target="/ppt/slides/charts/chart1.xml" Id="R8acbe37ef6a94297" /><Relationship Type="http://schemas.openxmlformats.org/officeDocument/2006/relationships/notesSlide" Target="/ppt/notesSlides/notesSlide2.xml" Id="R124bb27cd11a434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2b572af9fd04ff0" /><Relationship Type="http://schemas.openxmlformats.org/officeDocument/2006/relationships/chart" Target="/ppt/slides/charts/chart2.xml" Id="R79f355d32ca9467a" /><Relationship Type="http://schemas.openxmlformats.org/officeDocument/2006/relationships/notesSlide" Target="/ppt/notesSlides/notesSlide3.xml" Id="Rc0f8d7184d7f4f2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3d79563ae3444aa" /><Relationship Type="http://schemas.openxmlformats.org/officeDocument/2006/relationships/notesSlide" Target="/ppt/notesSlides/notesSlide4.xml" Id="Rd85b0635d27e476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1c57c4e1dae48df" /><Relationship Type="http://schemas.openxmlformats.org/officeDocument/2006/relationships/chart" Target="/ppt/slides/charts/chart3.xml" Id="R09e23e2cda7f4be3" /><Relationship Type="http://schemas.openxmlformats.org/officeDocument/2006/relationships/notesSlide" Target="/ppt/notesSlides/notesSlide5.xml" Id="R7ba83f422ed6471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9cf7e3425f44008" /><Relationship Type="http://schemas.openxmlformats.org/officeDocument/2006/relationships/notesSlide" Target="/ppt/notesSlides/notesSlide6.xml" Id="R4fcc38637254494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1d0b64d2a2f417a" /><Relationship Type="http://schemas.openxmlformats.org/officeDocument/2006/relationships/chart" Target="/ppt/slides/charts/chart4.xml" Id="R038ab7dc6b614184" /><Relationship Type="http://schemas.openxmlformats.org/officeDocument/2006/relationships/notesSlide" Target="/ppt/notesSlides/notesSlide7.xml" Id="R4be49737d3f7494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787b954a4cf4643" /><Relationship Type="http://schemas.openxmlformats.org/officeDocument/2006/relationships/notesSlide" Target="/ppt/notesSlides/notesSlide8.xml" Id="Rdcc4a69732994c4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46d7167fb344626" /><Relationship Type="http://schemas.openxmlformats.org/officeDocument/2006/relationships/notesSlide" Target="/ppt/notesSlides/notesSlide9.xml" Id="Rb04a2c1f918d478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412263edf2e44f5" /><Relationship Type="http://schemas.openxmlformats.org/officeDocument/2006/relationships/notesSlide" Target="/ppt/notesSlides/notesSlide10.xml" Id="Ra724deb5505b4c4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11fa148ba2d439a" /><Relationship Type="http://schemas.openxmlformats.org/officeDocument/2006/relationships/notesSlide" Target="/ppt/notesSlides/notesSlide11.xml" Id="Rffc13a54bfbb4c0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864354d87f94817" /><Relationship Type="http://schemas.openxmlformats.org/officeDocument/2006/relationships/notesSlide" Target="/ppt/notesSlides/notesSlide12.xml" Id="Rb14be514969f4ed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dc3eef7d42a424c" /><Relationship Type="http://schemas.openxmlformats.org/officeDocument/2006/relationships/notesSlide" Target="/ppt/notesSlides/notesSlide13.xml" Id="R7fad3725eedc4f0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Data-centre records</c:v>
          </c:tx>
          <c:spPr>
            <a:solidFill xmlns:a="http://schemas.openxmlformats.org/drawingml/2006/main">
              <a:srgbClr val="0077CD"/>
            </a:solidFill>
            <a:ln xmlns:a="http://schemas.openxmlformats.org/drawingml/2006/main" w="28575">
              <a:solidFill>
                <a:srgbClr val="0077CD"/>
              </a:solidFill>
            </a:ln>
          </c:spPr>
          <c:cat>
            <c:strRef>
              <c:f>'Chart Data'!$A$2:$A$3</c:f>
              <c:strCache>
                <c:ptCount val="2"/>
                <c:pt idx="0">
                  <c:v>Proposed</c:v>
                </c:pt>
                <c:pt idx="1">
                  <c:v>Under construction</c:v>
                </c:pt>
              </c:strCache>
            </c:strRef>
          </c:cat>
          <c:val>
            <c:numRef>
              <c:f>'Chart Data'!$B$2:$B$3</c:f>
              <c:numCache>
                <c:formatCode>#,##0</c:formatCode>
                <c:ptCount val="2"/>
                <c:pt idx="0">
                  <c:v>15</c:v>
                </c:pt>
                <c:pt idx="1">
                  <c:v>4</c:v>
                </c:pt>
              </c:numCache>
            </c:numRef>
          </c:val>
        </c:ser>
        <c:dLbls>
          <c:txPr>
            <a:bodyPr xmlns:a="http://schemas.openxmlformats.org/drawingml/2006/main" anchorCtr="1"/>
            <a:lstStyle xmlns:a="http://schemas.openxmlformats.org/drawingml/2006/main"/>
            <a:p xmlns:a="http://schemas.openxmlformats.org/drawingml/2006/main">
              <a:pPr>
                <a:defRPr sz="1425">
                  <a:solidFill>
                    <a:srgbClr val="333333"/>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333333"/>
                </a:solidFill>
                <a:latin typeface="Helvetica Neue"/>
                <a:ea typeface="Helvetica Neue"/>
                <a:cs typeface="Helvetica Neue"/>
              </a:defRPr>
            </a:pPr>
          </a:p>
        </c:txPr>
        <c:crossAx val="48672768"/>
      </c:catAx>
      <c:valAx>
        <c:axId val="48672768"/>
        <c:scaling>
          <c:orientation val="minMax"/>
          <c:min val="0"/>
        </c:scaling>
        <c:delete val="0"/>
        <c:axPos val="l"/>
        <c:majorGridlines>
          <c:spPr>
            <a:ln xmlns:a="http://schemas.openxmlformats.org/drawingml/2006/main" w="4763">
              <a:solidFill>
                <a:srgbClr val="DCDCDC"/>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333333"/>
                </a:solidFill>
                <a:latin typeface="Helvetica Neue"/>
                <a:ea typeface="Helvetica Neue"/>
                <a:cs typeface="Helvetica Neue"/>
              </a:defRPr>
            </a:pPr>
          </a:p>
        </c:txPr>
        <c:crossAx val="48650112"/>
        <c:crossBetween val="between"/>
      </c:valAx>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Reported CAD billions</c:v>
          </c:tx>
          <c:spPr>
            <a:solidFill xmlns:a="http://schemas.openxmlformats.org/drawingml/2006/main">
              <a:srgbClr val="0077CD"/>
            </a:solidFill>
            <a:ln xmlns:a="http://schemas.openxmlformats.org/drawingml/2006/main" w="28575">
              <a:solidFill>
                <a:srgbClr val="0077CD"/>
              </a:solidFill>
            </a:ln>
          </c:spPr>
          <c:cat>
            <c:strRef>
              <c:f>'Chart Data'!$A$2:$A$8</c:f>
              <c:strCache>
                <c:ptCount val="7"/>
                <c:pt idx="0">
                  <c:v>Malachite One</c:v>
                </c:pt>
                <c:pt idx="1">
                  <c:v>Meta</c:v>
                </c:pt>
                <c:pt idx="2">
                  <c:v>Wonder Valley P1</c:v>
                </c:pt>
                <c:pt idx="3">
                  <c:v>Beacon Foothills</c:v>
                </c:pt>
                <c:pt idx="4">
                  <c:v>Crusoe Alberta</c:v>
                </c:pt>
                <c:pt idx="5">
                  <c:v>TNE Data District P1</c:v>
                </c:pt>
                <c:pt idx="6">
                  <c:v>eStruxture CAL-3</c:v>
                </c:pt>
              </c:strCache>
            </c:strRef>
          </c:cat>
          <c:val>
            <c:numRef>
              <c:f>'Chart Data'!$B$2:$B$8</c:f>
              <c:numCache>
                <c:formatCode>0.00</c:formatCode>
                <c:ptCount val="7"/>
                <c:pt idx="0">
                  <c:v>15</c:v>
                </c:pt>
                <c:pt idx="1">
                  <c:v>13</c:v>
                </c:pt>
                <c:pt idx="2">
                  <c:v>12</c:v>
                </c:pt>
                <c:pt idx="3">
                  <c:v>4</c:v>
                </c:pt>
                <c:pt idx="4">
                  <c:v>3</c:v>
                </c:pt>
                <c:pt idx="5">
                  <c:v>1.26</c:v>
                </c:pt>
                <c:pt idx="6">
                  <c:v>0.75</c:v>
                </c:pt>
              </c:numCache>
            </c:numRef>
          </c:val>
        </c:ser>
        <c:dLbls>
          <c:txPr>
            <a:bodyPr xmlns:a="http://schemas.openxmlformats.org/drawingml/2006/main" anchorCtr="1"/>
            <a:lstStyle xmlns:a="http://schemas.openxmlformats.org/drawingml/2006/main"/>
            <a:p xmlns:a="http://schemas.openxmlformats.org/drawingml/2006/main">
              <a:pPr>
                <a:defRPr sz="1425">
                  <a:solidFill>
                    <a:srgbClr val="333333"/>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333333"/>
                </a:solidFill>
                <a:latin typeface="Helvetica Neue"/>
                <a:ea typeface="Helvetica Neue"/>
                <a:cs typeface="Helvetica Neue"/>
              </a:defRPr>
            </a:pPr>
          </a:p>
        </c:txPr>
        <c:crossAx val="48672768"/>
      </c:catAx>
      <c:valAx>
        <c:axId val="48672768"/>
        <c:scaling>
          <c:orientation val="minMax"/>
          <c:min val="0"/>
        </c:scaling>
        <c:delete val="0"/>
        <c:axPos val="b"/>
        <c:majorGridlines>
          <c:spPr>
            <a:ln xmlns:a="http://schemas.openxmlformats.org/drawingml/2006/main" w="4763">
              <a:solidFill>
                <a:srgbClr val="DCDCDC"/>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CAD billions</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333333"/>
                </a:solidFill>
                <a:latin typeface="Helvetica Neue"/>
                <a:ea typeface="Helvetica Neue"/>
                <a:cs typeface="Helvetica Neue"/>
              </a:defRPr>
            </a:pPr>
          </a:p>
        </c:txPr>
        <c:crossAx val="48650112"/>
        <c:crossBetween val="between"/>
      </c:valAx>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Reported year anchor</c:v>
          </c:tx>
          <c:spPr>
            <a:solidFill xmlns:a="http://schemas.openxmlformats.org/drawingml/2006/main">
              <a:srgbClr val="0077CD"/>
            </a:solidFill>
            <a:ln xmlns:a="http://schemas.openxmlformats.org/drawingml/2006/main" w="28575">
              <a:solidFill>
                <a:srgbClr val="0077CD"/>
              </a:solidFill>
            </a:ln>
          </c:spPr>
          <c:cat>
            <c:numRef>
              <c:f>'Chart Data'!$A$2:$A$7</c:f>
              <c:numCache>
                <c:formatCode>General</c:formatCode>
                <c:ptCount val="6"/>
                <c:pt idx="0">
                  <c:v>2027</c:v>
                </c:pt>
                <c:pt idx="1">
                  <c:v>2028</c:v>
                </c:pt>
                <c:pt idx="2">
                  <c:v>2029</c:v>
                </c:pt>
                <c:pt idx="3">
                  <c:v>2030</c:v>
                </c:pt>
                <c:pt idx="4">
                  <c:v>2031</c:v>
                </c:pt>
                <c:pt idx="5">
                  <c:v>2032</c:v>
                </c:pt>
              </c:numCache>
            </c:numRef>
          </c:cat>
          <c:val>
            <c:numRef>
              <c:f>'Chart Data'!$B$2:$B$7</c:f>
              <c:numCache>
                <c:formatCode>#,##0</c:formatCode>
                <c:ptCount val="6"/>
                <c:pt idx="0">
                  <c:v>28.63959</c:v>
                </c:pt>
                <c:pt idx="1">
                  <c:v>710.60416</c:v>
                </c:pt>
                <c:pt idx="2">
                  <c:v>1446.42452</c:v>
                </c:pt>
                <c:pt idx="3">
                  <c:v>563.60709</c:v>
                </c:pt>
                <c:pt idx="4">
                  <c:v>0</c:v>
                </c:pt>
                <c:pt idx="5">
                  <c:v>0</c:v>
                </c:pt>
              </c:numCache>
            </c:numRef>
          </c:val>
        </c:ser>
        <c:ser>
          <c:idx val="1"/>
          <c:order val="1"/>
          <c:tx>
            <c:v>Fully fallback-scheduled</c:v>
          </c:tx>
          <c:spPr>
            <a:solidFill xmlns:a="http://schemas.openxmlformats.org/drawingml/2006/main">
              <a:srgbClr val="FFC836"/>
            </a:solidFill>
            <a:ln xmlns:a="http://schemas.openxmlformats.org/drawingml/2006/main" w="28575">
              <a:solidFill>
                <a:srgbClr val="FFC836"/>
              </a:solidFill>
            </a:ln>
          </c:spPr>
          <c:cat>
            <c:numRef>
              <c:f>'Chart Data'!$C$2:$C$7</c:f>
              <c:numCache>
                <c:formatCode>General</c:formatCode>
                <c:ptCount val="6"/>
                <c:pt idx="0">
                  <c:v>2027</c:v>
                </c:pt>
                <c:pt idx="1">
                  <c:v>2028</c:v>
                </c:pt>
                <c:pt idx="2">
                  <c:v>2029</c:v>
                </c:pt>
                <c:pt idx="3">
                  <c:v>2030</c:v>
                </c:pt>
                <c:pt idx="4">
                  <c:v>2031</c:v>
                </c:pt>
                <c:pt idx="5">
                  <c:v>2032</c:v>
                </c:pt>
              </c:numCache>
            </c:numRef>
          </c:cat>
          <c:val>
            <c:numRef>
              <c:f>'Chart Data'!$D$2:$D$7</c:f>
              <c:numCache>
                <c:formatCode>#,##0</c:formatCode>
                <c:ptCount val="6"/>
                <c:pt idx="0">
                  <c:v>0</c:v>
                </c:pt>
                <c:pt idx="1">
                  <c:v>14.84397</c:v>
                </c:pt>
                <c:pt idx="2">
                  <c:v>2493.7874</c:v>
                </c:pt>
                <c:pt idx="3">
                  <c:v>2842.62076</c:v>
                </c:pt>
                <c:pt idx="4">
                  <c:v>59.37589</c:v>
                </c:pt>
                <c:pt idx="5">
                  <c:v>0</c:v>
                </c:pt>
              </c:numCache>
            </c:numRef>
          </c:val>
        </c:ser>
        <c:dLbls>
          <c:txPr>
            <a:bodyPr xmlns:a="http://schemas.openxmlformats.org/drawingml/2006/main" anchorCtr="1"/>
            <a:lstStyle xmlns:a="http://schemas.openxmlformats.org/drawingml/2006/main"/>
            <a:p xmlns:a="http://schemas.openxmlformats.org/drawingml/2006/main">
              <a:pPr>
                <a:defRPr sz="1425">
                  <a:solidFill>
                    <a:srgbClr val="333333"/>
                  </a:solidFill>
                  <a:latin typeface="Helvetica Neue"/>
                  <a:ea typeface="Helvetica Neue"/>
                  <a:cs typeface="Helvetica Neue"/>
                </a:defRPr>
              </a:pPr>
            </a:p>
          </c:txPr>
          <c:dLblPos val="ctr"/>
          <c:showLegendKey val="0"/>
          <c:showVal val="0"/>
          <c:showCatName val="0"/>
          <c:showSerName val="0"/>
          <c:showPercent val="0"/>
          <c:showBubbleSize val="0"/>
          <c:showLeaderLines val="0"/>
        </c:dLbls>
        <c:gapWidth val="90"/>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333333"/>
                </a:solidFill>
                <a:latin typeface="Helvetica Neue"/>
                <a:ea typeface="Helvetica Neue"/>
                <a:cs typeface="Helvetica Neue"/>
              </a:defRPr>
            </a:pPr>
          </a:p>
        </c:txPr>
        <c:crossAx val="48672768"/>
      </c:catAx>
      <c:valAx>
        <c:axId val="48672768"/>
        <c:scaling>
          <c:orientation val="minMax"/>
          <c:min val="0"/>
        </c:scaling>
        <c:delete val="0"/>
        <c:axPos val="l"/>
        <c:majorGridlines>
          <c:spPr>
            <a:ln xmlns:a="http://schemas.openxmlformats.org/drawingml/2006/main" w="4763">
              <a:solidFill>
                <a:srgbClr val="DCDCDC"/>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333333"/>
                </a:solidFill>
                <a:latin typeface="Helvetica Neue"/>
                <a:ea typeface="Helvetica Neue"/>
                <a:cs typeface="Helvetica Neue"/>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Calgary</c:v>
          </c:tx>
          <c:spPr>
            <a:solidFill xmlns:a="http://schemas.openxmlformats.org/drawingml/2006/main">
              <a:srgbClr val="0077CD"/>
            </a:solidFill>
            <a:ln xmlns:a="http://schemas.openxmlformats.org/drawingml/2006/main" w="28575">
              <a:solidFill>
                <a:srgbClr val="0077CD"/>
              </a:solidFill>
            </a:ln>
          </c:spPr>
          <c:cat>
            <c:strRef>
              <c:f>'Chart Data'!$A$2:$A$5</c:f>
              <c:strCache>
                <c:ptCount val="4"/>
                <c:pt idx="0">
                  <c:v>Concrete</c:v>
                </c:pt>
                <c:pt idx="1">
                  <c:v>Structural steel</c:v>
                </c:pt>
                <c:pt idx="2">
                  <c:v>Electrical systems</c:v>
                </c:pt>
                <c:pt idx="3">
                  <c:v>HVAC</c:v>
                </c:pt>
              </c:strCache>
            </c:strRef>
          </c:cat>
          <c:val>
            <c:numRef>
              <c:f>'Chart Data'!$B$2:$B$5</c:f>
              <c:numCache>
                <c:formatCode>0.0"%"</c:formatCode>
                <c:ptCount val="4"/>
                <c:pt idx="0">
                  <c:v>4.11</c:v>
                </c:pt>
                <c:pt idx="1">
                  <c:v>7.3</c:v>
                </c:pt>
                <c:pt idx="2">
                  <c:v>0.83</c:v>
                </c:pt>
                <c:pt idx="3">
                  <c:v>10.05</c:v>
                </c:pt>
              </c:numCache>
            </c:numRef>
          </c:val>
        </c:ser>
        <c:ser>
          <c:idx val="1"/>
          <c:order val="1"/>
          <c:tx>
            <c:v>Edmonton</c:v>
          </c:tx>
          <c:spPr>
            <a:solidFill xmlns:a="http://schemas.openxmlformats.org/drawingml/2006/main">
              <a:srgbClr val="00B6ED"/>
            </a:solidFill>
            <a:ln xmlns:a="http://schemas.openxmlformats.org/drawingml/2006/main" w="28575">
              <a:solidFill>
                <a:srgbClr val="00B6ED"/>
              </a:solidFill>
            </a:ln>
          </c:spPr>
          <c:cat>
            <c:strRef>
              <c:f>'Chart Data'!$C$2:$C$5</c:f>
              <c:strCache>
                <c:ptCount val="4"/>
                <c:pt idx="0">
                  <c:v>Concrete</c:v>
                </c:pt>
                <c:pt idx="1">
                  <c:v>Structural steel</c:v>
                </c:pt>
                <c:pt idx="2">
                  <c:v>Electrical systems</c:v>
                </c:pt>
                <c:pt idx="3">
                  <c:v>HVAC</c:v>
                </c:pt>
              </c:strCache>
            </c:strRef>
          </c:cat>
          <c:val>
            <c:numRef>
              <c:f>'Chart Data'!$D$2:$D$5</c:f>
              <c:numCache>
                <c:formatCode>0.0"%"</c:formatCode>
                <c:ptCount val="4"/>
                <c:pt idx="0">
                  <c:v>5.24</c:v>
                </c:pt>
                <c:pt idx="1">
                  <c:v>10.44</c:v>
                </c:pt>
                <c:pt idx="2">
                  <c:v>1.01</c:v>
                </c:pt>
                <c:pt idx="3">
                  <c:v>10.05</c:v>
                </c:pt>
              </c:numCache>
            </c:numRef>
          </c:val>
        </c:ser>
        <c:dLbls>
          <c:txPr>
            <a:bodyPr xmlns:a="http://schemas.openxmlformats.org/drawingml/2006/main" anchorCtr="1"/>
            <a:lstStyle xmlns:a="http://schemas.openxmlformats.org/drawingml/2006/main"/>
            <a:p xmlns:a="http://schemas.openxmlformats.org/drawingml/2006/main">
              <a:pPr>
                <a:defRPr sz="1425">
                  <a:solidFill>
                    <a:srgbClr val="333333"/>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333333"/>
                </a:solidFill>
                <a:latin typeface="Helvetica Neue"/>
                <a:ea typeface="Helvetica Neue"/>
                <a:cs typeface="Helvetica Neue"/>
              </a:defRPr>
            </a:pPr>
          </a:p>
        </c:txPr>
        <c:crossAx val="48672768"/>
      </c:catAx>
      <c:valAx>
        <c:axId val="48672768"/>
        <c:scaling>
          <c:orientation val="minMax"/>
          <c:min val="0"/>
        </c:scaling>
        <c:delete val="0"/>
        <c:axPos val="l"/>
        <c:majorGridlines>
          <c:spPr>
            <a:ln xmlns:a="http://schemas.openxmlformats.org/drawingml/2006/main" w="4763">
              <a:solidFill>
                <a:srgbClr val="DCDCDC"/>
              </a:solidFill>
            </a:ln>
          </c:spPr>
        </c:majorGridlines>
        <c:numFmt formatCode="0.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333333"/>
                </a:solidFill>
                <a:latin typeface="Helvetica Neue"/>
                <a:ea typeface="Helvetica Neue"/>
                <a:cs typeface="Helvetica Neue"/>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077C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135F2D4-43AF-4923-BD43-B06CA559FC63}"/>
              </a:ext>
            </a:extLst>
          </p:cNvPr>
          <p:cNvSpPr>
            <a:spLocks xmlns:a="http://schemas.openxmlformats.org/drawingml/2006/main" noGrp="1"/>
          </p:cNvSpPr>
          <p:nvPr/>
        </p:nvSpPr>
        <p:spPr>
          <a:xfrm xmlns:a="http://schemas.openxmlformats.org/drawingml/2006/main">
            <a:off x="666750" y="142875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FFFFFF"/>
                </a:solidFill>
                <a:latin typeface="Helvetica Neue"/>
                <a:ea typeface="Helvetica Neue"/>
                <a:cs typeface="Helvetica Neue"/>
              </a:defRPr>
            </a:pPr>
            <a:r>
              <a:rPr sz="4950" b="1">
                <a:solidFill>
                  <a:srgbClr val="FFFFFF"/>
                </a:solidFill>
                <a:latin typeface="Helvetica Neue"/>
                <a:ea typeface="Helvetica Neue"/>
                <a:cs typeface="Helvetica Neue"/>
              </a:rPr>
              <a:t>Alberta data centres</a:t>
            </a:r>
          </a:p>
        </p:txBody>
      </p:sp>
      <p:sp>
        <p:nvSpPr>
          <p:cNvPr id="2" name="">
            <a:extLst xmlns:a="http://schemas.openxmlformats.org/drawingml/2006/main">
              <a:ext uri="{FF2B5EF4-FFF2-40B4-BE49-F238E27FC236}">
                <a16:creationId xmlns:a16="http://schemas.microsoft.com/office/drawing/2014/main" id="{6EBB3208-E4D1-4FAC-94F5-D5652D5D80C2}"/>
              </a:ext>
            </a:extLst>
          </p:cNvPr>
          <p:cNvSpPr>
            <a:spLocks xmlns:a="http://schemas.openxmlformats.org/drawingml/2006/main" noGrp="1"/>
          </p:cNvSpPr>
          <p:nvPr/>
        </p:nvSpPr>
        <p:spPr>
          <a:xfrm xmlns:a="http://schemas.openxmlformats.org/drawingml/2006/main">
            <a:off x="704850" y="2905125"/>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FFFFFF"/>
                </a:solidFill>
                <a:latin typeface="Helvetica Neue"/>
                <a:ea typeface="Helvetica Neue"/>
                <a:cs typeface="Helvetica Neue"/>
              </a:defRPr>
            </a:pPr>
            <a:r>
              <a:rPr sz="3300" b="0">
                <a:solidFill>
                  <a:srgbClr val="FFFFFF"/>
                </a:solidFill>
                <a:latin typeface="Helvetica Neue"/>
                <a:ea typeface="Helvetica Neue"/>
                <a:cs typeface="Helvetica Neue"/>
              </a:rPr>
              <a:t>Capital exposure and decisions for Infrastructure</a:t>
            </a:r>
          </a:p>
        </p:txBody>
      </p:sp>
      <p:sp>
        <p:nvSpPr>
          <p:cNvPr id="3" name="">
            <a:extLst xmlns:a="http://schemas.openxmlformats.org/drawingml/2006/main">
              <a:ext uri="{FF2B5EF4-FFF2-40B4-BE49-F238E27FC236}">
                <a16:creationId xmlns:a16="http://schemas.microsoft.com/office/drawing/2014/main" id="{3FB0A5D1-B7AE-4163-AA58-D8C6938CA641}"/>
              </a:ext>
            </a:extLst>
          </p:cNvPr>
          <p:cNvSpPr>
            <a:spLocks xmlns:a="http://schemas.openxmlformats.org/drawingml/2006/main" noGrp="1"/>
          </p:cNvSpPr>
          <p:nvPr/>
        </p:nvSpPr>
        <p:spPr>
          <a:xfrm xmlns:a="http://schemas.openxmlformats.org/drawingml/2006/main">
            <a:off x="704850" y="5238750"/>
            <a:ext cx="714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Helvetica Neue"/>
                <a:ea typeface="Helvetica Neue"/>
                <a:cs typeface="Helvetica Neue"/>
              </a:defRPr>
            </a:pPr>
            <a:r>
              <a:rPr sz="1875" b="0">
                <a:solidFill>
                  <a:srgbClr val="FFFFFF"/>
                </a:solidFill>
                <a:latin typeface="Helvetica Neue"/>
                <a:ea typeface="Helvetica Neue"/>
                <a:cs typeface="Helvetica Neue"/>
              </a:rPr>
              <a:t>September 2026</a:t>
            </a:r>
          </a:p>
        </p:txBody>
      </p:sp>
    </p:spTree>
    <p:extLst>
      <p:ext uri="{BB962C8B-B14F-4D97-AF65-F5344CB8AC3E}">
        <p14:creationId xmlns:p14="http://schemas.microsoft.com/office/powerpoint/2010/main" val="26616240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B913C13-8086-45F8-8DB3-AED3256E1946}"/>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A proposed pipeline meets an active construction market</a:t>
            </a:r>
          </a:p>
        </p:txBody>
      </p:sp>
      <p:sp>
        <p:nvSpPr>
          <p:cNvPr id="2" name="">
            <a:extLst xmlns:a="http://schemas.openxmlformats.org/drawingml/2006/main">
              <a:ext uri="{FF2B5EF4-FFF2-40B4-BE49-F238E27FC236}">
                <a16:creationId xmlns:a16="http://schemas.microsoft.com/office/drawing/2014/main" id="{AA43815B-28C2-45FB-AFB2-70146F2F1ECC}"/>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19 identified data-centre records sit alongside substantial infrastructure investment.</a:t>
            </a:r>
          </a:p>
        </p:txBody>
      </p:sp>
      <p:sp>
        <p:nvSpPr>
          <p:cNvPr id="3" name="">
            <a:extLst xmlns:a="http://schemas.openxmlformats.org/drawingml/2006/main">
              <a:ext uri="{FF2B5EF4-FFF2-40B4-BE49-F238E27FC236}">
                <a16:creationId xmlns:a16="http://schemas.microsoft.com/office/drawing/2014/main" id="{B2B02718-E11A-4C15-B808-BCEB6BA2BDAE}"/>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Sources: Alberta Major Projects, 31 Aug 2026; Alberta first-quarter fiscal update, 2026–27</a:t>
            </a:r>
          </a:p>
        </p:txBody>
      </p:sp>
      <p:sp>
        <p:nvSpPr>
          <p:cNvPr id="4" name="">
            <a:extLst xmlns:a="http://schemas.openxmlformats.org/drawingml/2006/main">
              <a:ext uri="{FF2B5EF4-FFF2-40B4-BE49-F238E27FC236}">
                <a16:creationId xmlns:a16="http://schemas.microsoft.com/office/drawing/2014/main" id="{8C672BAB-D854-4BF9-B1E9-06A276A8CB22}"/>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2</a:t>
            </a:r>
          </a:p>
        </p:txBody>
      </p:sp>
      <p:graphicFrame>
        <p:nvGraphicFramePr>
          <p:cNvPr id="13" name="Chart"/>
          <p:cNvGraphicFramePr/>
          <p:nvPr/>
        </p:nvGraphicFramePr>
        <p:xfrm>
          <a:off xmlns:a="http://schemas.openxmlformats.org/drawingml/2006/main" x="609600" y="2286000"/>
          <a:ext xmlns:a="http://schemas.openxmlformats.org/drawingml/2006/main" cx="6572250" cy="3238500"/>
        </p:xfrm>
        <a:graphic xmlns:a="http://schemas.openxmlformats.org/drawingml/2006/main">
          <a:graphicData uri="http://schemas.openxmlformats.org/drawingml/2006/chart">
            <c:chart xmlns:r="http://schemas.openxmlformats.org/officeDocument/2006/relationships" xmlns:c="http://schemas.openxmlformats.org/drawingml/2006/chart" r:id="R8acbe37ef6a94297"/>
          </a:graphicData>
        </a:graphic>
      </p:graphicFrame>
      <p:sp>
        <p:nvSpPr>
          <p:cNvPr id="6" name="">
            <a:extLst xmlns:a="http://schemas.openxmlformats.org/drawingml/2006/main">
              <a:ext uri="{FF2B5EF4-FFF2-40B4-BE49-F238E27FC236}">
                <a16:creationId xmlns:a16="http://schemas.microsoft.com/office/drawing/2014/main" id="{AC671A3C-2E66-4A70-BA9A-8EF474CEC651}"/>
              </a:ext>
            </a:extLst>
          </p:cNvPr>
          <p:cNvSpPr>
            <a:spLocks xmlns:a="http://schemas.openxmlformats.org/drawingml/2006/main" noGrp="1"/>
          </p:cNvSpPr>
          <p:nvPr/>
        </p:nvSpPr>
        <p:spPr>
          <a:xfrm xmlns:a="http://schemas.openxmlformats.org/drawingml/2006/main">
            <a:off x="7953375" y="2333625"/>
            <a:ext cx="352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0077CD"/>
                </a:solidFill>
                <a:latin typeface="Helvetica Neue"/>
                <a:ea typeface="Helvetica Neue"/>
                <a:cs typeface="Helvetica Neue"/>
              </a:defRPr>
            </a:pPr>
            <a:r>
              <a:rPr sz="3750" b="1">
                <a:solidFill>
                  <a:srgbClr val="0077CD"/>
                </a:solidFill>
                <a:latin typeface="Helvetica Neue"/>
                <a:ea typeface="Helvetica Neue"/>
                <a:cs typeface="Helvetica Neue"/>
              </a:rPr>
              <a:t>$10.687B</a:t>
            </a:r>
          </a:p>
        </p:txBody>
      </p:sp>
      <p:sp>
        <p:nvSpPr>
          <p:cNvPr id="7" name="">
            <a:extLst xmlns:a="http://schemas.openxmlformats.org/drawingml/2006/main">
              <a:ext uri="{FF2B5EF4-FFF2-40B4-BE49-F238E27FC236}">
                <a16:creationId xmlns:a16="http://schemas.microsoft.com/office/drawing/2014/main" id="{DFB930D5-4D4F-42A3-B83D-CBE5190A3148}"/>
              </a:ext>
            </a:extLst>
          </p:cNvPr>
          <p:cNvSpPr>
            <a:spLocks xmlns:a="http://schemas.openxmlformats.org/drawingml/2006/main" noGrp="1"/>
          </p:cNvSpPr>
          <p:nvPr/>
        </p:nvSpPr>
        <p:spPr>
          <a:xfrm xmlns:a="http://schemas.openxmlformats.org/drawingml/2006/main">
            <a:off x="7953375" y="3143250"/>
            <a:ext cx="3524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333333"/>
                </a:solidFill>
                <a:latin typeface="Helvetica Neue"/>
                <a:ea typeface="Helvetica Neue"/>
                <a:cs typeface="Helvetica Neue"/>
              </a:defRPr>
            </a:pPr>
            <a:r>
              <a:rPr sz="2100" b="0">
                <a:solidFill>
                  <a:srgbClr val="333333"/>
                </a:solidFill>
                <a:latin typeface="Helvetica Neue"/>
                <a:ea typeface="Helvetica Neue"/>
                <a:cs typeface="Helvetica Neue"/>
              </a:rPr>
              <a:t>Updated Alberta capital plan for FY2026–27</a:t>
            </a:r>
          </a:p>
        </p:txBody>
      </p:sp>
      <p:sp>
        <p:nvSpPr>
          <p:cNvPr id="8" name="">
            <a:extLst xmlns:a="http://schemas.openxmlformats.org/drawingml/2006/main">
              <a:ext uri="{FF2B5EF4-FFF2-40B4-BE49-F238E27FC236}">
                <a16:creationId xmlns:a16="http://schemas.microsoft.com/office/drawing/2014/main" id="{2157E7CE-9961-4CFF-97C5-0AF33C21ACCA}"/>
              </a:ext>
            </a:extLst>
          </p:cNvPr>
          <p:cNvSpPr>
            <a:spLocks xmlns:a="http://schemas.openxmlformats.org/drawingml/2006/main" noGrp="1"/>
          </p:cNvSpPr>
          <p:nvPr/>
        </p:nvSpPr>
        <p:spPr>
          <a:xfrm xmlns:a="http://schemas.openxmlformats.org/drawingml/2006/main">
            <a:off x="7953375" y="4591050"/>
            <a:ext cx="3524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333333"/>
                </a:solidFill>
                <a:latin typeface="Helvetica Neue"/>
                <a:ea typeface="Helvetica Neue"/>
                <a:cs typeface="Helvetica Neue"/>
              </a:defRPr>
            </a:pPr>
            <a:r>
              <a:rPr sz="2025" b="0">
                <a:solidFill>
                  <a:srgbClr val="333333"/>
                </a:solidFill>
                <a:latin typeface="Helvetica Neue"/>
                <a:ea typeface="Helvetica Neue"/>
                <a:cs typeface="Helvetica Neue"/>
              </a:rPr>
              <a:t>Shared trades and suppliers create potential competition as projects advance.</a:t>
            </a:r>
          </a:p>
        </p:txBody>
      </p:sp>
    </p:spTree>
    <p:extLst>
      <p:ext uri="{BB962C8B-B14F-4D97-AF65-F5344CB8AC3E}">
        <p14:creationId xmlns:p14="http://schemas.microsoft.com/office/powerpoint/2010/main" val="212555963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ED1D3B1-8130-4B41-B5EE-EA77062CFE11}"/>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Seven reported projects account for $49.01B</a:t>
            </a:r>
          </a:p>
        </p:txBody>
      </p:sp>
      <p:sp>
        <p:nvSpPr>
          <p:cNvPr id="2" name="">
            <a:extLst xmlns:a="http://schemas.openxmlformats.org/drawingml/2006/main">
              <a:ext uri="{FF2B5EF4-FFF2-40B4-BE49-F238E27FC236}">
                <a16:creationId xmlns:a16="http://schemas.microsoft.com/office/drawing/2014/main" id="{CD2ACF0E-808D-4C5B-BA08-6095BFD4A0D0}"/>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Reported investment estimates, CAD billions.</a:t>
            </a:r>
          </a:p>
        </p:txBody>
      </p:sp>
      <p:sp>
        <p:nvSpPr>
          <p:cNvPr id="3" name="">
            <a:extLst xmlns:a="http://schemas.openxmlformats.org/drawingml/2006/main">
              <a:ext uri="{FF2B5EF4-FFF2-40B4-BE49-F238E27FC236}">
                <a16:creationId xmlns:a16="http://schemas.microsoft.com/office/drawing/2014/main" id="{F18F498A-7A82-4CF6-8B17-AE3F88CCE2E7}"/>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Source: Alberta Major Projects, 31 Aug 2026. Twelve additional core records have no reported cost.</a:t>
            </a:r>
          </a:p>
        </p:txBody>
      </p:sp>
      <p:sp>
        <p:nvSpPr>
          <p:cNvPr id="4" name="">
            <a:extLst xmlns:a="http://schemas.openxmlformats.org/drawingml/2006/main">
              <a:ext uri="{FF2B5EF4-FFF2-40B4-BE49-F238E27FC236}">
                <a16:creationId xmlns:a16="http://schemas.microsoft.com/office/drawing/2014/main" id="{3E43FDA3-BBDA-4467-BD72-4DAD5F90E1F3}"/>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3</a:t>
            </a:r>
          </a:p>
        </p:txBody>
      </p:sp>
      <p:graphicFrame>
        <p:nvGraphicFramePr>
          <p:cNvPr id="11" name="Chart"/>
          <p:cNvGraphicFramePr/>
          <p:nvPr/>
        </p:nvGraphicFramePr>
        <p:xfrm>
          <a:off xmlns:a="http://schemas.openxmlformats.org/drawingml/2006/main" x="609600" y="2095500"/>
          <a:ext xmlns:a="http://schemas.openxmlformats.org/drawingml/2006/main" cx="10972800" cy="3667125"/>
        </p:xfrm>
        <a:graphic xmlns:a="http://schemas.openxmlformats.org/drawingml/2006/main">
          <a:graphicData uri="http://schemas.openxmlformats.org/drawingml/2006/chart">
            <c:chart xmlns:r="http://schemas.openxmlformats.org/officeDocument/2006/relationships" xmlns:c="http://schemas.openxmlformats.org/drawingml/2006/chart" r:id="R79f355d32ca9467a"/>
          </a:graphicData>
        </a:graphic>
      </p:graphicFrame>
      <p:sp>
        <p:nvSpPr>
          <p:cNvPr id="6" name="">
            <a:extLst xmlns:a="http://schemas.openxmlformats.org/drawingml/2006/main">
              <a:ext uri="{FF2B5EF4-FFF2-40B4-BE49-F238E27FC236}">
                <a16:creationId xmlns:a16="http://schemas.microsoft.com/office/drawing/2014/main" id="{F8A10362-D3B4-4D3D-9C56-039DEDC87C4C}"/>
              </a:ext>
            </a:extLst>
          </p:cNvPr>
          <p:cNvSpPr>
            <a:spLocks xmlns:a="http://schemas.openxmlformats.org/drawingml/2006/main" noGrp="1"/>
          </p:cNvSpPr>
          <p:nvPr/>
        </p:nvSpPr>
        <p:spPr>
          <a:xfrm xmlns:a="http://schemas.openxmlformats.org/drawingml/2006/main">
            <a:off x="609600" y="5829300"/>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2C4E"/>
                </a:solidFill>
                <a:latin typeface="Helvetica Neue"/>
                <a:ea typeface="Helvetica Neue"/>
                <a:cs typeface="Helvetica Neue"/>
              </a:defRPr>
            </a:pPr>
            <a:r>
              <a:rPr sz="1725" b="1">
                <a:solidFill>
                  <a:srgbClr val="002C4E"/>
                </a:solidFill>
                <a:latin typeface="Helvetica Neue"/>
                <a:ea typeface="Helvetica Neue"/>
                <a:cs typeface="Helvetica Neue"/>
              </a:rPr>
              <a:t>Construction-only scope is bracketed in the labour sizing scenario.</a:t>
            </a:r>
          </a:p>
        </p:txBody>
      </p:sp>
    </p:spTree>
    <p:extLst>
      <p:ext uri="{BB962C8B-B14F-4D97-AF65-F5344CB8AC3E}">
        <p14:creationId xmlns:p14="http://schemas.microsoft.com/office/powerpoint/2010/main" val="165609475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FC62654-2E7D-4C22-938F-9B5EF41A7183}"/>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Demand concentrates in shared construction packages</a:t>
            </a:r>
          </a:p>
        </p:txBody>
      </p:sp>
      <p:sp>
        <p:nvSpPr>
          <p:cNvPr id="2" name="">
            <a:extLst xmlns:a="http://schemas.openxmlformats.org/drawingml/2006/main">
              <a:ext uri="{FF2B5EF4-FFF2-40B4-BE49-F238E27FC236}">
                <a16:creationId xmlns:a16="http://schemas.microsoft.com/office/drawing/2014/main" id="{557DE953-4DD4-438A-8B32-6EFC6634A2D8}"/>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Civil works establish the site. Electrical and cooling systems drive specialist fit-out.</a:t>
            </a:r>
          </a:p>
        </p:txBody>
      </p:sp>
      <p:sp>
        <p:nvSpPr>
          <p:cNvPr id="3" name="">
            <a:extLst xmlns:a="http://schemas.openxmlformats.org/drawingml/2006/main">
              <a:ext uri="{FF2B5EF4-FFF2-40B4-BE49-F238E27FC236}">
                <a16:creationId xmlns:a16="http://schemas.microsoft.com/office/drawing/2014/main" id="{21C21CDF-7E37-4FE6-8C2D-40E7457473A4}"/>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Engineering scope classification; actual crew and supplier overlap depends on package timing and location.</a:t>
            </a:r>
          </a:p>
        </p:txBody>
      </p:sp>
      <p:sp>
        <p:nvSpPr>
          <p:cNvPr id="4" name="">
            <a:extLst xmlns:a="http://schemas.openxmlformats.org/drawingml/2006/main">
              <a:ext uri="{FF2B5EF4-FFF2-40B4-BE49-F238E27FC236}">
                <a16:creationId xmlns:a16="http://schemas.microsoft.com/office/drawing/2014/main" id="{9E0E8D36-0B80-43F9-93F2-178DEB752F53}"/>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4</a:t>
            </a:r>
          </a:p>
        </p:txBody>
      </p:sp>
      <p:graphicFrame>
        <p:nvGraphicFramePr>
          <p:cNvPr id="10" name=""/>
          <p:cNvGraphicFramePr/>
          <p:nvPr/>
        </p:nvGraphicFramePr>
        <p:xfrm>
          <a:off xmlns:a="http://schemas.openxmlformats.org/drawingml/2006/main" x="609600" y="2095500"/>
          <a:ext xmlns:a="http://schemas.openxmlformats.org/drawingml/2006/main" cx="10972800" cy="3714750"/>
        </p:xfrm>
        <a:graphic xmlns:a="http://schemas.openxmlformats.org/drawingml/2006/main">
          <a:graphicData uri="http://schemas.openxmlformats.org/drawingml/2006/table">
            <a:tbl>
              <a:tblPr/>
              <a:tblGrid>
                <a:gridCol w="2476500"/>
                <a:gridCol w="4286250"/>
                <a:gridCol w="4210050"/>
              </a:tblGrid>
              <a:tr h="742950">
                <a:tc>
                  <a:txBody>
                    <a:bodyPr/>
                    <a:lstStyle/>
                    <a:p>
                      <a:r>
                        <a:rPr sz="1650" b="1">
                          <a:solidFill>
                            <a:srgbClr val="FFFFFF"/>
                          </a:solidFill>
                          <a:latin typeface="Helvetica Neue"/>
                          <a:ea typeface="Helvetica Neue"/>
                          <a:cs typeface="Helvetica Neue"/>
                        </a:rPr>
                        <a:t>Package</a:t>
                      </a:r>
                    </a:p>
                  </a:txBody>
                  <a:tcPr marL="91440" marR="91440" marT="45720" marB="45720">
                    <a:solidFill>
                      <a:srgbClr val="0077CD"/>
                    </a:solidFill>
                  </a:tcPr>
                </a:tc>
                <a:tc>
                  <a:txBody>
                    <a:bodyPr/>
                    <a:lstStyle/>
                    <a:p>
                      <a:r>
                        <a:rPr sz="1650" b="1">
                          <a:solidFill>
                            <a:srgbClr val="FFFFFF"/>
                          </a:solidFill>
                          <a:latin typeface="Helvetica Neue"/>
                          <a:ea typeface="Helvetica Neue"/>
                          <a:cs typeface="Helvetica Neue"/>
                        </a:rPr>
                        <a:t>Labour demand</a:t>
                      </a:r>
                    </a:p>
                  </a:txBody>
                  <a:tcPr marL="91440" marR="91440" marT="45720" marB="45720">
                    <a:solidFill>
                      <a:srgbClr val="0077CD"/>
                    </a:solidFill>
                  </a:tcPr>
                </a:tc>
                <a:tc>
                  <a:txBody>
                    <a:bodyPr/>
                    <a:lstStyle/>
                    <a:p>
                      <a:r>
                        <a:rPr sz="1650" b="1">
                          <a:solidFill>
                            <a:srgbClr val="FFFFFF"/>
                          </a:solidFill>
                          <a:latin typeface="Helvetica Neue"/>
                          <a:ea typeface="Helvetica Neue"/>
                          <a:cs typeface="Helvetica Neue"/>
                        </a:rPr>
                        <a:t>Materials and equipment</a:t>
                      </a:r>
                    </a:p>
                  </a:txBody>
                  <a:tcPr marL="91440" marR="91440" marT="45720" marB="45720">
                    <a:solidFill>
                      <a:srgbClr val="0077CD"/>
                    </a:solidFill>
                  </a:tcPr>
                </a:tc>
              </a:tr>
              <a:tr h="742950">
                <a:tc>
                  <a:txBody>
                    <a:bodyPr/>
                    <a:lstStyle/>
                    <a:p>
                      <a:r>
                        <a:rPr sz="1650" b="0">
                          <a:solidFill>
                            <a:srgbClr val="333333"/>
                          </a:solidFill>
                          <a:latin typeface="Helvetica Neue"/>
                          <a:ea typeface="Helvetica Neue"/>
                          <a:cs typeface="Helvetica Neue"/>
                        </a:rPr>
                        <a:t>Civil / structural</a:t>
                      </a:r>
                    </a:p>
                  </a:txBody>
                  <a:tcPr marL="91440" marR="91440" marT="45720" marB="45720">
                    <a:solidFill>
                      <a:srgbClr val="FFFFFF"/>
                    </a:solidFill>
                  </a:tcPr>
                </a:tc>
                <a:tc>
                  <a:txBody>
                    <a:bodyPr/>
                    <a:lstStyle/>
                    <a:p>
                      <a:r>
                        <a:rPr sz="1650" b="0">
                          <a:solidFill>
                            <a:srgbClr val="333333"/>
                          </a:solidFill>
                          <a:latin typeface="Helvetica Neue"/>
                          <a:ea typeface="Helvetica Neue"/>
                          <a:cs typeface="Helvetica Neue"/>
                        </a:rPr>
                        <a:t>Operators, labourers, formwork crews, finishers, ironworkers</a:t>
                      </a:r>
                    </a:p>
                  </a:txBody>
                  <a:tcPr marL="91440" marR="91440" marT="45720" marB="45720">
                    <a:solidFill>
                      <a:srgbClr val="FFFFFF"/>
                    </a:solidFill>
                  </a:tcPr>
                </a:tc>
                <a:tc>
                  <a:txBody>
                    <a:bodyPr/>
                    <a:lstStyle/>
                    <a:p>
                      <a:r>
                        <a:rPr sz="1650" b="0">
                          <a:solidFill>
                            <a:srgbClr val="333333"/>
                          </a:solidFill>
                          <a:latin typeface="Helvetica Neue"/>
                          <a:ea typeface="Helvetica Neue"/>
                          <a:cs typeface="Helvetica Neue"/>
                        </a:rPr>
                        <a:t>Concrete, aggregate, reinforcing and structural steel</a:t>
                      </a:r>
                    </a:p>
                  </a:txBody>
                  <a:tcPr marL="91440" marR="91440" marT="45720" marB="45720">
                    <a:solidFill>
                      <a:srgbClr val="FFFFFF"/>
                    </a:solidFill>
                  </a:tcPr>
                </a:tc>
              </a:tr>
              <a:tr h="742950">
                <a:tc>
                  <a:txBody>
                    <a:bodyPr/>
                    <a:lstStyle/>
                    <a:p>
                      <a:r>
                        <a:rPr sz="1650" b="0">
                          <a:solidFill>
                            <a:srgbClr val="333333"/>
                          </a:solidFill>
                          <a:latin typeface="Helvetica Neue"/>
                          <a:ea typeface="Helvetica Neue"/>
                          <a:cs typeface="Helvetica Neue"/>
                        </a:rPr>
                        <a:t>Electrical</a:t>
                      </a:r>
                    </a:p>
                  </a:txBody>
                  <a:tcPr marL="91440" marR="91440" marT="45720" marB="45720">
                    <a:solidFill>
                      <a:srgbClr val="F2F2F2"/>
                    </a:solidFill>
                  </a:tcPr>
                </a:tc>
                <a:tc>
                  <a:txBody>
                    <a:bodyPr/>
                    <a:lstStyle/>
                    <a:p>
                      <a:r>
                        <a:rPr sz="1650" b="0">
                          <a:solidFill>
                            <a:srgbClr val="333333"/>
                          </a:solidFill>
                          <a:latin typeface="Helvetica Neue"/>
                          <a:ea typeface="Helvetica Neue"/>
                          <a:cs typeface="Helvetica Neue"/>
                        </a:rPr>
                        <a:t>Electricians, cable installers, controls and testing specialists</a:t>
                      </a:r>
                    </a:p>
                  </a:txBody>
                  <a:tcPr marL="91440" marR="91440" marT="45720" marB="45720">
                    <a:solidFill>
                      <a:srgbClr val="F2F2F2"/>
                    </a:solidFill>
                  </a:tcPr>
                </a:tc>
                <a:tc>
                  <a:txBody>
                    <a:bodyPr/>
                    <a:lstStyle/>
                    <a:p>
                      <a:r>
                        <a:rPr sz="1650" b="0">
                          <a:solidFill>
                            <a:srgbClr val="333333"/>
                          </a:solidFill>
                          <a:latin typeface="Helvetica Neue"/>
                          <a:ea typeface="Helvetica Neue"/>
                          <a:cs typeface="Helvetica Neue"/>
                        </a:rPr>
                        <a:t>Transformers, switchgear, cable, UPS and generators</a:t>
                      </a:r>
                    </a:p>
                  </a:txBody>
                  <a:tcPr marL="91440" marR="91440" marT="45720" marB="45720">
                    <a:solidFill>
                      <a:srgbClr val="F2F2F2"/>
                    </a:solidFill>
                  </a:tcPr>
                </a:tc>
              </a:tr>
              <a:tr h="742950">
                <a:tc>
                  <a:txBody>
                    <a:bodyPr/>
                    <a:lstStyle/>
                    <a:p>
                      <a:r>
                        <a:rPr sz="1650" b="0">
                          <a:solidFill>
                            <a:srgbClr val="333333"/>
                          </a:solidFill>
                          <a:latin typeface="Helvetica Neue"/>
                          <a:ea typeface="Helvetica Neue"/>
                          <a:cs typeface="Helvetica Neue"/>
                        </a:rPr>
                        <a:t>Mechanical / cooling</a:t>
                      </a:r>
                    </a:p>
                  </a:txBody>
                  <a:tcPr marL="91440" marR="91440" marT="45720" marB="45720">
                    <a:solidFill>
                      <a:srgbClr val="FFFFFF"/>
                    </a:solidFill>
                  </a:tcPr>
                </a:tc>
                <a:tc>
                  <a:txBody>
                    <a:bodyPr/>
                    <a:lstStyle/>
                    <a:p>
                      <a:r>
                        <a:rPr sz="1650" b="0">
                          <a:solidFill>
                            <a:srgbClr val="333333"/>
                          </a:solidFill>
                          <a:latin typeface="Helvetica Neue"/>
                          <a:ea typeface="Helvetica Neue"/>
                          <a:cs typeface="Helvetica Neue"/>
                        </a:rPr>
                        <a:t>HVAC and sheet-metal workers, pipefitters, plumbers, insulators</a:t>
                      </a:r>
                    </a:p>
                  </a:txBody>
                  <a:tcPr marL="91440" marR="91440" marT="45720" marB="45720">
                    <a:solidFill>
                      <a:srgbClr val="FFFFFF"/>
                    </a:solidFill>
                  </a:tcPr>
                </a:tc>
                <a:tc>
                  <a:txBody>
                    <a:bodyPr/>
                    <a:lstStyle/>
                    <a:p>
                      <a:r>
                        <a:rPr sz="1650" b="0">
                          <a:solidFill>
                            <a:srgbClr val="333333"/>
                          </a:solidFill>
                          <a:latin typeface="Helvetica Neue"/>
                          <a:ea typeface="Helvetica Neue"/>
                          <a:cs typeface="Helvetica Neue"/>
                        </a:rPr>
                        <a:t>Chillers, air handlers, pumps, pipework and ducts</a:t>
                      </a:r>
                    </a:p>
                  </a:txBody>
                  <a:tcPr marL="91440" marR="91440" marT="45720" marB="45720">
                    <a:solidFill>
                      <a:srgbClr val="FFFFFF"/>
                    </a:solidFill>
                  </a:tcPr>
                </a:tc>
              </a:tr>
              <a:tr h="742950">
                <a:tc>
                  <a:txBody>
                    <a:bodyPr/>
                    <a:lstStyle/>
                    <a:p>
                      <a:r>
                        <a:rPr sz="1650" b="0">
                          <a:solidFill>
                            <a:srgbClr val="333333"/>
                          </a:solidFill>
                          <a:latin typeface="Helvetica Neue"/>
                          <a:ea typeface="Helvetica Neue"/>
                          <a:cs typeface="Helvetica Neue"/>
                        </a:rPr>
                        <a:t>Utility connections</a:t>
                      </a:r>
                    </a:p>
                  </a:txBody>
                  <a:tcPr marL="91440" marR="91440" marT="45720" marB="45720">
                    <a:solidFill>
                      <a:srgbClr val="F2F2F2"/>
                    </a:solidFill>
                  </a:tcPr>
                </a:tc>
                <a:tc>
                  <a:txBody>
                    <a:bodyPr/>
                    <a:lstStyle/>
                    <a:p>
                      <a:r>
                        <a:rPr sz="1650" b="0">
                          <a:solidFill>
                            <a:srgbClr val="333333"/>
                          </a:solidFill>
                          <a:latin typeface="Helvetica Neue"/>
                          <a:ea typeface="Helvetica Neue"/>
                          <a:cs typeface="Helvetica Neue"/>
                        </a:rPr>
                        <a:t>Line crews, utility engineers and enabling civil crews</a:t>
                      </a:r>
                    </a:p>
                  </a:txBody>
                  <a:tcPr marL="91440" marR="91440" marT="45720" marB="45720">
                    <a:solidFill>
                      <a:srgbClr val="F2F2F2"/>
                    </a:solidFill>
                  </a:tcPr>
                </a:tc>
                <a:tc>
                  <a:txBody>
                    <a:bodyPr/>
                    <a:lstStyle/>
                    <a:p>
                      <a:r>
                        <a:rPr sz="1650" b="0">
                          <a:solidFill>
                            <a:srgbClr val="333333"/>
                          </a:solidFill>
                          <a:latin typeface="Helvetica Neue"/>
                          <a:ea typeface="Helvetica Neue"/>
                          <a:cs typeface="Helvetica Neue"/>
                        </a:rPr>
                        <a:t>Substations, connection equipment and utility corridors</a:t>
                      </a:r>
                    </a:p>
                  </a:txBody>
                  <a:tcPr marL="91440" marR="91440" marT="45720" marB="45720">
                    <a:solidFill>
                      <a:srgbClr val="F2F2F2"/>
                    </a:solidFill>
                  </a:tcPr>
                </a:tc>
              </a:tr>
            </a:tbl>
          </a:graphicData>
        </a:graphic>
      </p:graphicFrame>
    </p:spTree>
    <p:extLst>
      <p:ext uri="{BB962C8B-B14F-4D97-AF65-F5344CB8AC3E}">
        <p14:creationId xmlns:p14="http://schemas.microsoft.com/office/powerpoint/2010/main" val="195484411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D121918-2DB0-428E-88FB-60E17C60448C}"/>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2029 is a scheduling stress case, not a forecast</a:t>
            </a:r>
          </a:p>
        </p:txBody>
      </p:sp>
      <p:sp>
        <p:nvSpPr>
          <p:cNvPr id="2" name="">
            <a:extLst xmlns:a="http://schemas.openxmlformats.org/drawingml/2006/main">
              <a:ext uri="{FF2B5EF4-FFF2-40B4-BE49-F238E27FC236}">
                <a16:creationId xmlns:a16="http://schemas.microsoft.com/office/drawing/2014/main" id="{91953BFA-73DE-4980-95DE-8DF58201CBF5}"/>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Annual electrician FTE: four undated phases represent $32B of the $49B pipeline.</a:t>
            </a:r>
          </a:p>
        </p:txBody>
      </p:sp>
      <p:sp>
        <p:nvSpPr>
          <p:cNvPr id="3" name="">
            <a:extLst xmlns:a="http://schemas.openxmlformats.org/drawingml/2006/main">
              <a:ext uri="{FF2B5EF4-FFF2-40B4-BE49-F238E27FC236}">
                <a16:creationId xmlns:a16="http://schemas.microsoft.com/office/drawing/2014/main" id="{D79B9EAA-ECB0-498D-8785-B4FC6029F2F0}"/>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Central intensity, full realization. Reported year anchors can still require inferred endpoints.</a:t>
            </a:r>
          </a:p>
        </p:txBody>
      </p:sp>
      <p:sp>
        <p:nvSpPr>
          <p:cNvPr id="4" name="">
            <a:extLst xmlns:a="http://schemas.openxmlformats.org/drawingml/2006/main">
              <a:ext uri="{FF2B5EF4-FFF2-40B4-BE49-F238E27FC236}">
                <a16:creationId xmlns:a16="http://schemas.microsoft.com/office/drawing/2014/main" id="{32AAC139-6E1D-40BF-A6D9-CABB0A012B8B}"/>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5</a:t>
            </a:r>
          </a:p>
        </p:txBody>
      </p:sp>
      <p:graphicFrame>
        <p:nvGraphicFramePr>
          <p:cNvPr id="11" name="Chart"/>
          <p:cNvGraphicFramePr/>
          <p:nvPr/>
        </p:nvGraphicFramePr>
        <p:xfrm>
          <a:off xmlns:a="http://schemas.openxmlformats.org/drawingml/2006/main" x="609600" y="2076450"/>
          <a:ext xmlns:a="http://schemas.openxmlformats.org/drawingml/2006/main" cx="10972800" cy="3286125"/>
        </p:xfrm>
        <a:graphic xmlns:a="http://schemas.openxmlformats.org/drawingml/2006/main">
          <a:graphicData uri="http://schemas.openxmlformats.org/drawingml/2006/chart">
            <c:chart xmlns:r="http://schemas.openxmlformats.org/officeDocument/2006/relationships" xmlns:c="http://schemas.openxmlformats.org/drawingml/2006/chart" r:id="R09e23e2cda7f4be3"/>
          </a:graphicData>
        </a:graphic>
      </p:graphicFrame>
      <p:sp>
        <p:nvSpPr>
          <p:cNvPr id="6" name="">
            <a:extLst xmlns:a="http://schemas.openxmlformats.org/drawingml/2006/main">
              <a:ext uri="{FF2B5EF4-FFF2-40B4-BE49-F238E27FC236}">
                <a16:creationId xmlns:a16="http://schemas.microsoft.com/office/drawing/2014/main" id="{D85344EE-5277-428F-AC68-A776548DC8D4}"/>
              </a:ext>
            </a:extLst>
          </p:cNvPr>
          <p:cNvSpPr>
            <a:spLocks xmlns:a="http://schemas.openxmlformats.org/drawingml/2006/main" noGrp="1"/>
          </p:cNvSpPr>
          <p:nvPr/>
        </p:nvSpPr>
        <p:spPr>
          <a:xfrm xmlns:a="http://schemas.openxmlformats.org/drawingml/2006/main">
            <a:off x="609600" y="56197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2C4E"/>
                </a:solidFill>
                <a:latin typeface="Helvetica Neue"/>
                <a:ea typeface="Helvetica Neue"/>
                <a:cs typeface="Helvetica Neue"/>
              </a:defRPr>
            </a:pPr>
            <a:r>
              <a:rPr sz="1950" b="1">
                <a:solidFill>
                  <a:srgbClr val="002C4E"/>
                </a:solidFill>
                <a:latin typeface="Helvetica Neue"/>
                <a:ea typeface="Helvetica Neue"/>
                <a:cs typeface="Helvetica Neue"/>
              </a:rPr>
              <a:t>Common March 2028 starts concentrate the undated cohort. Timing and realization tests follow.</a:t>
            </a:r>
          </a:p>
        </p:txBody>
      </p:sp>
    </p:spTree>
    <p:extLst>
      <p:ext uri="{BB962C8B-B14F-4D97-AF65-F5344CB8AC3E}">
        <p14:creationId xmlns:p14="http://schemas.microsoft.com/office/powerpoint/2010/main" val="67315314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B57C946-9695-4EE8-BA5D-201D1BDFBCA5}"/>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HVAC demand reaches 62% of historical workforce scale</a:t>
            </a:r>
          </a:p>
        </p:txBody>
      </p:sp>
      <p:sp>
        <p:nvSpPr>
          <p:cNvPr id="2" name="">
            <a:extLst xmlns:a="http://schemas.openxmlformats.org/drawingml/2006/main">
              <a:ext uri="{FF2B5EF4-FFF2-40B4-BE49-F238E27FC236}">
                <a16:creationId xmlns:a16="http://schemas.microsoft.com/office/drawing/2014/main" id="{AEEFA1F8-19D0-4C58-B82E-00E074B51B3F}"/>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Electricians reach 29% in the full-realization, 36-month stress case.</a:t>
            </a:r>
          </a:p>
        </p:txBody>
      </p:sp>
      <p:sp>
        <p:nvSpPr>
          <p:cNvPr id="3" name="">
            <a:extLst xmlns:a="http://schemas.openxmlformats.org/drawingml/2006/main">
              <a:ext uri="{FF2B5EF4-FFF2-40B4-BE49-F238E27FC236}">
                <a16:creationId xmlns:a16="http://schemas.microsoft.com/office/drawing/2014/main" id="{794A768E-C739-4A5D-B57F-87B7C9C24FEA}"/>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Durations vary only for undated phases. Annual FTE / May 2021 stock measures scale, not available capacity.</a:t>
            </a:r>
          </a:p>
        </p:txBody>
      </p:sp>
      <p:sp>
        <p:nvSpPr>
          <p:cNvPr id="4" name="">
            <a:extLst xmlns:a="http://schemas.openxmlformats.org/drawingml/2006/main">
              <a:ext uri="{FF2B5EF4-FFF2-40B4-BE49-F238E27FC236}">
                <a16:creationId xmlns:a16="http://schemas.microsoft.com/office/drawing/2014/main" id="{3DB8D912-29B8-43D4-8328-5130BBF6D577}"/>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6</a:t>
            </a:r>
          </a:p>
        </p:txBody>
      </p:sp>
      <p:graphicFrame>
        <p:nvGraphicFramePr>
          <p:cNvPr id="11" name=""/>
          <p:cNvGraphicFramePr/>
          <p:nvPr/>
        </p:nvGraphicFramePr>
        <p:xfrm>
          <a:off xmlns:a="http://schemas.openxmlformats.org/drawingml/2006/main" x="609600" y="2143125"/>
          <a:ext xmlns:a="http://schemas.openxmlformats.org/drawingml/2006/main" cx="10972800" cy="2667000"/>
        </p:xfrm>
        <a:graphic xmlns:a="http://schemas.openxmlformats.org/drawingml/2006/main">
          <a:graphicData uri="http://schemas.openxmlformats.org/drawingml/2006/table">
            <a:tbl>
              <a:tblPr/>
              <a:tblGrid>
                <a:gridCol w="4667250"/>
                <a:gridCol w="3152775"/>
                <a:gridCol w="3152775"/>
              </a:tblGrid>
              <a:tr h="666750">
                <a:tc>
                  <a:txBody>
                    <a:bodyPr/>
                    <a:lstStyle/>
                    <a:p>
                      <a:r>
                        <a:rPr sz="1725" b="1">
                          <a:solidFill>
                            <a:srgbClr val="FFFFFF"/>
                          </a:solidFill>
                          <a:latin typeface="Helvetica Neue"/>
                          <a:ea typeface="Helvetica Neue"/>
                          <a:cs typeface="Helvetica Neue"/>
                        </a:rPr>
                        <a:t>Central-intensity test</a:t>
                      </a:r>
                    </a:p>
                  </a:txBody>
                  <a:tcPr marL="91440" marR="91440" marT="45720" marB="45720">
                    <a:solidFill>
                      <a:srgbClr val="0077CD"/>
                    </a:solidFill>
                  </a:tcPr>
                </a:tc>
                <a:tc>
                  <a:txBody>
                    <a:bodyPr/>
                    <a:lstStyle/>
                    <a:p>
                      <a:r>
                        <a:rPr sz="1725" b="1">
                          <a:solidFill>
                            <a:srgbClr val="FFFFFF"/>
                          </a:solidFill>
                          <a:latin typeface="Helvetica Neue"/>
                          <a:ea typeface="Helvetica Neue"/>
                          <a:cs typeface="Helvetica Neue"/>
                        </a:rPr>
                        <a:t>Electricians: peak / stock</a:t>
                      </a:r>
                    </a:p>
                  </a:txBody>
                  <a:tcPr marL="91440" marR="91440" marT="45720" marB="45720">
                    <a:solidFill>
                      <a:srgbClr val="0077CD"/>
                    </a:solidFill>
                  </a:tcPr>
                </a:tc>
                <a:tc>
                  <a:txBody>
                    <a:bodyPr/>
                    <a:lstStyle/>
                    <a:p>
                      <a:r>
                        <a:rPr sz="1725" b="1">
                          <a:solidFill>
                            <a:srgbClr val="FFFFFF"/>
                          </a:solidFill>
                          <a:latin typeface="Helvetica Neue"/>
                          <a:ea typeface="Helvetica Neue"/>
                          <a:cs typeface="Helvetica Neue"/>
                        </a:rPr>
                        <a:t>HVAC: peak / stock</a:t>
                      </a:r>
                    </a:p>
                  </a:txBody>
                  <a:tcPr marL="91440" marR="91440" marT="45720" marB="45720">
                    <a:solidFill>
                      <a:srgbClr val="0077CD"/>
                    </a:solidFill>
                  </a:tcPr>
                </a:tc>
              </a:tr>
              <a:tr h="666750">
                <a:tc>
                  <a:txBody>
                    <a:bodyPr/>
                    <a:lstStyle/>
                    <a:p>
                      <a:r>
                        <a:rPr sz="1725" b="0">
                          <a:solidFill>
                            <a:srgbClr val="333333"/>
                          </a:solidFill>
                          <a:latin typeface="Helvetica Neue"/>
                          <a:ea typeface="Helvetica Neue"/>
                          <a:cs typeface="Helvetica Neue"/>
                        </a:rPr>
                        <a:t>Full realization / 36 months</a:t>
                      </a:r>
                    </a:p>
                  </a:txBody>
                  <a:tcPr marL="91440" marR="91440" marT="45720" marB="45720">
                    <a:solidFill>
                      <a:srgbClr val="FFFFFF"/>
                    </a:solidFill>
                  </a:tcPr>
                </a:tc>
                <a:tc>
                  <a:txBody>
                    <a:bodyPr/>
                    <a:lstStyle/>
                    <a:p>
                      <a:r>
                        <a:rPr sz="1725" b="0">
                          <a:solidFill>
                            <a:srgbClr val="333333"/>
                          </a:solidFill>
                          <a:latin typeface="Helvetica Neue"/>
                          <a:ea typeface="Helvetica Neue"/>
                          <a:cs typeface="Helvetica Neue"/>
                        </a:rPr>
                        <a:t>3,940 (29%) · 2029</a:t>
                      </a:r>
                    </a:p>
                  </a:txBody>
                  <a:tcPr marL="91440" marR="91440" marT="45720" marB="45720">
                    <a:solidFill>
                      <a:srgbClr val="FFFFFF"/>
                    </a:solidFill>
                  </a:tcPr>
                </a:tc>
                <a:tc>
                  <a:txBody>
                    <a:bodyPr/>
                    <a:lstStyle/>
                    <a:p>
                      <a:r>
                        <a:rPr sz="1725" b="0">
                          <a:solidFill>
                            <a:srgbClr val="333333"/>
                          </a:solidFill>
                          <a:latin typeface="Helvetica Neue"/>
                          <a:ea typeface="Helvetica Neue"/>
                          <a:cs typeface="Helvetica Neue"/>
                        </a:rPr>
                        <a:t>1,926 (62%) · 2030</a:t>
                      </a:r>
                    </a:p>
                  </a:txBody>
                  <a:tcPr marL="91440" marR="91440" marT="45720" marB="45720">
                    <a:solidFill>
                      <a:srgbClr val="FFFFFF"/>
                    </a:solidFill>
                  </a:tcPr>
                </a:tc>
              </a:tr>
              <a:tr h="666750">
                <a:tc>
                  <a:txBody>
                    <a:bodyPr/>
                    <a:lstStyle/>
                    <a:p>
                      <a:r>
                        <a:rPr sz="1725" b="0">
                          <a:solidFill>
                            <a:srgbClr val="333333"/>
                          </a:solidFill>
                          <a:latin typeface="Helvetica Neue"/>
                          <a:ea typeface="Helvetica Neue"/>
                          <a:cs typeface="Helvetica Neue"/>
                        </a:rPr>
                        <a:t>50% proposed volume / 36 months</a:t>
                      </a:r>
                    </a:p>
                  </a:txBody>
                  <a:tcPr marL="91440" marR="91440" marT="45720" marB="45720">
                    <a:solidFill>
                      <a:srgbClr val="F2F2F2"/>
                    </a:solidFill>
                  </a:tcPr>
                </a:tc>
                <a:tc>
                  <a:txBody>
                    <a:bodyPr/>
                    <a:lstStyle/>
                    <a:p>
                      <a:r>
                        <a:rPr sz="1725" b="0">
                          <a:solidFill>
                            <a:srgbClr val="333333"/>
                          </a:solidFill>
                          <a:latin typeface="Helvetica Neue"/>
                          <a:ea typeface="Helvetica Neue"/>
                          <a:cs typeface="Helvetica Neue"/>
                        </a:rPr>
                        <a:t>1,970 (15%) · 2029</a:t>
                      </a:r>
                    </a:p>
                  </a:txBody>
                  <a:tcPr marL="91440" marR="91440" marT="45720" marB="45720">
                    <a:solidFill>
                      <a:srgbClr val="F2F2F2"/>
                    </a:solidFill>
                  </a:tcPr>
                </a:tc>
                <a:tc>
                  <a:txBody>
                    <a:bodyPr/>
                    <a:lstStyle/>
                    <a:p>
                      <a:r>
                        <a:rPr sz="1725" b="0">
                          <a:solidFill>
                            <a:srgbClr val="333333"/>
                          </a:solidFill>
                          <a:latin typeface="Helvetica Neue"/>
                          <a:ea typeface="Helvetica Neue"/>
                          <a:cs typeface="Helvetica Neue"/>
                        </a:rPr>
                        <a:t>963 (31%) · 2030</a:t>
                      </a:r>
                    </a:p>
                  </a:txBody>
                  <a:tcPr marL="91440" marR="91440" marT="45720" marB="45720">
                    <a:solidFill>
                      <a:srgbClr val="F2F2F2"/>
                    </a:solidFill>
                  </a:tcPr>
                </a:tc>
              </a:tr>
              <a:tr h="666750">
                <a:tc>
                  <a:txBody>
                    <a:bodyPr/>
                    <a:lstStyle/>
                    <a:p>
                      <a:r>
                        <a:rPr sz="1725" b="0">
                          <a:solidFill>
                            <a:srgbClr val="333333"/>
                          </a:solidFill>
                          <a:latin typeface="Helvetica Neue"/>
                          <a:ea typeface="Helvetica Neue"/>
                          <a:cs typeface="Helvetica Neue"/>
                        </a:rPr>
                        <a:t>Full realization / 48 months</a:t>
                      </a:r>
                    </a:p>
                  </a:txBody>
                  <a:tcPr marL="91440" marR="91440" marT="45720" marB="45720">
                    <a:solidFill>
                      <a:srgbClr val="FFFFFF"/>
                    </a:solidFill>
                  </a:tcPr>
                </a:tc>
                <a:tc>
                  <a:txBody>
                    <a:bodyPr/>
                    <a:lstStyle/>
                    <a:p>
                      <a:r>
                        <a:rPr sz="1725" b="0">
                          <a:solidFill>
                            <a:srgbClr val="333333"/>
                          </a:solidFill>
                          <a:latin typeface="Helvetica Neue"/>
                          <a:ea typeface="Helvetica Neue"/>
                          <a:cs typeface="Helvetica Neue"/>
                        </a:rPr>
                        <a:t>3,503 (26%) · 2030</a:t>
                      </a:r>
                    </a:p>
                  </a:txBody>
                  <a:tcPr marL="91440" marR="91440" marT="45720" marB="45720">
                    <a:solidFill>
                      <a:srgbClr val="FFFFFF"/>
                    </a:solidFill>
                  </a:tcPr>
                </a:tc>
                <a:tc>
                  <a:txBody>
                    <a:bodyPr/>
                    <a:lstStyle/>
                    <a:p>
                      <a:r>
                        <a:rPr sz="1725" b="0">
                          <a:solidFill>
                            <a:srgbClr val="333333"/>
                          </a:solidFill>
                          <a:latin typeface="Helvetica Neue"/>
                          <a:ea typeface="Helvetica Neue"/>
                          <a:cs typeface="Helvetica Neue"/>
                        </a:rPr>
                        <a:t>1,813 (59%) · 2030</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5A840F73-61AD-4D37-ADFF-70C5B1175B66}"/>
              </a:ext>
            </a:extLst>
          </p:cNvPr>
          <p:cNvSpPr>
            <a:spLocks xmlns:a="http://schemas.openxmlformats.org/drawingml/2006/main" noGrp="1"/>
          </p:cNvSpPr>
          <p:nvPr/>
        </p:nvSpPr>
        <p:spPr>
          <a:xfrm xmlns:a="http://schemas.openxmlformats.org/drawingml/2006/main">
            <a:off x="609600" y="525780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2C4E"/>
                </a:solidFill>
                <a:latin typeface="Helvetica Neue"/>
                <a:ea typeface="Helvetica Neue"/>
                <a:cs typeface="Helvetica Neue"/>
              </a:defRPr>
            </a:pPr>
            <a:r>
              <a:rPr sz="2025" b="1">
                <a:solidFill>
                  <a:srgbClr val="002C4E"/>
                </a:solidFill>
                <a:latin typeface="Helvetica Neue"/>
                <a:ea typeface="Helvetica Neue"/>
                <a:cs typeface="Helvetica Neue"/>
              </a:rPr>
              <a:t>Historical stocks: 13,375 electricians; 3,095 HVAC mechanics. Other capital projects also draw on these trades.</a:t>
            </a:r>
          </a:p>
        </p:txBody>
      </p:sp>
    </p:spTree>
    <p:extLst>
      <p:ext uri="{BB962C8B-B14F-4D97-AF65-F5344CB8AC3E}">
        <p14:creationId xmlns:p14="http://schemas.microsoft.com/office/powerpoint/2010/main" val="187357475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DFB58AD-2015-43FB-AEC1-57BB29137F26}"/>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HVAC and steel prices show the largest increases</a:t>
            </a:r>
          </a:p>
        </p:txBody>
      </p:sp>
      <p:sp>
        <p:nvSpPr>
          <p:cNvPr id="2" name="">
            <a:extLst xmlns:a="http://schemas.openxmlformats.org/drawingml/2006/main">
              <a:ext uri="{FF2B5EF4-FFF2-40B4-BE49-F238E27FC236}">
                <a16:creationId xmlns:a16="http://schemas.microsoft.com/office/drawing/2014/main" id="{1499ACB8-7D5D-4665-929D-1E78EB054D3E}"/>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Calgary and Edmonton industrial-factory construction components, Q2 2026 versus Q2 2025.</a:t>
            </a:r>
          </a:p>
        </p:txBody>
      </p:sp>
      <p:sp>
        <p:nvSpPr>
          <p:cNvPr id="3" name="">
            <a:extLst xmlns:a="http://schemas.openxmlformats.org/drawingml/2006/main">
              <a:ext uri="{FF2B5EF4-FFF2-40B4-BE49-F238E27FC236}">
                <a16:creationId xmlns:a16="http://schemas.microsoft.com/office/drawing/2014/main" id="{DED5E7DC-BF18-4571-92E4-64D87FAC93A9}"/>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Source: Statistics Canada, Table 18-10-0289-01. Contractor bid-price changes, not raw-material prices.</a:t>
            </a:r>
          </a:p>
        </p:txBody>
      </p:sp>
      <p:sp>
        <p:nvSpPr>
          <p:cNvPr id="4" name="">
            <a:extLst xmlns:a="http://schemas.openxmlformats.org/drawingml/2006/main">
              <a:ext uri="{FF2B5EF4-FFF2-40B4-BE49-F238E27FC236}">
                <a16:creationId xmlns:a16="http://schemas.microsoft.com/office/drawing/2014/main" id="{775E6536-AC62-4F57-9D10-D7202178AC31}"/>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7</a:t>
            </a:r>
          </a:p>
        </p:txBody>
      </p:sp>
      <p:graphicFrame>
        <p:nvGraphicFramePr>
          <p:cNvPr id="11" name="Chart"/>
          <p:cNvGraphicFramePr/>
          <p:nvPr/>
        </p:nvGraphicFramePr>
        <p:xfrm>
          <a:off xmlns:a="http://schemas.openxmlformats.org/drawingml/2006/main" x="609600" y="2143125"/>
          <a:ext xmlns:a="http://schemas.openxmlformats.org/drawingml/2006/main" cx="10972800" cy="3571875"/>
        </p:xfrm>
        <a:graphic xmlns:a="http://schemas.openxmlformats.org/drawingml/2006/main">
          <a:graphicData uri="http://schemas.openxmlformats.org/drawingml/2006/chart">
            <c:chart xmlns:r="http://schemas.openxmlformats.org/officeDocument/2006/relationships" xmlns:c="http://schemas.openxmlformats.org/drawingml/2006/chart" r:id="R038ab7dc6b614184"/>
          </a:graphicData>
        </a:graphic>
      </p:graphicFrame>
      <p:sp>
        <p:nvSpPr>
          <p:cNvPr id="6" name="">
            <a:extLst xmlns:a="http://schemas.openxmlformats.org/drawingml/2006/main">
              <a:ext uri="{FF2B5EF4-FFF2-40B4-BE49-F238E27FC236}">
                <a16:creationId xmlns:a16="http://schemas.microsoft.com/office/drawing/2014/main" id="{7C3EACBE-600A-4523-8675-7564705E196A}"/>
              </a:ext>
            </a:extLst>
          </p:cNvPr>
          <p:cNvSpPr>
            <a:spLocks xmlns:a="http://schemas.openxmlformats.org/drawingml/2006/main" noGrp="1"/>
          </p:cNvSpPr>
          <p:nvPr/>
        </p:nvSpPr>
        <p:spPr>
          <a:xfrm xmlns:a="http://schemas.openxmlformats.org/drawingml/2006/main">
            <a:off x="609600" y="587692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02C4E"/>
                </a:solidFill>
                <a:latin typeface="Helvetica Neue"/>
                <a:ea typeface="Helvetica Neue"/>
                <a:cs typeface="Helvetica Neue"/>
              </a:defRPr>
            </a:pPr>
            <a:r>
              <a:rPr sz="1650" b="1">
                <a:solidFill>
                  <a:srgbClr val="002C4E"/>
                </a:solidFill>
                <a:latin typeface="Helvetica Neue"/>
                <a:ea typeface="Helvetica Neue"/>
                <a:cs typeface="Helvetica Neue"/>
              </a:rPr>
              <a:t>HVAC and steel warrant a cost-weighted procurement review.</a:t>
            </a:r>
          </a:p>
        </p:txBody>
      </p:sp>
    </p:spTree>
    <p:extLst>
      <p:ext uri="{BB962C8B-B14F-4D97-AF65-F5344CB8AC3E}">
        <p14:creationId xmlns:p14="http://schemas.microsoft.com/office/powerpoint/2010/main" val="44685714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FFE5D6D-9031-4CDA-94BD-8396197E6B84}"/>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Every $1B of scope carries $25M in this sensitivity</a:t>
            </a:r>
          </a:p>
        </p:txBody>
      </p:sp>
      <p:sp>
        <p:nvSpPr>
          <p:cNvPr id="2" name="">
            <a:extLst xmlns:a="http://schemas.openxmlformats.org/drawingml/2006/main">
              <a:ext uri="{FF2B5EF4-FFF2-40B4-BE49-F238E27FC236}">
                <a16:creationId xmlns:a16="http://schemas.microsoft.com/office/drawing/2014/main" id="{C76DF7D3-5987-45CB-A672-750B4CEAE98E}"/>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10% price shock on 25% exposed scope; Infrastructure’s envelope requires confirmation.</a:t>
            </a:r>
          </a:p>
        </p:txBody>
      </p:sp>
      <p:sp>
        <p:nvSpPr>
          <p:cNvPr id="3" name="">
            <a:extLst xmlns:a="http://schemas.openxmlformats.org/drawingml/2006/main">
              <a:ext uri="{FF2B5EF4-FFF2-40B4-BE49-F238E27FC236}">
                <a16:creationId xmlns:a16="http://schemas.microsoft.com/office/drawing/2014/main" id="{A7A261BA-544A-4737-ABD5-C07CFAFF1A8A}"/>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Each row is a separate exposure test. Do not add them or layer them onto an escalated baseline.</a:t>
            </a:r>
          </a:p>
        </p:txBody>
      </p:sp>
      <p:sp>
        <p:nvSpPr>
          <p:cNvPr id="4" name="">
            <a:extLst xmlns:a="http://schemas.openxmlformats.org/drawingml/2006/main">
              <a:ext uri="{FF2B5EF4-FFF2-40B4-BE49-F238E27FC236}">
                <a16:creationId xmlns:a16="http://schemas.microsoft.com/office/drawing/2014/main" id="{F5D56FA3-B784-4709-A952-DAB7CEF47B2A}"/>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8</a:t>
            </a:r>
          </a:p>
        </p:txBody>
      </p:sp>
      <p:graphicFrame>
        <p:nvGraphicFramePr>
          <p:cNvPr id="11" name=""/>
          <p:cNvGraphicFramePr/>
          <p:nvPr/>
        </p:nvGraphicFramePr>
        <p:xfrm>
          <a:off xmlns:a="http://schemas.openxmlformats.org/drawingml/2006/main" x="609600" y="2143125"/>
          <a:ext xmlns:a="http://schemas.openxmlformats.org/drawingml/2006/main" cx="10972800" cy="2809875"/>
        </p:xfrm>
        <a:graphic xmlns:a="http://schemas.openxmlformats.org/drawingml/2006/main">
          <a:graphicData uri="http://schemas.openxmlformats.org/drawingml/2006/table">
            <a:tbl>
              <a:tblPr/>
              <a:tblGrid>
                <a:gridCol w="3810000"/>
                <a:gridCol w="3238500"/>
                <a:gridCol w="3924300"/>
              </a:tblGrid>
              <a:tr h="561975">
                <a:tc>
                  <a:txBody>
                    <a:bodyPr/>
                    <a:lstStyle/>
                    <a:p>
                      <a:r>
                        <a:rPr sz="1725" b="1">
                          <a:solidFill>
                            <a:srgbClr val="FFFFFF"/>
                          </a:solidFill>
                          <a:latin typeface="Helvetica Neue"/>
                          <a:ea typeface="Helvetica Neue"/>
                          <a:cs typeface="Helvetica Neue"/>
                        </a:rPr>
                        <a:t>Price movement</a:t>
                      </a:r>
                    </a:p>
                  </a:txBody>
                  <a:tcPr marL="91440" marR="91440" marT="45720" marB="45720">
                    <a:solidFill>
                      <a:srgbClr val="0077CD"/>
                    </a:solidFill>
                  </a:tcPr>
                </a:tc>
                <a:tc>
                  <a:txBody>
                    <a:bodyPr/>
                    <a:lstStyle/>
                    <a:p>
                      <a:r>
                        <a:rPr sz="1725" b="1">
                          <a:solidFill>
                            <a:srgbClr val="FFFFFF"/>
                          </a:solidFill>
                          <a:latin typeface="Helvetica Neue"/>
                          <a:ea typeface="Helvetica Neue"/>
                          <a:cs typeface="Helvetica Neue"/>
                        </a:rPr>
                        <a:t>Calgary / Edmonton</a:t>
                      </a:r>
                    </a:p>
                  </a:txBody>
                  <a:tcPr marL="91440" marR="91440" marT="45720" marB="45720">
                    <a:solidFill>
                      <a:srgbClr val="0077CD"/>
                    </a:solidFill>
                  </a:tcPr>
                </a:tc>
                <a:tc>
                  <a:txBody>
                    <a:bodyPr/>
                    <a:lstStyle/>
                    <a:p>
                      <a:r>
                        <a:rPr sz="1725" b="1">
                          <a:solidFill>
                            <a:srgbClr val="FFFFFF"/>
                          </a:solidFill>
                          <a:latin typeface="Helvetica Neue"/>
                          <a:ea typeface="Helvetica Neue"/>
                          <a:cs typeface="Helvetica Neue"/>
                        </a:rPr>
                        <a:t>25% of provincial $10.687B plan</a:t>
                      </a:r>
                    </a:p>
                  </a:txBody>
                  <a:tcPr marL="91440" marR="91440" marT="45720" marB="45720">
                    <a:solidFill>
                      <a:srgbClr val="0077CD"/>
                    </a:solidFill>
                  </a:tcPr>
                </a:tc>
              </a:tr>
              <a:tr h="561975">
                <a:tc>
                  <a:txBody>
                    <a:bodyPr/>
                    <a:lstStyle/>
                    <a:p>
                      <a:r>
                        <a:rPr sz="1725" b="0">
                          <a:solidFill>
                            <a:srgbClr val="333333"/>
                          </a:solidFill>
                          <a:latin typeface="Helvetica Neue"/>
                          <a:ea typeface="Helvetica Neue"/>
                          <a:cs typeface="Helvetica Neue"/>
                        </a:rPr>
                        <a:t>Concrete</a:t>
                      </a:r>
                    </a:p>
                  </a:txBody>
                  <a:tcPr marL="91440" marR="91440" marT="45720" marB="45720">
                    <a:solidFill>
                      <a:srgbClr val="FFFFFF"/>
                    </a:solidFill>
                  </a:tcPr>
                </a:tc>
                <a:tc>
                  <a:txBody>
                    <a:bodyPr/>
                    <a:lstStyle/>
                    <a:p>
                      <a:r>
                        <a:rPr sz="1725" b="0">
                          <a:solidFill>
                            <a:srgbClr val="333333"/>
                          </a:solidFill>
                          <a:latin typeface="Helvetica Neue"/>
                          <a:ea typeface="Helvetica Neue"/>
                          <a:cs typeface="Helvetica Neue"/>
                        </a:rPr>
                        <a:t>4.11% / 5.24%</a:t>
                      </a:r>
                    </a:p>
                  </a:txBody>
                  <a:tcPr marL="91440" marR="91440" marT="45720" marB="45720">
                    <a:solidFill>
                      <a:srgbClr val="FFFFFF"/>
                    </a:solidFill>
                  </a:tcPr>
                </a:tc>
                <a:tc>
                  <a:txBody>
                    <a:bodyPr/>
                    <a:lstStyle/>
                    <a:p>
                      <a:r>
                        <a:rPr sz="1725" b="0">
                          <a:solidFill>
                            <a:srgbClr val="333333"/>
                          </a:solidFill>
                          <a:latin typeface="Helvetica Neue"/>
                          <a:ea typeface="Helvetica Neue"/>
                          <a:cs typeface="Helvetica Neue"/>
                        </a:rPr>
                        <a:t>$110M / $140M</a:t>
                      </a:r>
                    </a:p>
                  </a:txBody>
                  <a:tcPr marL="91440" marR="91440" marT="45720" marB="45720">
                    <a:solidFill>
                      <a:srgbClr val="FFFFFF"/>
                    </a:solidFill>
                  </a:tcPr>
                </a:tc>
              </a:tr>
              <a:tr h="561975">
                <a:tc>
                  <a:txBody>
                    <a:bodyPr/>
                    <a:lstStyle/>
                    <a:p>
                      <a:r>
                        <a:rPr sz="1725" b="0">
                          <a:solidFill>
                            <a:srgbClr val="333333"/>
                          </a:solidFill>
                          <a:latin typeface="Helvetica Neue"/>
                          <a:ea typeface="Helvetica Neue"/>
                          <a:cs typeface="Helvetica Neue"/>
                        </a:rPr>
                        <a:t>Structural steel</a:t>
                      </a:r>
                    </a:p>
                  </a:txBody>
                  <a:tcPr marL="91440" marR="91440" marT="45720" marB="45720">
                    <a:solidFill>
                      <a:srgbClr val="F2F2F2"/>
                    </a:solidFill>
                  </a:tcPr>
                </a:tc>
                <a:tc>
                  <a:txBody>
                    <a:bodyPr/>
                    <a:lstStyle/>
                    <a:p>
                      <a:r>
                        <a:rPr sz="1725" b="0">
                          <a:solidFill>
                            <a:srgbClr val="333333"/>
                          </a:solidFill>
                          <a:latin typeface="Helvetica Neue"/>
                          <a:ea typeface="Helvetica Neue"/>
                          <a:cs typeface="Helvetica Neue"/>
                        </a:rPr>
                        <a:t>7.30% / 10.44%</a:t>
                      </a:r>
                    </a:p>
                  </a:txBody>
                  <a:tcPr marL="91440" marR="91440" marT="45720" marB="45720">
                    <a:solidFill>
                      <a:srgbClr val="F2F2F2"/>
                    </a:solidFill>
                  </a:tcPr>
                </a:tc>
                <a:tc>
                  <a:txBody>
                    <a:bodyPr/>
                    <a:lstStyle/>
                    <a:p>
                      <a:r>
                        <a:rPr sz="1725" b="0">
                          <a:solidFill>
                            <a:srgbClr val="333333"/>
                          </a:solidFill>
                          <a:latin typeface="Helvetica Neue"/>
                          <a:ea typeface="Helvetica Neue"/>
                          <a:cs typeface="Helvetica Neue"/>
                        </a:rPr>
                        <a:t>$195M / $279M</a:t>
                      </a:r>
                    </a:p>
                  </a:txBody>
                  <a:tcPr marL="91440" marR="91440" marT="45720" marB="45720">
                    <a:solidFill>
                      <a:srgbClr val="F2F2F2"/>
                    </a:solidFill>
                  </a:tcPr>
                </a:tc>
              </a:tr>
              <a:tr h="561975">
                <a:tc>
                  <a:txBody>
                    <a:bodyPr/>
                    <a:lstStyle/>
                    <a:p>
                      <a:r>
                        <a:rPr sz="1725" b="0">
                          <a:solidFill>
                            <a:srgbClr val="333333"/>
                          </a:solidFill>
                          <a:latin typeface="Helvetica Neue"/>
                          <a:ea typeface="Helvetica Neue"/>
                          <a:cs typeface="Helvetica Neue"/>
                        </a:rPr>
                        <a:t>Electrical systems</a:t>
                      </a:r>
                    </a:p>
                  </a:txBody>
                  <a:tcPr marL="91440" marR="91440" marT="45720" marB="45720">
                    <a:solidFill>
                      <a:srgbClr val="FFFFFF"/>
                    </a:solidFill>
                  </a:tcPr>
                </a:tc>
                <a:tc>
                  <a:txBody>
                    <a:bodyPr/>
                    <a:lstStyle/>
                    <a:p>
                      <a:r>
                        <a:rPr sz="1725" b="0">
                          <a:solidFill>
                            <a:srgbClr val="333333"/>
                          </a:solidFill>
                          <a:latin typeface="Helvetica Neue"/>
                          <a:ea typeface="Helvetica Neue"/>
                          <a:cs typeface="Helvetica Neue"/>
                        </a:rPr>
                        <a:t>0.83% / 1.01%</a:t>
                      </a:r>
                    </a:p>
                  </a:txBody>
                  <a:tcPr marL="91440" marR="91440" marT="45720" marB="45720">
                    <a:solidFill>
                      <a:srgbClr val="FFFFFF"/>
                    </a:solidFill>
                  </a:tcPr>
                </a:tc>
                <a:tc>
                  <a:txBody>
                    <a:bodyPr/>
                    <a:lstStyle/>
                    <a:p>
                      <a:r>
                        <a:rPr sz="1725" b="0">
                          <a:solidFill>
                            <a:srgbClr val="333333"/>
                          </a:solidFill>
                          <a:latin typeface="Helvetica Neue"/>
                          <a:ea typeface="Helvetica Neue"/>
                          <a:cs typeface="Helvetica Neue"/>
                        </a:rPr>
                        <a:t>$22M / $27M</a:t>
                      </a:r>
                    </a:p>
                  </a:txBody>
                  <a:tcPr marL="91440" marR="91440" marT="45720" marB="45720">
                    <a:solidFill>
                      <a:srgbClr val="FFFFFF"/>
                    </a:solidFill>
                  </a:tcPr>
                </a:tc>
              </a:tr>
              <a:tr h="561975">
                <a:tc>
                  <a:txBody>
                    <a:bodyPr/>
                    <a:lstStyle/>
                    <a:p>
                      <a:r>
                        <a:rPr sz="1725" b="0">
                          <a:solidFill>
                            <a:srgbClr val="333333"/>
                          </a:solidFill>
                          <a:latin typeface="Helvetica Neue"/>
                          <a:ea typeface="Helvetica Neue"/>
                          <a:cs typeface="Helvetica Neue"/>
                        </a:rPr>
                        <a:t>HVAC</a:t>
                      </a:r>
                    </a:p>
                  </a:txBody>
                  <a:tcPr marL="91440" marR="91440" marT="45720" marB="45720">
                    <a:solidFill>
                      <a:srgbClr val="F2F2F2"/>
                    </a:solidFill>
                  </a:tcPr>
                </a:tc>
                <a:tc>
                  <a:txBody>
                    <a:bodyPr/>
                    <a:lstStyle/>
                    <a:p>
                      <a:r>
                        <a:rPr sz="1725" b="0">
                          <a:solidFill>
                            <a:srgbClr val="333333"/>
                          </a:solidFill>
                          <a:latin typeface="Helvetica Neue"/>
                          <a:ea typeface="Helvetica Neue"/>
                          <a:cs typeface="Helvetica Neue"/>
                        </a:rPr>
                        <a:t>10.05% / 10.05%</a:t>
                      </a:r>
                    </a:p>
                  </a:txBody>
                  <a:tcPr marL="91440" marR="91440" marT="45720" marB="45720">
                    <a:solidFill>
                      <a:srgbClr val="F2F2F2"/>
                    </a:solidFill>
                  </a:tcPr>
                </a:tc>
                <a:tc>
                  <a:txBody>
                    <a:bodyPr/>
                    <a:lstStyle/>
                    <a:p>
                      <a:r>
                        <a:rPr sz="1725" b="0">
                          <a:solidFill>
                            <a:srgbClr val="333333"/>
                          </a:solidFill>
                          <a:latin typeface="Helvetica Neue"/>
                          <a:ea typeface="Helvetica Neue"/>
                          <a:cs typeface="Helvetica Neue"/>
                        </a:rPr>
                        <a:t>$269M / $268M</a:t>
                      </a:r>
                    </a:p>
                  </a:txBody>
                  <a:tcPr marL="91440" marR="91440" marT="45720" marB="45720">
                    <a:solidFill>
                      <a:srgbClr val="F2F2F2"/>
                    </a:solidFill>
                  </a:tcPr>
                </a:tc>
              </a:tr>
            </a:tbl>
          </a:graphicData>
        </a:graphic>
      </p:graphicFrame>
      <p:sp>
        <p:nvSpPr>
          <p:cNvPr id="6" name="">
            <a:extLst xmlns:a="http://schemas.openxmlformats.org/drawingml/2006/main">
              <a:ext uri="{FF2B5EF4-FFF2-40B4-BE49-F238E27FC236}">
                <a16:creationId xmlns:a16="http://schemas.microsoft.com/office/drawing/2014/main" id="{CB9E483E-8205-4AAB-BD61-B44589488059}"/>
              </a:ext>
            </a:extLst>
          </p:cNvPr>
          <p:cNvSpPr>
            <a:spLocks xmlns:a="http://schemas.openxmlformats.org/drawingml/2006/main" noGrp="1"/>
          </p:cNvSpPr>
          <p:nvPr/>
        </p:nvSpPr>
        <p:spPr>
          <a:xfrm xmlns:a="http://schemas.openxmlformats.org/drawingml/2006/main">
            <a:off x="609600" y="533400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2C4E"/>
                </a:solidFill>
                <a:latin typeface="Helvetica Neue"/>
                <a:ea typeface="Helvetica Neue"/>
                <a:cs typeface="Helvetica Neue"/>
              </a:defRPr>
            </a:pPr>
            <a:r>
              <a:rPr sz="2025" b="1">
                <a:solidFill>
                  <a:srgbClr val="002C4E"/>
                </a:solidFill>
                <a:latin typeface="Helvetica Neue"/>
                <a:ea typeface="Helvetica Neue"/>
                <a:cs typeface="Helvetica Neue"/>
              </a:rPr>
              <a:t>Provincial illustration: $267M. Apply $25M per $1B to Infrastructure’s confirmed uncommitted scope.</a:t>
            </a:r>
          </a:p>
        </p:txBody>
      </p:sp>
    </p:spTree>
    <p:extLst>
      <p:ext uri="{BB962C8B-B14F-4D97-AF65-F5344CB8AC3E}">
        <p14:creationId xmlns:p14="http://schemas.microsoft.com/office/powerpoint/2010/main" val="174916229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981FFC3-4C92-45DC-AE07-36EE7885FDB4}"/>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Seven Infrastructure records intersect 2029–2030</a:t>
            </a:r>
          </a:p>
        </p:txBody>
      </p:sp>
      <p:sp>
        <p:nvSpPr>
          <p:cNvPr id="2" name="">
            <a:extLst xmlns:a="http://schemas.openxmlformats.org/drawingml/2006/main">
              <a:ext uri="{FF2B5EF4-FFF2-40B4-BE49-F238E27FC236}">
                <a16:creationId xmlns:a16="http://schemas.microsoft.com/office/drawing/2014/main" id="{B67AD843-A79D-44AE-8BF3-9F56F3CF2997}"/>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Regional screen against the full-realization scheduling stress window.</a:t>
            </a:r>
          </a:p>
        </p:txBody>
      </p:sp>
      <p:sp>
        <p:nvSpPr>
          <p:cNvPr id="3" name="">
            <a:extLst xmlns:a="http://schemas.openxmlformats.org/drawingml/2006/main">
              <a:ext uri="{FF2B5EF4-FFF2-40B4-BE49-F238E27FC236}">
                <a16:creationId xmlns:a16="http://schemas.microsoft.com/office/drawing/2014/main" id="{CF01BDD0-FC01-4CBD-99CC-B2814F0E2277}"/>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Reported project windows, not confirmed package dates or shared contractors. Full register in the appendix.</a:t>
            </a:r>
          </a:p>
        </p:txBody>
      </p:sp>
      <p:sp>
        <p:nvSpPr>
          <p:cNvPr id="4" name="">
            <a:extLst xmlns:a="http://schemas.openxmlformats.org/drawingml/2006/main">
              <a:ext uri="{FF2B5EF4-FFF2-40B4-BE49-F238E27FC236}">
                <a16:creationId xmlns:a16="http://schemas.microsoft.com/office/drawing/2014/main" id="{157F4358-AD10-4FCC-A159-4B12C932BC54}"/>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9</a:t>
            </a:r>
          </a:p>
        </p:txBody>
      </p:sp>
      <p:graphicFrame>
        <p:nvGraphicFramePr>
          <p:cNvPr id="10" name=""/>
          <p:cNvGraphicFramePr/>
          <p:nvPr/>
        </p:nvGraphicFramePr>
        <p:xfrm>
          <a:off xmlns:a="http://schemas.openxmlformats.org/drawingml/2006/main" x="609600" y="2028825"/>
          <a:ext xmlns:a="http://schemas.openxmlformats.org/drawingml/2006/main" cx="10972800" cy="3857625"/>
        </p:xfrm>
        <a:graphic xmlns:a="http://schemas.openxmlformats.org/drawingml/2006/main">
          <a:graphicData uri="http://schemas.openxmlformats.org/drawingml/2006/table">
            <a:tbl>
              <a:tblPr/>
              <a:tblGrid>
                <a:gridCol w="4953000"/>
                <a:gridCol w="2686050"/>
                <a:gridCol w="3333750"/>
              </a:tblGrid>
              <a:tr h="482203">
                <a:tc>
                  <a:txBody>
                    <a:bodyPr/>
                    <a:lstStyle/>
                    <a:p>
                      <a:r>
                        <a:rPr sz="1500" b="1">
                          <a:solidFill>
                            <a:srgbClr val="FFFFFF"/>
                          </a:solidFill>
                          <a:latin typeface="Helvetica Neue"/>
                          <a:ea typeface="Helvetica Neue"/>
                          <a:cs typeface="Helvetica Neue"/>
                        </a:rPr>
                        <a:t>Infrastructure project</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Municipality / end</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Regional DC screen</a:t>
                      </a:r>
                    </a:p>
                  </a:txBody>
                  <a:tcPr marL="91440" marR="91440" marT="45720" marB="45720">
                    <a:solidFill>
                      <a:srgbClr val="0077CD"/>
                    </a:solidFill>
                  </a:tcPr>
                </a:tc>
              </a:tr>
              <a:tr h="482203">
                <a:tc>
                  <a:txBody>
                    <a:bodyPr/>
                    <a:lstStyle/>
                    <a:p>
                      <a:r>
                        <a:rPr sz="1500" b="0">
                          <a:solidFill>
                            <a:srgbClr val="333333"/>
                          </a:solidFill>
                          <a:latin typeface="Helvetica Neue"/>
                          <a:ea typeface="Helvetica Neue"/>
                          <a:cs typeface="Helvetica Neue"/>
                        </a:rPr>
                        <a:t>ASI Calgary</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Calgary / 2029</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Beacon / Crusoe / TNE</a:t>
                      </a:r>
                    </a:p>
                  </a:txBody>
                  <a:tcPr marL="91440" marR="91440" marT="45720" marB="45720">
                    <a:solidFill>
                      <a:srgbClr val="FFFFFF"/>
                    </a:solidFill>
                  </a:tcPr>
                </a:tc>
              </a:tr>
              <a:tr h="482203">
                <a:tc>
                  <a:txBody>
                    <a:bodyPr/>
                    <a:lstStyle/>
                    <a:p>
                      <a:r>
                        <a:rPr sz="1500" b="0">
                          <a:solidFill>
                            <a:srgbClr val="333333"/>
                          </a:solidFill>
                          <a:latin typeface="Helvetica Neue"/>
                          <a:ea typeface="Helvetica Neue"/>
                          <a:cs typeface="Helvetica Neue"/>
                        </a:rPr>
                        <a:t>Sturgeon MDR</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St. Albert / 2030</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Meta Sturgeon / TNE</a:t>
                      </a:r>
                    </a:p>
                  </a:txBody>
                  <a:tcPr marL="91440" marR="91440" marT="45720" marB="45720">
                    <a:solidFill>
                      <a:srgbClr val="F2F2F2"/>
                    </a:solidFill>
                  </a:tcPr>
                </a:tc>
              </a:tr>
              <a:tr h="482203">
                <a:tc>
                  <a:txBody>
                    <a:bodyPr/>
                    <a:lstStyle/>
                    <a:p>
                      <a:r>
                        <a:rPr sz="1500" b="0">
                          <a:solidFill>
                            <a:srgbClr val="333333"/>
                          </a:solidFill>
                          <a:latin typeface="Helvetica Neue"/>
                          <a:ea typeface="Helvetica Neue"/>
                          <a:cs typeface="Helvetica Neue"/>
                        </a:rPr>
                        <a:t>Misericordia MDR</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Edmonton / 2029</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Meta Sturgeon / TNE</a:t>
                      </a:r>
                    </a:p>
                  </a:txBody>
                  <a:tcPr marL="91440" marR="91440" marT="45720" marB="45720">
                    <a:solidFill>
                      <a:srgbClr val="FFFFFF"/>
                    </a:solidFill>
                  </a:tcPr>
                </a:tc>
              </a:tr>
              <a:tr h="482203">
                <a:tc>
                  <a:txBody>
                    <a:bodyPr/>
                    <a:lstStyle/>
                    <a:p>
                      <a:r>
                        <a:rPr sz="1500" b="0">
                          <a:solidFill>
                            <a:srgbClr val="333333"/>
                          </a:solidFill>
                          <a:latin typeface="Helvetica Neue"/>
                          <a:ea typeface="Helvetica Neue"/>
                          <a:cs typeface="Helvetica Neue"/>
                        </a:rPr>
                        <a:t>Red Deer ambulatory building</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Red Deer / 2029</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Crusoe Red Deer</a:t>
                      </a:r>
                    </a:p>
                  </a:txBody>
                  <a:tcPr marL="91440" marR="91440" marT="45720" marB="45720">
                    <a:solidFill>
                      <a:srgbClr val="F2F2F2"/>
                    </a:solidFill>
                  </a:tcPr>
                </a:tc>
              </a:tr>
              <a:tr h="482203">
                <a:tc>
                  <a:txBody>
                    <a:bodyPr/>
                    <a:lstStyle/>
                    <a:p>
                      <a:r>
                        <a:rPr sz="1500" b="0">
                          <a:solidFill>
                            <a:srgbClr val="333333"/>
                          </a:solidFill>
                          <a:latin typeface="Helvetica Neue"/>
                          <a:ea typeface="Helvetica Neue"/>
                          <a:cs typeface="Helvetica Neue"/>
                        </a:rPr>
                        <a:t>Red Deer hospital redevelopment</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Red Deer / 2031</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Crusoe Red Deer</a:t>
                      </a:r>
                    </a:p>
                  </a:txBody>
                  <a:tcPr marL="91440" marR="91440" marT="45720" marB="45720">
                    <a:solidFill>
                      <a:srgbClr val="FFFFFF"/>
                    </a:solidFill>
                  </a:tcPr>
                </a:tc>
              </a:tr>
              <a:tr h="482203">
                <a:tc>
                  <a:txBody>
                    <a:bodyPr/>
                    <a:lstStyle/>
                    <a:p>
                      <a:r>
                        <a:rPr sz="1500" b="0">
                          <a:solidFill>
                            <a:srgbClr val="333333"/>
                          </a:solidFill>
                          <a:latin typeface="Helvetica Neue"/>
                          <a:ea typeface="Helvetica Neue"/>
                          <a:cs typeface="Helvetica Neue"/>
                        </a:rPr>
                        <a:t>UAH neurosciences ICU</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Edmonton / 2029</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Meta Sturgeon / TNE</a:t>
                      </a:r>
                    </a:p>
                  </a:txBody>
                  <a:tcPr marL="91440" marR="91440" marT="45720" marB="45720">
                    <a:solidFill>
                      <a:srgbClr val="F2F2F2"/>
                    </a:solidFill>
                  </a:tcPr>
                </a:tc>
              </a:tr>
              <a:tr h="482203">
                <a:tc>
                  <a:txBody>
                    <a:bodyPr/>
                    <a:lstStyle/>
                    <a:p>
                      <a:r>
                        <a:rPr sz="1500" b="0">
                          <a:solidFill>
                            <a:srgbClr val="333333"/>
                          </a:solidFill>
                          <a:latin typeface="Helvetica Neue"/>
                          <a:ea typeface="Helvetica Neue"/>
                          <a:cs typeface="Helvetica Neue"/>
                        </a:rPr>
                        <a:t>West Edmonton high school</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Edmonton / 2029</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Meta Sturgeon / TNE</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17838807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9DF4E72-5C00-4D8F-BE9E-270ED321806B}"/>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Power belongs in the delivery conversation</a:t>
            </a:r>
          </a:p>
        </p:txBody>
      </p:sp>
      <p:sp>
        <p:nvSpPr>
          <p:cNvPr id="2" name="">
            <a:extLst xmlns:a="http://schemas.openxmlformats.org/drawingml/2006/main">
              <a:ext uri="{FF2B5EF4-FFF2-40B4-BE49-F238E27FC236}">
                <a16:creationId xmlns:a16="http://schemas.microsoft.com/office/drawing/2014/main" id="{22628E89-9B87-4DF2-A026-69302A7E247B}"/>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Three enabling-power proposals total $6.4B, separate from the core data-centre pipeline.</a:t>
            </a:r>
          </a:p>
        </p:txBody>
      </p:sp>
      <p:sp>
        <p:nvSpPr>
          <p:cNvPr id="3" name="">
            <a:extLst xmlns:a="http://schemas.openxmlformats.org/drawingml/2006/main">
              <a:ext uri="{FF2B5EF4-FFF2-40B4-BE49-F238E27FC236}">
                <a16:creationId xmlns:a16="http://schemas.microsoft.com/office/drawing/2014/main" id="{C0D45372-65CC-4C50-B0D6-1DF7BBA59F08}"/>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Sources: Alberta Major Projects, 31 Aug 2026; AESO large-load page checked 6 Sep 2026</a:t>
            </a:r>
          </a:p>
        </p:txBody>
      </p:sp>
      <p:sp>
        <p:nvSpPr>
          <p:cNvPr id="4" name="">
            <a:extLst xmlns:a="http://schemas.openxmlformats.org/drawingml/2006/main">
              <a:ext uri="{FF2B5EF4-FFF2-40B4-BE49-F238E27FC236}">
                <a16:creationId xmlns:a16="http://schemas.microsoft.com/office/drawing/2014/main" id="{6E886DFB-CA74-4A1B-A662-C0DEB39AB183}"/>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10</a:t>
            </a:r>
          </a:p>
        </p:txBody>
      </p:sp>
      <p:graphicFrame>
        <p:nvGraphicFramePr>
          <p:cNvPr id="12" name=""/>
          <p:cNvGraphicFramePr/>
          <p:nvPr/>
        </p:nvGraphicFramePr>
        <p:xfrm>
          <a:off xmlns:a="http://schemas.openxmlformats.org/drawingml/2006/main" x="609600" y="2095500"/>
          <a:ext xmlns:a="http://schemas.openxmlformats.org/drawingml/2006/main" cx="10972800" cy="2381250"/>
        </p:xfrm>
        <a:graphic xmlns:a="http://schemas.openxmlformats.org/drawingml/2006/main">
          <a:graphicData uri="http://schemas.openxmlformats.org/drawingml/2006/table">
            <a:tbl>
              <a:tblPr/>
              <a:tblGrid>
                <a:gridCol w="5524500"/>
                <a:gridCol w="3143250"/>
                <a:gridCol w="2305050"/>
              </a:tblGrid>
              <a:tr h="595313">
                <a:tc>
                  <a:txBody>
                    <a:bodyPr/>
                    <a:lstStyle/>
                    <a:p>
                      <a:r>
                        <a:rPr sz="1725" b="1">
                          <a:solidFill>
                            <a:srgbClr val="FFFFFF"/>
                          </a:solidFill>
                          <a:latin typeface="Helvetica Neue"/>
                          <a:ea typeface="Helvetica Neue"/>
                          <a:cs typeface="Helvetica Neue"/>
                        </a:rPr>
                        <a:t>Enabling-power proposal</a:t>
                      </a:r>
                    </a:p>
                  </a:txBody>
                  <a:tcPr marL="91440" marR="91440" marT="45720" marB="45720">
                    <a:solidFill>
                      <a:srgbClr val="0077CD"/>
                    </a:solidFill>
                  </a:tcPr>
                </a:tc>
                <a:tc>
                  <a:txBody>
                    <a:bodyPr/>
                    <a:lstStyle/>
                    <a:p>
                      <a:r>
                        <a:rPr sz="1725" b="1">
                          <a:solidFill>
                            <a:srgbClr val="FFFFFF"/>
                          </a:solidFill>
                          <a:latin typeface="Helvetica Neue"/>
                          <a:ea typeface="Helvetica Neue"/>
                          <a:cs typeface="Helvetica Neue"/>
                        </a:rPr>
                        <a:t>Municipality</a:t>
                      </a:r>
                    </a:p>
                  </a:txBody>
                  <a:tcPr marL="91440" marR="91440" marT="45720" marB="45720">
                    <a:solidFill>
                      <a:srgbClr val="0077CD"/>
                    </a:solidFill>
                  </a:tcPr>
                </a:tc>
                <a:tc>
                  <a:txBody>
                    <a:bodyPr/>
                    <a:lstStyle/>
                    <a:p>
                      <a:r>
                        <a:rPr sz="1725" b="1">
                          <a:solidFill>
                            <a:srgbClr val="FFFFFF"/>
                          </a:solidFill>
                          <a:latin typeface="Helvetica Neue"/>
                          <a:ea typeface="Helvetica Neue"/>
                          <a:cs typeface="Helvetica Neue"/>
                        </a:rPr>
                        <a:t>MW / reported end</a:t>
                      </a:r>
                    </a:p>
                  </a:txBody>
                  <a:tcPr marL="91440" marR="91440" marT="45720" marB="45720">
                    <a:solidFill>
                      <a:srgbClr val="0077CD"/>
                    </a:solidFill>
                  </a:tcPr>
                </a:tc>
              </a:tr>
              <a:tr h="595313">
                <a:tc>
                  <a:txBody>
                    <a:bodyPr/>
                    <a:lstStyle/>
                    <a:p>
                      <a:r>
                        <a:rPr sz="1725" b="0">
                          <a:solidFill>
                            <a:srgbClr val="333333"/>
                          </a:solidFill>
                          <a:latin typeface="Helvetica Neue"/>
                          <a:ea typeface="Helvetica Neue"/>
                          <a:cs typeface="Helvetica Neue"/>
                        </a:rPr>
                        <a:t>Greenlight Electricity Centre</a:t>
                      </a:r>
                    </a:p>
                  </a:txBody>
                  <a:tcPr marL="91440" marR="91440" marT="45720" marB="45720">
                    <a:solidFill>
                      <a:srgbClr val="FFFFFF"/>
                    </a:solidFill>
                  </a:tcPr>
                </a:tc>
                <a:tc>
                  <a:txBody>
                    <a:bodyPr/>
                    <a:lstStyle/>
                    <a:p>
                      <a:r>
                        <a:rPr sz="1725" b="0">
                          <a:solidFill>
                            <a:srgbClr val="333333"/>
                          </a:solidFill>
                          <a:latin typeface="Helvetica Neue"/>
                          <a:ea typeface="Helvetica Neue"/>
                          <a:cs typeface="Helvetica Neue"/>
                        </a:rPr>
                        <a:t>Sturgeon County</a:t>
                      </a:r>
                    </a:p>
                  </a:txBody>
                  <a:tcPr marL="91440" marR="91440" marT="45720" marB="45720">
                    <a:solidFill>
                      <a:srgbClr val="FFFFFF"/>
                    </a:solidFill>
                  </a:tcPr>
                </a:tc>
                <a:tc>
                  <a:txBody>
                    <a:bodyPr/>
                    <a:lstStyle/>
                    <a:p>
                      <a:r>
                        <a:rPr sz="1725" b="0">
                          <a:solidFill>
                            <a:srgbClr val="333333"/>
                          </a:solidFill>
                          <a:latin typeface="Helvetica Neue"/>
                          <a:ea typeface="Helvetica Neue"/>
                          <a:cs typeface="Helvetica Neue"/>
                        </a:rPr>
                        <a:t>932 MW / 2030</a:t>
                      </a:r>
                    </a:p>
                  </a:txBody>
                  <a:tcPr marL="91440" marR="91440" marT="45720" marB="45720">
                    <a:solidFill>
                      <a:srgbClr val="FFFFFF"/>
                    </a:solidFill>
                  </a:tcPr>
                </a:tc>
              </a:tr>
              <a:tr h="595313">
                <a:tc>
                  <a:txBody>
                    <a:bodyPr/>
                    <a:lstStyle/>
                    <a:p>
                      <a:r>
                        <a:rPr sz="1725" b="0">
                          <a:solidFill>
                            <a:srgbClr val="333333"/>
                          </a:solidFill>
                          <a:latin typeface="Helvetica Neue"/>
                          <a:ea typeface="Helvetica Neue"/>
                          <a:cs typeface="Helvetica Neue"/>
                        </a:rPr>
                        <a:t>Teton Digital Black Bear Power Project</a:t>
                      </a:r>
                    </a:p>
                  </a:txBody>
                  <a:tcPr marL="91440" marR="91440" marT="45720" marB="45720">
                    <a:solidFill>
                      <a:srgbClr val="F2F2F2"/>
                    </a:solidFill>
                  </a:tcPr>
                </a:tc>
                <a:tc>
                  <a:txBody>
                    <a:bodyPr/>
                    <a:lstStyle/>
                    <a:p>
                      <a:r>
                        <a:rPr sz="1725" b="0">
                          <a:solidFill>
                            <a:srgbClr val="333333"/>
                          </a:solidFill>
                          <a:latin typeface="Helvetica Neue"/>
                          <a:ea typeface="Helvetica Neue"/>
                          <a:cs typeface="Helvetica Neue"/>
                        </a:rPr>
                        <a:t>Swan Hills</a:t>
                      </a:r>
                    </a:p>
                  </a:txBody>
                  <a:tcPr marL="91440" marR="91440" marT="45720" marB="45720">
                    <a:solidFill>
                      <a:srgbClr val="F2F2F2"/>
                    </a:solidFill>
                  </a:tcPr>
                </a:tc>
                <a:tc>
                  <a:txBody>
                    <a:bodyPr/>
                    <a:lstStyle/>
                    <a:p>
                      <a:r>
                        <a:rPr sz="1725" b="0">
                          <a:solidFill>
                            <a:srgbClr val="333333"/>
                          </a:solidFill>
                          <a:latin typeface="Helvetica Neue"/>
                          <a:ea typeface="Helvetica Neue"/>
                          <a:cs typeface="Helvetica Neue"/>
                        </a:rPr>
                        <a:t>466 MW / 2028</a:t>
                      </a:r>
                    </a:p>
                  </a:txBody>
                  <a:tcPr marL="91440" marR="91440" marT="45720" marB="45720">
                    <a:solidFill>
                      <a:srgbClr val="F2F2F2"/>
                    </a:solidFill>
                  </a:tcPr>
                </a:tc>
              </a:tr>
              <a:tr h="595313">
                <a:tc>
                  <a:txBody>
                    <a:bodyPr/>
                    <a:lstStyle/>
                    <a:p>
                      <a:r>
                        <a:rPr sz="1725" b="0">
                          <a:solidFill>
                            <a:srgbClr val="333333"/>
                          </a:solidFill>
                          <a:latin typeface="Helvetica Neue"/>
                          <a:ea typeface="Helvetica Neue"/>
                          <a:cs typeface="Helvetica Neue"/>
                        </a:rPr>
                        <a:t>Teton Digital Northern Forge Power Project</a:t>
                      </a:r>
                    </a:p>
                  </a:txBody>
                  <a:tcPr marL="91440" marR="91440" marT="45720" marB="45720">
                    <a:solidFill>
                      <a:srgbClr val="FFFFFF"/>
                    </a:solidFill>
                  </a:tcPr>
                </a:tc>
                <a:tc>
                  <a:txBody>
                    <a:bodyPr/>
                    <a:lstStyle/>
                    <a:p>
                      <a:r>
                        <a:rPr sz="1725" b="0">
                          <a:solidFill>
                            <a:srgbClr val="333333"/>
                          </a:solidFill>
                          <a:latin typeface="Helvetica Neue"/>
                          <a:ea typeface="Helvetica Neue"/>
                          <a:cs typeface="Helvetica Neue"/>
                        </a:rPr>
                        <a:t>Greenview No. 16</a:t>
                      </a:r>
                    </a:p>
                  </a:txBody>
                  <a:tcPr marL="91440" marR="91440" marT="45720" marB="45720">
                    <a:solidFill>
                      <a:srgbClr val="FFFFFF"/>
                    </a:solidFill>
                  </a:tcPr>
                </a:tc>
                <a:tc>
                  <a:txBody>
                    <a:bodyPr/>
                    <a:lstStyle/>
                    <a:p>
                      <a:r>
                        <a:rPr sz="1725" b="0">
                          <a:solidFill>
                            <a:srgbClr val="333333"/>
                          </a:solidFill>
                          <a:latin typeface="Helvetica Neue"/>
                          <a:ea typeface="Helvetica Neue"/>
                          <a:cs typeface="Helvetica Neue"/>
                        </a:rPr>
                        <a:t>200 MW / 2028</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8374B3EB-00D3-43C4-8435-54D290E56318}"/>
              </a:ext>
            </a:extLst>
          </p:cNvPr>
          <p:cNvSpPr>
            <a:spLocks xmlns:a="http://schemas.openxmlformats.org/drawingml/2006/main" noGrp="1"/>
          </p:cNvSpPr>
          <p:nvPr/>
        </p:nvSpPr>
        <p:spPr>
          <a:xfrm xmlns:a="http://schemas.openxmlformats.org/drawingml/2006/main">
            <a:off x="609600" y="47815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2C4E"/>
                </a:solidFill>
                <a:latin typeface="Helvetica Neue"/>
                <a:ea typeface="Helvetica Neue"/>
                <a:cs typeface="Helvetica Neue"/>
              </a:defRPr>
            </a:pPr>
            <a:r>
              <a:rPr sz="2175" b="1">
                <a:solidFill>
                  <a:srgbClr val="002C4E"/>
                </a:solidFill>
                <a:latin typeface="Helvetica Neue"/>
                <a:ea typeface="Helvetica Neue"/>
                <a:cs typeface="Helvetica Neue"/>
              </a:rPr>
              <a:t>AESO Phase 1: 1,200 MW allocated to executed load contracts.</a:t>
            </a:r>
          </a:p>
        </p:txBody>
      </p:sp>
      <p:sp>
        <p:nvSpPr>
          <p:cNvPr id="7" name="">
            <a:extLst xmlns:a="http://schemas.openxmlformats.org/drawingml/2006/main">
              <a:ext uri="{FF2B5EF4-FFF2-40B4-BE49-F238E27FC236}">
                <a16:creationId xmlns:a16="http://schemas.microsoft.com/office/drawing/2014/main" id="{905D34F9-A362-40A9-88E6-ED399711CE60}"/>
              </a:ext>
            </a:extLst>
          </p:cNvPr>
          <p:cNvSpPr>
            <a:spLocks xmlns:a="http://schemas.openxmlformats.org/drawingml/2006/main" noGrp="1"/>
          </p:cNvSpPr>
          <p:nvPr/>
        </p:nvSpPr>
        <p:spPr>
          <a:xfrm xmlns:a="http://schemas.openxmlformats.org/drawingml/2006/main">
            <a:off x="609600" y="5429250"/>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2C4E"/>
                </a:solidFill>
                <a:latin typeface="Helvetica Neue"/>
                <a:ea typeface="Helvetica Neue"/>
                <a:cs typeface="Helvetica Neue"/>
              </a:defRPr>
            </a:pPr>
            <a:r>
              <a:rPr sz="2025" b="1">
                <a:solidFill>
                  <a:srgbClr val="002C4E"/>
                </a:solidFill>
                <a:latin typeface="Helvetica Neue"/>
                <a:ea typeface="Helvetica Neue"/>
                <a:cs typeface="Helvetica Neue"/>
              </a:rPr>
              <a:t>Infrastructure needs facility-level power-on milestones from AESO and local utilities.</a:t>
            </a:r>
          </a:p>
        </p:txBody>
      </p:sp>
    </p:spTree>
    <p:extLst>
      <p:ext uri="{BB962C8B-B14F-4D97-AF65-F5344CB8AC3E}">
        <p14:creationId xmlns:p14="http://schemas.microsoft.com/office/powerpoint/2010/main" val="102980432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2F2D582-30FF-4EA9-9C15-BE5C5F30D069}"/>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Equipment availability can govern delivery dates</a:t>
            </a:r>
          </a:p>
        </p:txBody>
      </p:sp>
      <p:sp>
        <p:nvSpPr>
          <p:cNvPr id="2" name="">
            <a:extLst xmlns:a="http://schemas.openxmlformats.org/drawingml/2006/main">
              <a:ext uri="{FF2B5EF4-FFF2-40B4-BE49-F238E27FC236}">
                <a16:creationId xmlns:a16="http://schemas.microsoft.com/office/drawing/2014/main" id="{EFE0E60F-221D-4D73-B9F2-EB3FE514531D}"/>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Supplier lead-time benchmarks relevant to Alberta procurement planning.</a:t>
            </a:r>
          </a:p>
        </p:txBody>
      </p:sp>
      <p:sp>
        <p:nvSpPr>
          <p:cNvPr id="3" name="">
            <a:extLst xmlns:a="http://schemas.openxmlformats.org/drawingml/2006/main">
              <a:ext uri="{FF2B5EF4-FFF2-40B4-BE49-F238E27FC236}">
                <a16:creationId xmlns:a16="http://schemas.microsoft.com/office/drawing/2014/main" id="{0EB5BCB3-6C9D-45C3-8502-928C60799046}"/>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SourceBlue, Q2 2026 US market ranges. Alberta delivery requires a product-specific supplier quotation.</a:t>
            </a:r>
          </a:p>
        </p:txBody>
      </p:sp>
      <p:sp>
        <p:nvSpPr>
          <p:cNvPr id="4" name="">
            <a:extLst xmlns:a="http://schemas.openxmlformats.org/drawingml/2006/main">
              <a:ext uri="{FF2B5EF4-FFF2-40B4-BE49-F238E27FC236}">
                <a16:creationId xmlns:a16="http://schemas.microsoft.com/office/drawing/2014/main" id="{386EF7BA-9192-4F75-969A-69E09B658586}"/>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11</a:t>
            </a:r>
          </a:p>
        </p:txBody>
      </p:sp>
      <p:graphicFrame>
        <p:nvGraphicFramePr>
          <p:cNvPr id="10" name=""/>
          <p:cNvGraphicFramePr/>
          <p:nvPr/>
        </p:nvGraphicFramePr>
        <p:xfrm>
          <a:off xmlns:a="http://schemas.openxmlformats.org/drawingml/2006/main" x="609600" y="2000250"/>
          <a:ext xmlns:a="http://schemas.openxmlformats.org/drawingml/2006/main" cx="10972800" cy="3905250"/>
        </p:xfrm>
        <a:graphic xmlns:a="http://schemas.openxmlformats.org/drawingml/2006/main">
          <a:graphicData uri="http://schemas.openxmlformats.org/drawingml/2006/table">
            <a:tbl>
              <a:tblPr/>
              <a:tblGrid>
                <a:gridCol w="3524250"/>
                <a:gridCol w="2381250"/>
                <a:gridCol w="5067300"/>
              </a:tblGrid>
              <a:tr h="433917">
                <a:tc>
                  <a:txBody>
                    <a:bodyPr/>
                    <a:lstStyle/>
                    <a:p>
                      <a:r>
                        <a:rPr sz="1575" b="1">
                          <a:solidFill>
                            <a:srgbClr val="FFFFFF"/>
                          </a:solidFill>
                          <a:latin typeface="Helvetica Neue"/>
                          <a:ea typeface="Helvetica Neue"/>
                          <a:cs typeface="Helvetica Neue"/>
                        </a:rPr>
                        <a:t>Equipment</a:t>
                      </a:r>
                    </a:p>
                  </a:txBody>
                  <a:tcPr marL="91440" marR="91440" marT="45720" marB="45720">
                    <a:solidFill>
                      <a:srgbClr val="0077CD"/>
                    </a:solidFill>
                  </a:tcPr>
                </a:tc>
                <a:tc>
                  <a:txBody>
                    <a:bodyPr/>
                    <a:lstStyle/>
                    <a:p>
                      <a:r>
                        <a:rPr sz="1575" b="1">
                          <a:solidFill>
                            <a:srgbClr val="FFFFFF"/>
                          </a:solidFill>
                          <a:latin typeface="Helvetica Neue"/>
                          <a:ea typeface="Helvetica Neue"/>
                          <a:cs typeface="Helvetica Neue"/>
                        </a:rPr>
                        <a:t>Published lead time</a:t>
                      </a:r>
                    </a:p>
                  </a:txBody>
                  <a:tcPr marL="91440" marR="91440" marT="45720" marB="45720">
                    <a:solidFill>
                      <a:srgbClr val="0077CD"/>
                    </a:solidFill>
                  </a:tcPr>
                </a:tc>
                <a:tc>
                  <a:txBody>
                    <a:bodyPr/>
                    <a:lstStyle/>
                    <a:p>
                      <a:r>
                        <a:rPr sz="1575" b="1">
                          <a:solidFill>
                            <a:srgbClr val="FFFFFF"/>
                          </a:solidFill>
                          <a:latin typeface="Helvetica Neue"/>
                          <a:ea typeface="Helvetica Neue"/>
                          <a:cs typeface="Helvetica Neue"/>
                        </a:rPr>
                        <a:t>Delivery consideration</a:t>
                      </a:r>
                    </a:p>
                  </a:txBody>
                  <a:tcPr marL="91440" marR="91440" marT="45720" marB="45720">
                    <a:solidFill>
                      <a:srgbClr val="0077CD"/>
                    </a:solidFill>
                  </a:tcPr>
                </a:tc>
              </a:tr>
              <a:tr h="433917">
                <a:tc>
                  <a:txBody>
                    <a:bodyPr/>
                    <a:lstStyle/>
                    <a:p>
                      <a:r>
                        <a:rPr sz="1575" b="0">
                          <a:solidFill>
                            <a:srgbClr val="333333"/>
                          </a:solidFill>
                          <a:latin typeface="Helvetica Neue"/>
                          <a:ea typeface="Helvetica Neue"/>
                          <a:cs typeface="Helvetica Neue"/>
                        </a:rPr>
                        <a:t>Cooling towers</a:t>
                      </a:r>
                    </a:p>
                  </a:txBody>
                  <a:tcPr marL="91440" marR="91440" marT="45720" marB="45720">
                    <a:solidFill>
                      <a:srgbClr val="FFFFFF"/>
                    </a:solidFill>
                  </a:tcPr>
                </a:tc>
                <a:tc>
                  <a:txBody>
                    <a:bodyPr/>
                    <a:lstStyle/>
                    <a:p>
                      <a:r>
                        <a:rPr sz="1575" b="0">
                          <a:solidFill>
                            <a:srgbClr val="333333"/>
                          </a:solidFill>
                          <a:latin typeface="Helvetica Neue"/>
                          <a:ea typeface="Helvetica Neue"/>
                          <a:cs typeface="Helvetica Neue"/>
                        </a:rPr>
                        <a:t>6–19 weeks</a:t>
                      </a:r>
                    </a:p>
                  </a:txBody>
                  <a:tcPr marL="91440" marR="91440" marT="45720" marB="45720">
                    <a:solidFill>
                      <a:srgbClr val="FFFFFF"/>
                    </a:solidFill>
                  </a:tcPr>
                </a:tc>
                <a:tc>
                  <a:txBody>
                    <a:bodyPr/>
                    <a:lstStyle/>
                    <a:p>
                      <a:r>
                        <a:rPr sz="1575" b="0">
                          <a:solidFill>
                            <a:srgbClr val="333333"/>
                          </a:solidFill>
                          <a:latin typeface="Helvetica Neue"/>
                          <a:ea typeface="Helvetica Neue"/>
                          <a:cs typeface="Helvetica Neue"/>
                        </a:rPr>
                        <a:t>Cooling configuration and installation window</a:t>
                      </a:r>
                    </a:p>
                  </a:txBody>
                  <a:tcPr marL="91440" marR="91440" marT="45720" marB="45720">
                    <a:solidFill>
                      <a:srgbClr val="FFFFFF"/>
                    </a:solidFill>
                  </a:tcPr>
                </a:tc>
              </a:tr>
              <a:tr h="433917">
                <a:tc>
                  <a:txBody>
                    <a:bodyPr/>
                    <a:lstStyle/>
                    <a:p>
                      <a:r>
                        <a:rPr sz="1575" b="0">
                          <a:solidFill>
                            <a:srgbClr val="333333"/>
                          </a:solidFill>
                          <a:latin typeface="Helvetica Neue"/>
                          <a:ea typeface="Helvetica Neue"/>
                          <a:cs typeface="Helvetica Neue"/>
                        </a:rPr>
                        <a:t>Air-cooled chillers</a:t>
                      </a:r>
                    </a:p>
                  </a:txBody>
                  <a:tcPr marL="91440" marR="91440" marT="45720" marB="45720">
                    <a:solidFill>
                      <a:srgbClr val="F2F2F2"/>
                    </a:solidFill>
                  </a:tcPr>
                </a:tc>
                <a:tc>
                  <a:txBody>
                    <a:bodyPr/>
                    <a:lstStyle/>
                    <a:p>
                      <a:r>
                        <a:rPr sz="1575" b="0">
                          <a:solidFill>
                            <a:srgbClr val="333333"/>
                          </a:solidFill>
                          <a:latin typeface="Helvetica Neue"/>
                          <a:ea typeface="Helvetica Neue"/>
                          <a:cs typeface="Helvetica Neue"/>
                        </a:rPr>
                        <a:t>3–49 weeks</a:t>
                      </a:r>
                    </a:p>
                  </a:txBody>
                  <a:tcPr marL="91440" marR="91440" marT="45720" marB="45720">
                    <a:solidFill>
                      <a:srgbClr val="F2F2F2"/>
                    </a:solidFill>
                  </a:tcPr>
                </a:tc>
                <a:tc>
                  <a:txBody>
                    <a:bodyPr/>
                    <a:lstStyle/>
                    <a:p>
                      <a:r>
                        <a:rPr sz="1575" b="0">
                          <a:solidFill>
                            <a:srgbClr val="333333"/>
                          </a:solidFill>
                          <a:latin typeface="Helvetica Neue"/>
                          <a:ea typeface="Helvetica Neue"/>
                          <a:cs typeface="Helvetica Neue"/>
                        </a:rPr>
                        <a:t>Duty, redundancy and manufacturer selection</a:t>
                      </a:r>
                    </a:p>
                  </a:txBody>
                  <a:tcPr marL="91440" marR="91440" marT="45720" marB="45720">
                    <a:solidFill>
                      <a:srgbClr val="F2F2F2"/>
                    </a:solidFill>
                  </a:tcPr>
                </a:tc>
              </a:tr>
              <a:tr h="433917">
                <a:tc>
                  <a:txBody>
                    <a:bodyPr/>
                    <a:lstStyle/>
                    <a:p>
                      <a:r>
                        <a:rPr sz="1575" b="0">
                          <a:solidFill>
                            <a:srgbClr val="333333"/>
                          </a:solidFill>
                          <a:latin typeface="Helvetica Neue"/>
                          <a:ea typeface="Helvetica Neue"/>
                          <a:cs typeface="Helvetica Neue"/>
                        </a:rPr>
                        <a:t>Water-cooled chillers</a:t>
                      </a:r>
                    </a:p>
                  </a:txBody>
                  <a:tcPr marL="91440" marR="91440" marT="45720" marB="45720">
                    <a:solidFill>
                      <a:srgbClr val="FFFFFF"/>
                    </a:solidFill>
                  </a:tcPr>
                </a:tc>
                <a:tc>
                  <a:txBody>
                    <a:bodyPr/>
                    <a:lstStyle/>
                    <a:p>
                      <a:r>
                        <a:rPr sz="1575" b="0">
                          <a:solidFill>
                            <a:srgbClr val="333333"/>
                          </a:solidFill>
                          <a:latin typeface="Helvetica Neue"/>
                          <a:ea typeface="Helvetica Neue"/>
                          <a:cs typeface="Helvetica Neue"/>
                        </a:rPr>
                        <a:t>12–60 weeks</a:t>
                      </a:r>
                    </a:p>
                  </a:txBody>
                  <a:tcPr marL="91440" marR="91440" marT="45720" marB="45720">
                    <a:solidFill>
                      <a:srgbClr val="FFFFFF"/>
                    </a:solidFill>
                  </a:tcPr>
                </a:tc>
                <a:tc>
                  <a:txBody>
                    <a:bodyPr/>
                    <a:lstStyle/>
                    <a:p>
                      <a:r>
                        <a:rPr sz="1575" b="0">
                          <a:solidFill>
                            <a:srgbClr val="333333"/>
                          </a:solidFill>
                          <a:latin typeface="Helvetica Neue"/>
                          <a:ea typeface="Helvetica Neue"/>
                          <a:cs typeface="Helvetica Neue"/>
                        </a:rPr>
                        <a:t>Cooling-system design and commissioning</a:t>
                      </a:r>
                    </a:p>
                  </a:txBody>
                  <a:tcPr marL="91440" marR="91440" marT="45720" marB="45720">
                    <a:solidFill>
                      <a:srgbClr val="FFFFFF"/>
                    </a:solidFill>
                  </a:tcPr>
                </a:tc>
              </a:tr>
              <a:tr h="433917">
                <a:tc>
                  <a:txBody>
                    <a:bodyPr/>
                    <a:lstStyle/>
                    <a:p>
                      <a:r>
                        <a:rPr sz="1575" b="0">
                          <a:solidFill>
                            <a:srgbClr val="333333"/>
                          </a:solidFill>
                          <a:latin typeface="Helvetica Neue"/>
                          <a:ea typeface="Helvetica Neue"/>
                          <a:cs typeface="Helvetica Neue"/>
                        </a:rPr>
                        <a:t>Air handling units</a:t>
                      </a:r>
                    </a:p>
                  </a:txBody>
                  <a:tcPr marL="91440" marR="91440" marT="45720" marB="45720">
                    <a:solidFill>
                      <a:srgbClr val="F2F2F2"/>
                    </a:solidFill>
                  </a:tcPr>
                </a:tc>
                <a:tc>
                  <a:txBody>
                    <a:bodyPr/>
                    <a:lstStyle/>
                    <a:p>
                      <a:r>
                        <a:rPr sz="1575" b="0">
                          <a:solidFill>
                            <a:srgbClr val="333333"/>
                          </a:solidFill>
                          <a:latin typeface="Helvetica Neue"/>
                          <a:ea typeface="Helvetica Neue"/>
                          <a:cs typeface="Helvetica Neue"/>
                        </a:rPr>
                        <a:t>8–78 weeks</a:t>
                      </a:r>
                    </a:p>
                  </a:txBody>
                  <a:tcPr marL="91440" marR="91440" marT="45720" marB="45720">
                    <a:solidFill>
                      <a:srgbClr val="F2F2F2"/>
                    </a:solidFill>
                  </a:tcPr>
                </a:tc>
                <a:tc>
                  <a:txBody>
                    <a:bodyPr/>
                    <a:lstStyle/>
                    <a:p>
                      <a:r>
                        <a:rPr sz="1575" b="0">
                          <a:solidFill>
                            <a:srgbClr val="333333"/>
                          </a:solidFill>
                          <a:latin typeface="Helvetica Neue"/>
                          <a:ea typeface="Helvetica Neue"/>
                          <a:cs typeface="Helvetica Neue"/>
                        </a:rPr>
                        <a:t>Custom specification and controls integration</a:t>
                      </a:r>
                    </a:p>
                  </a:txBody>
                  <a:tcPr marL="91440" marR="91440" marT="45720" marB="45720">
                    <a:solidFill>
                      <a:srgbClr val="F2F2F2"/>
                    </a:solidFill>
                  </a:tcPr>
                </a:tc>
              </a:tr>
              <a:tr h="433917">
                <a:tc>
                  <a:txBody>
                    <a:bodyPr/>
                    <a:lstStyle/>
                    <a:p>
                      <a:r>
                        <a:rPr sz="1575" b="0">
                          <a:solidFill>
                            <a:srgbClr val="333333"/>
                          </a:solidFill>
                          <a:latin typeface="Helvetica Neue"/>
                          <a:ea typeface="Helvetica Neue"/>
                          <a:cs typeface="Helvetica Neue"/>
                        </a:rPr>
                        <a:t>Generators</a:t>
                      </a:r>
                    </a:p>
                  </a:txBody>
                  <a:tcPr marL="91440" marR="91440" marT="45720" marB="45720">
                    <a:solidFill>
                      <a:srgbClr val="FFFFFF"/>
                    </a:solidFill>
                  </a:tcPr>
                </a:tc>
                <a:tc>
                  <a:txBody>
                    <a:bodyPr/>
                    <a:lstStyle/>
                    <a:p>
                      <a:r>
                        <a:rPr sz="1575" b="0">
                          <a:solidFill>
                            <a:srgbClr val="333333"/>
                          </a:solidFill>
                          <a:latin typeface="Helvetica Neue"/>
                          <a:ea typeface="Helvetica Neue"/>
                          <a:cs typeface="Helvetica Neue"/>
                        </a:rPr>
                        <a:t>28–66 weeks</a:t>
                      </a:r>
                    </a:p>
                  </a:txBody>
                  <a:tcPr marL="91440" marR="91440" marT="45720" marB="45720">
                    <a:solidFill>
                      <a:srgbClr val="FFFFFF"/>
                    </a:solidFill>
                  </a:tcPr>
                </a:tc>
                <a:tc>
                  <a:txBody>
                    <a:bodyPr/>
                    <a:lstStyle/>
                    <a:p>
                      <a:r>
                        <a:rPr sz="1575" b="0">
                          <a:solidFill>
                            <a:srgbClr val="333333"/>
                          </a:solidFill>
                          <a:latin typeface="Helvetica Neue"/>
                          <a:ea typeface="Helvetica Neue"/>
                          <a:cs typeface="Helvetica Neue"/>
                        </a:rPr>
                        <a:t>Rating, approvals and site installation</a:t>
                      </a:r>
                    </a:p>
                  </a:txBody>
                  <a:tcPr marL="91440" marR="91440" marT="45720" marB="45720">
                    <a:solidFill>
                      <a:srgbClr val="FFFFFF"/>
                    </a:solidFill>
                  </a:tcPr>
                </a:tc>
              </a:tr>
              <a:tr h="433917">
                <a:tc>
                  <a:txBody>
                    <a:bodyPr/>
                    <a:lstStyle/>
                    <a:p>
                      <a:r>
                        <a:rPr sz="1575" b="0">
                          <a:solidFill>
                            <a:srgbClr val="333333"/>
                          </a:solidFill>
                          <a:latin typeface="Helvetica Neue"/>
                          <a:ea typeface="Helvetica Neue"/>
                          <a:cs typeface="Helvetica Neue"/>
                        </a:rPr>
                        <a:t>Low-voltage switchgear</a:t>
                      </a:r>
                    </a:p>
                  </a:txBody>
                  <a:tcPr marL="91440" marR="91440" marT="45720" marB="45720">
                    <a:solidFill>
                      <a:srgbClr val="F2F2F2"/>
                    </a:solidFill>
                  </a:tcPr>
                </a:tc>
                <a:tc>
                  <a:txBody>
                    <a:bodyPr/>
                    <a:lstStyle/>
                    <a:p>
                      <a:r>
                        <a:rPr sz="1575" b="0">
                          <a:solidFill>
                            <a:srgbClr val="333333"/>
                          </a:solidFill>
                          <a:latin typeface="Helvetica Neue"/>
                          <a:ea typeface="Helvetica Neue"/>
                          <a:cs typeface="Helvetica Neue"/>
                        </a:rPr>
                        <a:t>26–58 weeks</a:t>
                      </a:r>
                    </a:p>
                  </a:txBody>
                  <a:tcPr marL="91440" marR="91440" marT="45720" marB="45720">
                    <a:solidFill>
                      <a:srgbClr val="F2F2F2"/>
                    </a:solidFill>
                  </a:tcPr>
                </a:tc>
                <a:tc>
                  <a:txBody>
                    <a:bodyPr/>
                    <a:lstStyle/>
                    <a:p>
                      <a:r>
                        <a:rPr sz="1575" b="0">
                          <a:solidFill>
                            <a:srgbClr val="333333"/>
                          </a:solidFill>
                          <a:latin typeface="Helvetica Neue"/>
                          <a:ea typeface="Helvetica Neue"/>
                          <a:cs typeface="Helvetica Neue"/>
                        </a:rPr>
                        <a:t>Electrical design and approved submittals</a:t>
                      </a:r>
                    </a:p>
                  </a:txBody>
                  <a:tcPr marL="91440" marR="91440" marT="45720" marB="45720">
                    <a:solidFill>
                      <a:srgbClr val="F2F2F2"/>
                    </a:solidFill>
                  </a:tcPr>
                </a:tc>
              </a:tr>
              <a:tr h="433917">
                <a:tc>
                  <a:txBody>
                    <a:bodyPr/>
                    <a:lstStyle/>
                    <a:p>
                      <a:r>
                        <a:rPr sz="1575" b="0">
                          <a:solidFill>
                            <a:srgbClr val="333333"/>
                          </a:solidFill>
                          <a:latin typeface="Helvetica Neue"/>
                          <a:ea typeface="Helvetica Neue"/>
                          <a:cs typeface="Helvetica Neue"/>
                        </a:rPr>
                        <a:t>Medium-voltage switchgear</a:t>
                      </a:r>
                    </a:p>
                  </a:txBody>
                  <a:tcPr marL="91440" marR="91440" marT="45720" marB="45720">
                    <a:solidFill>
                      <a:srgbClr val="FFFFFF"/>
                    </a:solidFill>
                  </a:tcPr>
                </a:tc>
                <a:tc>
                  <a:txBody>
                    <a:bodyPr/>
                    <a:lstStyle/>
                    <a:p>
                      <a:r>
                        <a:rPr sz="1575" b="0">
                          <a:solidFill>
                            <a:srgbClr val="333333"/>
                          </a:solidFill>
                          <a:latin typeface="Helvetica Neue"/>
                          <a:ea typeface="Helvetica Neue"/>
                          <a:cs typeface="Helvetica Neue"/>
                        </a:rPr>
                        <a:t>28–48 weeks</a:t>
                      </a:r>
                    </a:p>
                  </a:txBody>
                  <a:tcPr marL="91440" marR="91440" marT="45720" marB="45720">
                    <a:solidFill>
                      <a:srgbClr val="FFFFFF"/>
                    </a:solidFill>
                  </a:tcPr>
                </a:tc>
                <a:tc>
                  <a:txBody>
                    <a:bodyPr/>
                    <a:lstStyle/>
                    <a:p>
                      <a:r>
                        <a:rPr sz="1575" b="0">
                          <a:solidFill>
                            <a:srgbClr val="333333"/>
                          </a:solidFill>
                          <a:latin typeface="Helvetica Neue"/>
                          <a:ea typeface="Helvetica Neue"/>
                          <a:cs typeface="Helvetica Neue"/>
                        </a:rPr>
                        <a:t>Utility interface and technical specification</a:t>
                      </a:r>
                    </a:p>
                  </a:txBody>
                  <a:tcPr marL="91440" marR="91440" marT="45720" marB="45720">
                    <a:solidFill>
                      <a:srgbClr val="FFFFFF"/>
                    </a:solidFill>
                  </a:tcPr>
                </a:tc>
              </a:tr>
              <a:tr h="433917">
                <a:tc>
                  <a:txBody>
                    <a:bodyPr/>
                    <a:lstStyle/>
                    <a:p>
                      <a:r>
                        <a:rPr sz="1575" b="0">
                          <a:solidFill>
                            <a:srgbClr val="333333"/>
                          </a:solidFill>
                          <a:latin typeface="Helvetica Neue"/>
                          <a:ea typeface="Helvetica Neue"/>
                          <a:cs typeface="Helvetica Neue"/>
                        </a:rPr>
                        <a:t>UPS</a:t>
                      </a:r>
                    </a:p>
                  </a:txBody>
                  <a:tcPr marL="91440" marR="91440" marT="45720" marB="45720">
                    <a:solidFill>
                      <a:srgbClr val="F2F2F2"/>
                    </a:solidFill>
                  </a:tcPr>
                </a:tc>
                <a:tc>
                  <a:txBody>
                    <a:bodyPr/>
                    <a:lstStyle/>
                    <a:p>
                      <a:r>
                        <a:rPr sz="1575" b="0">
                          <a:solidFill>
                            <a:srgbClr val="333333"/>
                          </a:solidFill>
                          <a:latin typeface="Helvetica Neue"/>
                          <a:ea typeface="Helvetica Neue"/>
                          <a:cs typeface="Helvetica Neue"/>
                        </a:rPr>
                        <a:t>16–42 weeks</a:t>
                      </a:r>
                    </a:p>
                  </a:txBody>
                  <a:tcPr marL="91440" marR="91440" marT="45720" marB="45720">
                    <a:solidFill>
                      <a:srgbClr val="F2F2F2"/>
                    </a:solidFill>
                  </a:tcPr>
                </a:tc>
                <a:tc>
                  <a:txBody>
                    <a:bodyPr/>
                    <a:lstStyle/>
                    <a:p>
                      <a:r>
                        <a:rPr sz="1575" b="0">
                          <a:solidFill>
                            <a:srgbClr val="333333"/>
                          </a:solidFill>
                          <a:latin typeface="Helvetica Neue"/>
                          <a:ea typeface="Helvetica Neue"/>
                          <a:cs typeface="Helvetica Neue"/>
                        </a:rPr>
                        <a:t>Power architecture and testing requirements</a:t>
                      </a:r>
                    </a:p>
                  </a:txBody>
                  <a:tcPr marL="91440" marR="91440" marT="45720" marB="45720">
                    <a:solidFill>
                      <a:srgbClr val="F2F2F2"/>
                    </a:solidFill>
                  </a:tcPr>
                </a:tc>
              </a:tr>
            </a:tbl>
          </a:graphicData>
        </a:graphic>
      </p:graphicFrame>
    </p:spTree>
    <p:extLst>
      <p:ext uri="{BB962C8B-B14F-4D97-AF65-F5344CB8AC3E}">
        <p14:creationId xmlns:p14="http://schemas.microsoft.com/office/powerpoint/2010/main" val="106097959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D8940A1-FBED-489C-AF41-62B63081E1FA}"/>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Three decisions would turn the screen into a delivery response</a:t>
            </a:r>
          </a:p>
        </p:txBody>
      </p:sp>
      <p:sp>
        <p:nvSpPr>
          <p:cNvPr id="2" name="">
            <a:extLst xmlns:a="http://schemas.openxmlformats.org/drawingml/2006/main">
              <a:ext uri="{FF2B5EF4-FFF2-40B4-BE49-F238E27FC236}">
                <a16:creationId xmlns:a16="http://schemas.microsoft.com/office/drawing/2014/main" id="{E16933C5-E093-4D38-8E4A-EA405F46F7DE}"/>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Proposed direction for the ADM, Infrastructure.</a:t>
            </a:r>
          </a:p>
        </p:txBody>
      </p:sp>
      <p:sp>
        <p:nvSpPr>
          <p:cNvPr id="3" name="">
            <a:extLst xmlns:a="http://schemas.openxmlformats.org/drawingml/2006/main">
              <a:ext uri="{FF2B5EF4-FFF2-40B4-BE49-F238E27FC236}">
                <a16:creationId xmlns:a16="http://schemas.microsoft.com/office/drawing/2014/main" id="{854D0567-4868-4124-A715-330EFBF95447}"/>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Proposed responsibilities and deadlines, subject to ADM direction</a:t>
            </a:r>
          </a:p>
        </p:txBody>
      </p:sp>
      <p:sp>
        <p:nvSpPr>
          <p:cNvPr id="4" name="">
            <a:extLst xmlns:a="http://schemas.openxmlformats.org/drawingml/2006/main">
              <a:ext uri="{FF2B5EF4-FFF2-40B4-BE49-F238E27FC236}">
                <a16:creationId xmlns:a16="http://schemas.microsoft.com/office/drawing/2014/main" id="{66BA256C-F2DF-44D7-AE05-B7E18AE5C638}"/>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12</a:t>
            </a:r>
          </a:p>
        </p:txBody>
      </p:sp>
      <p:graphicFrame>
        <p:nvGraphicFramePr>
          <p:cNvPr id="11" name=""/>
          <p:cNvGraphicFramePr/>
          <p:nvPr/>
        </p:nvGraphicFramePr>
        <p:xfrm>
          <a:off xmlns:a="http://schemas.openxmlformats.org/drawingml/2006/main" x="609600" y="2143125"/>
          <a:ext xmlns:a="http://schemas.openxmlformats.org/drawingml/2006/main" cx="10972800" cy="3333750"/>
        </p:xfrm>
        <a:graphic xmlns:a="http://schemas.openxmlformats.org/drawingml/2006/main">
          <a:graphicData uri="http://schemas.openxmlformats.org/drawingml/2006/table">
            <a:tbl>
              <a:tblPr/>
              <a:tblGrid>
                <a:gridCol w="5143500"/>
                <a:gridCol w="2714625"/>
                <a:gridCol w="3114675"/>
              </a:tblGrid>
              <a:tr h="833438">
                <a:tc>
                  <a:txBody>
                    <a:bodyPr/>
                    <a:lstStyle/>
                    <a:p>
                      <a:r>
                        <a:rPr sz="1725" b="1">
                          <a:solidFill>
                            <a:srgbClr val="FFFFFF"/>
                          </a:solidFill>
                          <a:latin typeface="Helvetica Neue"/>
                          <a:ea typeface="Helvetica Neue"/>
                          <a:cs typeface="Helvetica Neue"/>
                        </a:rPr>
                        <a:t>Decision requested</a:t>
                      </a:r>
                    </a:p>
                  </a:txBody>
                  <a:tcPr marL="91440" marR="91440" marT="45720" marB="45720">
                    <a:solidFill>
                      <a:srgbClr val="0077CD"/>
                    </a:solidFill>
                  </a:tcPr>
                </a:tc>
                <a:tc>
                  <a:txBody>
                    <a:bodyPr/>
                    <a:lstStyle/>
                    <a:p>
                      <a:r>
                        <a:rPr sz="1725" b="1">
                          <a:solidFill>
                            <a:srgbClr val="FFFFFF"/>
                          </a:solidFill>
                          <a:latin typeface="Helvetica Neue"/>
                          <a:ea typeface="Helvetica Neue"/>
                          <a:cs typeface="Helvetica Neue"/>
                        </a:rPr>
                        <a:t>Accountable lead</a:t>
                      </a:r>
                    </a:p>
                  </a:txBody>
                  <a:tcPr marL="91440" marR="91440" marT="45720" marB="45720">
                    <a:solidFill>
                      <a:srgbClr val="0077CD"/>
                    </a:solidFill>
                  </a:tcPr>
                </a:tc>
                <a:tc>
                  <a:txBody>
                    <a:bodyPr/>
                    <a:lstStyle/>
                    <a:p>
                      <a:r>
                        <a:rPr sz="1725" b="1">
                          <a:solidFill>
                            <a:srgbClr val="FFFFFF"/>
                          </a:solidFill>
                          <a:latin typeface="Helvetica Neue"/>
                          <a:ea typeface="Helvetica Neue"/>
                          <a:cs typeface="Helvetica Neue"/>
                        </a:rPr>
                        <a:t>Return to the ADM</a:t>
                      </a:r>
                    </a:p>
                  </a:txBody>
                  <a:tcPr marL="91440" marR="91440" marT="45720" marB="45720">
                    <a:solidFill>
                      <a:srgbClr val="0077CD"/>
                    </a:solidFill>
                  </a:tcPr>
                </a:tc>
              </a:tr>
              <a:tr h="833438">
                <a:tc>
                  <a:txBody>
                    <a:bodyPr/>
                    <a:lstStyle/>
                    <a:p>
                      <a:r>
                        <a:rPr sz="1725" b="0">
                          <a:solidFill>
                            <a:srgbClr val="333333"/>
                          </a:solidFill>
                          <a:latin typeface="Helvetica Neue"/>
                          <a:ea typeface="Helvetica Neue"/>
                          <a:cs typeface="Helvetica Neue"/>
                        </a:rPr>
                        <a:t>Authorize a 30-day review of uncommitted capital packages</a:t>
                      </a:r>
                    </a:p>
                  </a:txBody>
                  <a:tcPr marL="91440" marR="91440" marT="45720" marB="45720">
                    <a:solidFill>
                      <a:srgbClr val="FFFFFF"/>
                    </a:solidFill>
                  </a:tcPr>
                </a:tc>
                <a:tc>
                  <a:txBody>
                    <a:bodyPr/>
                    <a:lstStyle/>
                    <a:p>
                      <a:r>
                        <a:rPr sz="1725" b="0">
                          <a:solidFill>
                            <a:srgbClr val="333333"/>
                          </a:solidFill>
                          <a:latin typeface="Helvetica Neue"/>
                          <a:ea typeface="Helvetica Neue"/>
                          <a:cs typeface="Helvetica Neue"/>
                        </a:rPr>
                        <a:t>Infrastructure capital planning</a:t>
                      </a:r>
                    </a:p>
                  </a:txBody>
                  <a:tcPr marL="91440" marR="91440" marT="45720" marB="45720">
                    <a:solidFill>
                      <a:srgbClr val="FFFFFF"/>
                    </a:solidFill>
                  </a:tcPr>
                </a:tc>
                <a:tc>
                  <a:txBody>
                    <a:bodyPr/>
                    <a:lstStyle/>
                    <a:p>
                      <a:r>
                        <a:rPr sz="1725" b="0">
                          <a:solidFill>
                            <a:srgbClr val="333333"/>
                          </a:solidFill>
                          <a:latin typeface="Helvetica Neue"/>
                          <a:ea typeface="Helvetica Neue"/>
                          <a:cs typeface="Helvetica Neue"/>
                        </a:rPr>
                        <a:t>Cost-weighted exposure and contingency recommendation</a:t>
                      </a:r>
                    </a:p>
                  </a:txBody>
                  <a:tcPr marL="91440" marR="91440" marT="45720" marB="45720">
                    <a:solidFill>
                      <a:srgbClr val="FFFFFF"/>
                    </a:solidFill>
                  </a:tcPr>
                </a:tc>
              </a:tr>
              <a:tr h="833438">
                <a:tc>
                  <a:txBody>
                    <a:bodyPr/>
                    <a:lstStyle/>
                    <a:p>
                      <a:r>
                        <a:rPr sz="1725" b="0">
                          <a:solidFill>
                            <a:srgbClr val="333333"/>
                          </a:solidFill>
                          <a:latin typeface="Helvetica Neue"/>
                          <a:ea typeface="Helvetica Neue"/>
                          <a:cs typeface="Helvetica Neue"/>
                        </a:rPr>
                        <a:t>Direct a 60-day switchgear and chiller procurement review</a:t>
                      </a:r>
                    </a:p>
                  </a:txBody>
                  <a:tcPr marL="91440" marR="91440" marT="45720" marB="45720">
                    <a:solidFill>
                      <a:srgbClr val="F2F2F2"/>
                    </a:solidFill>
                  </a:tcPr>
                </a:tc>
                <a:tc>
                  <a:txBody>
                    <a:bodyPr/>
                    <a:lstStyle/>
                    <a:p>
                      <a:r>
                        <a:rPr sz="1725" b="0">
                          <a:solidFill>
                            <a:srgbClr val="333333"/>
                          </a:solidFill>
                          <a:latin typeface="Helvetica Neue"/>
                          <a:ea typeface="Helvetica Neue"/>
                          <a:cs typeface="Helvetica Neue"/>
                        </a:rPr>
                        <a:t>Infrastructure project delivery / procurement</a:t>
                      </a:r>
                    </a:p>
                  </a:txBody>
                  <a:tcPr marL="91440" marR="91440" marT="45720" marB="45720">
                    <a:solidFill>
                      <a:srgbClr val="F2F2F2"/>
                    </a:solidFill>
                  </a:tcPr>
                </a:tc>
                <a:tc>
                  <a:txBody>
                    <a:bodyPr/>
                    <a:lstStyle/>
                    <a:p>
                      <a:r>
                        <a:rPr sz="1725" b="0">
                          <a:solidFill>
                            <a:srgbClr val="333333"/>
                          </a:solidFill>
                          <a:latin typeface="Helvetica Neue"/>
                          <a:ea typeface="Helvetica Neue"/>
                          <a:cs typeface="Helvetica Neue"/>
                        </a:rPr>
                        <a:t>Release dates, alternatives and early-order business cases</a:t>
                      </a:r>
                    </a:p>
                  </a:txBody>
                  <a:tcPr marL="91440" marR="91440" marT="45720" marB="45720">
                    <a:solidFill>
                      <a:srgbClr val="F2F2F2"/>
                    </a:solidFill>
                  </a:tcPr>
                </a:tc>
              </a:tr>
              <a:tr h="833438">
                <a:tc>
                  <a:txBody>
                    <a:bodyPr/>
                    <a:lstStyle/>
                    <a:p>
                      <a:r>
                        <a:rPr sz="1725" b="0">
                          <a:solidFill>
                            <a:srgbClr val="333333"/>
                          </a:solidFill>
                          <a:latin typeface="Helvetica Neue"/>
                          <a:ea typeface="Helvetica Neue"/>
                          <a:cs typeface="Helvetica Neue"/>
                        </a:rPr>
                        <a:t>Establish a power and workforce coordination table</a:t>
                      </a:r>
                    </a:p>
                  </a:txBody>
                  <a:tcPr marL="91440" marR="91440" marT="45720" marB="45720">
                    <a:solidFill>
                      <a:srgbClr val="FFFFFF"/>
                    </a:solidFill>
                  </a:tcPr>
                </a:tc>
                <a:tc>
                  <a:txBody>
                    <a:bodyPr/>
                    <a:lstStyle/>
                    <a:p>
                      <a:r>
                        <a:rPr sz="1725" b="0">
                          <a:solidFill>
                            <a:srgbClr val="333333"/>
                          </a:solidFill>
                          <a:latin typeface="Helvetica Neue"/>
                          <a:ea typeface="Helvetica Neue"/>
                          <a:cs typeface="Helvetica Neue"/>
                        </a:rPr>
                        <a:t>Infrastructure with T&amp;I, utilities and AESO</a:t>
                      </a:r>
                    </a:p>
                  </a:txBody>
                  <a:tcPr marL="91440" marR="91440" marT="45720" marB="45720">
                    <a:solidFill>
                      <a:srgbClr val="FFFFFF"/>
                    </a:solidFill>
                  </a:tcPr>
                </a:tc>
                <a:tc>
                  <a:txBody>
                    <a:bodyPr/>
                    <a:lstStyle/>
                    <a:p>
                      <a:r>
                        <a:rPr sz="1725" b="0">
                          <a:solidFill>
                            <a:srgbClr val="333333"/>
                          </a:solidFill>
                          <a:latin typeface="Helvetica Neue"/>
                          <a:ea typeface="Helvetica Neue"/>
                          <a:cs typeface="Helvetica Neue"/>
                        </a:rPr>
                        <a:t>Power-on dates and a regional workforce plan</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B423EC67-D7D0-449E-A985-1DFDFBD38097}"/>
              </a:ext>
            </a:extLst>
          </p:cNvPr>
          <p:cNvSpPr>
            <a:spLocks xmlns:a="http://schemas.openxmlformats.org/drawingml/2006/main" noGrp="1"/>
          </p:cNvSpPr>
          <p:nvPr/>
        </p:nvSpPr>
        <p:spPr>
          <a:xfrm xmlns:a="http://schemas.openxmlformats.org/drawingml/2006/main">
            <a:off x="609600" y="5695950"/>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2C4E"/>
                </a:solidFill>
                <a:latin typeface="Helvetica Neue"/>
                <a:ea typeface="Helvetica Neue"/>
                <a:cs typeface="Helvetica Neue"/>
              </a:defRPr>
            </a:pPr>
            <a:r>
              <a:rPr sz="1800" b="1">
                <a:solidFill>
                  <a:srgbClr val="002C4E"/>
                </a:solidFill>
                <a:latin typeface="Helvetica Neue"/>
                <a:ea typeface="Helvetica Neue"/>
                <a:cs typeface="Helvetica Neue"/>
              </a:rPr>
              <a:t>No blanket contingency uplift today. Bring back a scoped funding decision after the exposure review.</a:t>
            </a:r>
          </a:p>
        </p:txBody>
      </p:sp>
    </p:spTree>
    <p:extLst>
      <p:ext uri="{BB962C8B-B14F-4D97-AF65-F5344CB8AC3E}">
        <p14:creationId xmlns:p14="http://schemas.microsoft.com/office/powerpoint/2010/main" val="14870325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E6E7384-7EFA-4203-BA70-6ACB13AADBAE}"/>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Method and interpretation</a:t>
            </a:r>
          </a:p>
        </p:txBody>
      </p:sp>
      <p:sp>
        <p:nvSpPr>
          <p:cNvPr id="2" name="">
            <a:extLst xmlns:a="http://schemas.openxmlformats.org/drawingml/2006/main">
              <a:ext uri="{FF2B5EF4-FFF2-40B4-BE49-F238E27FC236}">
                <a16:creationId xmlns:a16="http://schemas.microsoft.com/office/drawing/2014/main" id="{BD48369C-A979-4BF9-9E4E-A9B6E1D9FA6F}"/>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One evidence base, with three distinct uses.</a:t>
            </a:r>
          </a:p>
        </p:txBody>
      </p:sp>
      <p:sp>
        <p:nvSpPr>
          <p:cNvPr id="3" name="">
            <a:extLst xmlns:a="http://schemas.openxmlformats.org/drawingml/2006/main">
              <a:ext uri="{FF2B5EF4-FFF2-40B4-BE49-F238E27FC236}">
                <a16:creationId xmlns:a16="http://schemas.microsoft.com/office/drawing/2014/main" id="{4CB426CC-9163-4834-BB53-E9FD3BFF576C}"/>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Detailed calculations and source references appear in the relevant slide notes.</a:t>
            </a:r>
          </a:p>
        </p:txBody>
      </p:sp>
      <p:sp>
        <p:nvSpPr>
          <p:cNvPr id="4" name="">
            <a:extLst xmlns:a="http://schemas.openxmlformats.org/drawingml/2006/main">
              <a:ext uri="{FF2B5EF4-FFF2-40B4-BE49-F238E27FC236}">
                <a16:creationId xmlns:a16="http://schemas.microsoft.com/office/drawing/2014/main" id="{5C53C27F-5F8E-4E96-B8FB-9D87E39485E9}"/>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13</a:t>
            </a:r>
          </a:p>
        </p:txBody>
      </p:sp>
      <p:graphicFrame>
        <p:nvGraphicFramePr>
          <p:cNvPr id="10" name=""/>
          <p:cNvGraphicFramePr/>
          <p:nvPr/>
        </p:nvGraphicFramePr>
        <p:xfrm>
          <a:off xmlns:a="http://schemas.openxmlformats.org/drawingml/2006/main" x="609600" y="2095500"/>
          <a:ext xmlns:a="http://schemas.openxmlformats.org/drawingml/2006/main" cx="10972800" cy="3333750"/>
        </p:xfrm>
        <a:graphic xmlns:a="http://schemas.openxmlformats.org/drawingml/2006/main">
          <a:graphicData uri="http://schemas.openxmlformats.org/drawingml/2006/table">
            <a:tbl>
              <a:tblPr/>
              <a:tblGrid>
                <a:gridCol w="2571750"/>
                <a:gridCol w="4667250"/>
                <a:gridCol w="3733800"/>
              </a:tblGrid>
              <a:tr h="666750">
                <a:tc>
                  <a:txBody>
                    <a:bodyPr/>
                    <a:lstStyle/>
                    <a:p>
                      <a:r>
                        <a:rPr sz="1725" b="1">
                          <a:solidFill>
                            <a:srgbClr val="FFFFFF"/>
                          </a:solidFill>
                          <a:latin typeface="Helvetica Neue"/>
                          <a:ea typeface="Helvetica Neue"/>
                          <a:cs typeface="Helvetica Neue"/>
                        </a:rPr>
                        <a:t>Use</a:t>
                      </a:r>
                    </a:p>
                  </a:txBody>
                  <a:tcPr marL="91440" marR="91440" marT="45720" marB="45720">
                    <a:solidFill>
                      <a:srgbClr val="0077CD"/>
                    </a:solidFill>
                  </a:tcPr>
                </a:tc>
                <a:tc>
                  <a:txBody>
                    <a:bodyPr/>
                    <a:lstStyle/>
                    <a:p>
                      <a:r>
                        <a:rPr sz="1725" b="1">
                          <a:solidFill>
                            <a:srgbClr val="FFFFFF"/>
                          </a:solidFill>
                          <a:latin typeface="Helvetica Neue"/>
                          <a:ea typeface="Helvetica Neue"/>
                          <a:cs typeface="Helvetica Neue"/>
                        </a:rPr>
                        <a:t>Calculation / evidence</a:t>
                      </a:r>
                    </a:p>
                  </a:txBody>
                  <a:tcPr marL="91440" marR="91440" marT="45720" marB="45720">
                    <a:solidFill>
                      <a:srgbClr val="0077CD"/>
                    </a:solidFill>
                  </a:tcPr>
                </a:tc>
                <a:tc>
                  <a:txBody>
                    <a:bodyPr/>
                    <a:lstStyle/>
                    <a:p>
                      <a:r>
                        <a:rPr sz="1725" b="1">
                          <a:solidFill>
                            <a:srgbClr val="FFFFFF"/>
                          </a:solidFill>
                          <a:latin typeface="Helvetica Neue"/>
                          <a:ea typeface="Helvetica Neue"/>
                          <a:cs typeface="Helvetica Neue"/>
                        </a:rPr>
                        <a:t>Interpretation</a:t>
                      </a:r>
                    </a:p>
                  </a:txBody>
                  <a:tcPr marL="91440" marR="91440" marT="45720" marB="45720">
                    <a:solidFill>
                      <a:srgbClr val="0077CD"/>
                    </a:solidFill>
                  </a:tcPr>
                </a:tc>
              </a:tr>
              <a:tr h="666750">
                <a:tc>
                  <a:txBody>
                    <a:bodyPr/>
                    <a:lstStyle/>
                    <a:p>
                      <a:r>
                        <a:rPr sz="1725" b="0">
                          <a:solidFill>
                            <a:srgbClr val="333333"/>
                          </a:solidFill>
                          <a:latin typeface="Helvetica Neue"/>
                          <a:ea typeface="Helvetica Neue"/>
                          <a:cs typeface="Helvetica Neue"/>
                        </a:rPr>
                        <a:t>Observed landscape</a:t>
                      </a:r>
                    </a:p>
                  </a:txBody>
                  <a:tcPr marL="91440" marR="91440" marT="45720" marB="45720">
                    <a:solidFill>
                      <a:srgbClr val="FFFFFF"/>
                    </a:solidFill>
                  </a:tcPr>
                </a:tc>
                <a:tc>
                  <a:txBody>
                    <a:bodyPr/>
                    <a:lstStyle/>
                    <a:p>
                      <a:r>
                        <a:rPr sz="1725" b="0">
                          <a:solidFill>
                            <a:srgbClr val="333333"/>
                          </a:solidFill>
                          <a:latin typeface="Helvetica Neue"/>
                          <a:ea typeface="Helvetica Neue"/>
                          <a:cs typeface="Helvetica Neue"/>
                        </a:rPr>
                        <a:t>Dated project inventory, workforce stocks, price indexes, published lead times</a:t>
                      </a:r>
                    </a:p>
                  </a:txBody>
                  <a:tcPr marL="91440" marR="91440" marT="45720" marB="45720">
                    <a:solidFill>
                      <a:srgbClr val="FFFFFF"/>
                    </a:solidFill>
                  </a:tcPr>
                </a:tc>
                <a:tc>
                  <a:txBody>
                    <a:bodyPr/>
                    <a:lstStyle/>
                    <a:p>
                      <a:r>
                        <a:rPr sz="1725" b="0">
                          <a:solidFill>
                            <a:srgbClr val="333333"/>
                          </a:solidFill>
                          <a:latin typeface="Helvetica Neue"/>
                          <a:ea typeface="Helvetica Neue"/>
                          <a:cs typeface="Helvetica Neue"/>
                        </a:rPr>
                        <a:t>Records and source periods remain visible</a:t>
                      </a:r>
                    </a:p>
                  </a:txBody>
                  <a:tcPr marL="91440" marR="91440" marT="45720" marB="45720">
                    <a:solidFill>
                      <a:srgbClr val="FFFFFF"/>
                    </a:solidFill>
                  </a:tcPr>
                </a:tc>
              </a:tr>
              <a:tr h="666750">
                <a:tc>
                  <a:txBody>
                    <a:bodyPr/>
                    <a:lstStyle/>
                    <a:p>
                      <a:r>
                        <a:rPr sz="1725" b="0">
                          <a:solidFill>
                            <a:srgbClr val="333333"/>
                          </a:solidFill>
                          <a:latin typeface="Helvetica Neue"/>
                          <a:ea typeface="Helvetica Neue"/>
                          <a:cs typeface="Helvetica Neue"/>
                        </a:rPr>
                        <a:t>Labour demand model</a:t>
                      </a:r>
                    </a:p>
                  </a:txBody>
                  <a:tcPr marL="91440" marR="91440" marT="45720" marB="45720">
                    <a:solidFill>
                      <a:srgbClr val="F2F2F2"/>
                    </a:solidFill>
                  </a:tcPr>
                </a:tc>
                <a:tc>
                  <a:txBody>
                    <a:bodyPr/>
                    <a:lstStyle/>
                    <a:p>
                      <a:r>
                        <a:rPr sz="1725" b="0">
                          <a:solidFill>
                            <a:srgbClr val="333333"/>
                          </a:solidFill>
                          <a:latin typeface="Helvetica Neue"/>
                          <a:ea typeface="Helvetica Neue"/>
                          <a:cs typeface="Helvetica Neue"/>
                        </a:rPr>
                        <a:t>Project trade hours × monthly work-profile weights ÷ annual paid hours</a:t>
                      </a:r>
                    </a:p>
                  </a:txBody>
                  <a:tcPr marL="91440" marR="91440" marT="45720" marB="45720">
                    <a:solidFill>
                      <a:srgbClr val="F2F2F2"/>
                    </a:solidFill>
                  </a:tcPr>
                </a:tc>
                <a:tc>
                  <a:txBody>
                    <a:bodyPr/>
                    <a:lstStyle/>
                    <a:p>
                      <a:r>
                        <a:rPr sz="1725" b="0">
                          <a:solidFill>
                            <a:srgbClr val="333333"/>
                          </a:solidFill>
                          <a:latin typeface="Helvetica Neue"/>
                          <a:ea typeface="Helvetica Neue"/>
                          <a:cs typeface="Helvetica Neue"/>
                        </a:rPr>
                        <a:t>Schedule-resolved conditional model; low / central / high intensity</a:t>
                      </a:r>
                    </a:p>
                  </a:txBody>
                  <a:tcPr marL="91440" marR="91440" marT="45720" marB="45720">
                    <a:solidFill>
                      <a:srgbClr val="F2F2F2"/>
                    </a:solidFill>
                  </a:tcPr>
                </a:tc>
              </a:tr>
              <a:tr h="666750">
                <a:tc>
                  <a:txBody>
                    <a:bodyPr/>
                    <a:lstStyle/>
                    <a:p>
                      <a:r>
                        <a:rPr sz="1725" b="0">
                          <a:solidFill>
                            <a:srgbClr val="333333"/>
                          </a:solidFill>
                          <a:latin typeface="Helvetica Neue"/>
                          <a:ea typeface="Helvetica Neue"/>
                          <a:cs typeface="Helvetica Neue"/>
                        </a:rPr>
                        <a:t>Budget sensitivity</a:t>
                      </a:r>
                    </a:p>
                  </a:txBody>
                  <a:tcPr marL="91440" marR="91440" marT="45720" marB="45720">
                    <a:solidFill>
                      <a:srgbClr val="FFFFFF"/>
                    </a:solidFill>
                  </a:tcPr>
                </a:tc>
                <a:tc>
                  <a:txBody>
                    <a:bodyPr/>
                    <a:lstStyle/>
                    <a:p>
                      <a:r>
                        <a:rPr sz="1725" b="0">
                          <a:solidFill>
                            <a:srgbClr val="333333"/>
                          </a:solidFill>
                          <a:latin typeface="Helvetica Neue"/>
                          <a:ea typeface="Helvetica Neue"/>
                          <a:cs typeface="Helvetica Neue"/>
                        </a:rPr>
                        <a:t>Capital plan × exposed share × price movement</a:t>
                      </a:r>
                    </a:p>
                  </a:txBody>
                  <a:tcPr marL="91440" marR="91440" marT="45720" marB="45720">
                    <a:solidFill>
                      <a:srgbClr val="FFFFFF"/>
                    </a:solidFill>
                  </a:tcPr>
                </a:tc>
                <a:tc>
                  <a:txBody>
                    <a:bodyPr/>
                    <a:lstStyle/>
                    <a:p>
                      <a:r>
                        <a:rPr sz="1725" b="0">
                          <a:solidFill>
                            <a:srgbClr val="333333"/>
                          </a:solidFill>
                          <a:latin typeface="Helvetica Neue"/>
                          <a:ea typeface="Helvetica Neue"/>
                          <a:cs typeface="Helvetica Neue"/>
                        </a:rPr>
                        <a:t>Budget stress; no causal AI premium</a:t>
                      </a:r>
                    </a:p>
                  </a:txBody>
                  <a:tcPr marL="91440" marR="91440" marT="45720" marB="45720">
                    <a:solidFill>
                      <a:srgbClr val="FFFFFF"/>
                    </a:solidFill>
                  </a:tcPr>
                </a:tc>
              </a:tr>
              <a:tr h="666750">
                <a:tc>
                  <a:txBody>
                    <a:bodyPr/>
                    <a:lstStyle/>
                    <a:p>
                      <a:r>
                        <a:rPr sz="1725" b="0">
                          <a:solidFill>
                            <a:srgbClr val="333333"/>
                          </a:solidFill>
                          <a:latin typeface="Helvetica Neue"/>
                          <a:ea typeface="Helvetica Neue"/>
                          <a:cs typeface="Helvetica Neue"/>
                        </a:rPr>
                        <a:t>Project and power exposure</a:t>
                      </a:r>
                    </a:p>
                  </a:txBody>
                  <a:tcPr marL="91440" marR="91440" marT="45720" marB="45720">
                    <a:solidFill>
                      <a:srgbClr val="F2F2F2"/>
                    </a:solidFill>
                  </a:tcPr>
                </a:tc>
                <a:tc>
                  <a:txBody>
                    <a:bodyPr/>
                    <a:lstStyle/>
                    <a:p>
                      <a:r>
                        <a:rPr sz="1725" b="0">
                          <a:solidFill>
                            <a:srgbClr val="333333"/>
                          </a:solidFill>
                          <a:latin typeface="Helvetica Neue"/>
                          <a:ea typeface="Helvetica Neue"/>
                          <a:cs typeface="Helvetica Neue"/>
                        </a:rPr>
                        <a:t>Named Infrastructure developer, reported schedules, AESO process evidence</a:t>
                      </a:r>
                    </a:p>
                  </a:txBody>
                  <a:tcPr marL="91440" marR="91440" marT="45720" marB="45720">
                    <a:solidFill>
                      <a:srgbClr val="F2F2F2"/>
                    </a:solidFill>
                  </a:tcPr>
                </a:tc>
                <a:tc>
                  <a:txBody>
                    <a:bodyPr/>
                    <a:lstStyle/>
                    <a:p>
                      <a:r>
                        <a:rPr sz="1725" b="0">
                          <a:solidFill>
                            <a:srgbClr val="333333"/>
                          </a:solidFill>
                          <a:latin typeface="Helvetica Neue"/>
                          <a:ea typeface="Helvetica Neue"/>
                          <a:cs typeface="Helvetica Neue"/>
                        </a:rPr>
                        <a:t>Screen for confirmation; no inferred critical-path delay</a:t>
                      </a:r>
                    </a:p>
                  </a:txBody>
                  <a:tcPr marL="91440" marR="91440" marT="45720" marB="45720">
                    <a:solidFill>
                      <a:srgbClr val="F2F2F2"/>
                    </a:solidFill>
                  </a:tcPr>
                </a:tc>
              </a:tr>
            </a:tbl>
          </a:graphicData>
        </a:graphic>
      </p:graphicFrame>
    </p:spTree>
    <p:extLst>
      <p:ext uri="{BB962C8B-B14F-4D97-AF65-F5344CB8AC3E}">
        <p14:creationId xmlns:p14="http://schemas.microsoft.com/office/powerpoint/2010/main" val="789525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2026-09-06T22:11:35.6950000Z</dcterms:created>
  <dcterms:modified xsi:type="dcterms:W3CDTF">2026-09-06T22:11:35.6950000Z</dcterms:modified>
</coreProperties>
</file>