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73ed8900f634a99" /><Relationship Type="http://schemas.openxmlformats.org/officeDocument/2006/relationships/extended-properties" Target="/docProps/app.xml" Id="R0b04e383e3a24a43" /><Relationship Type="http://schemas.openxmlformats.org/officeDocument/2006/relationships/officeDocument" Target="/ppt/presentation.xml" Id="R4a336f818969464c" /></Relationships>
</file>

<file path=ppt/presentation.xml><?xml version="1.0" encoding="utf-8"?>
<p:presentation xmlns:p="http://schemas.openxmlformats.org/presentationml/2006/main">
  <p:sldMasterIdLst>
    <p:sldMasterId xmlns:r="http://schemas.openxmlformats.org/officeDocument/2006/relationships" id="2147483648" r:id="Re56226be09724ebc"/>
  </p:sldMasterIdLst>
  <p:notesMasterIdLst>
    <p:notesMasterId xmlns:r="http://schemas.openxmlformats.org/officeDocument/2006/relationships" r:id="R9ee38ddba9d44dce"/>
  </p:notesMasterIdLst>
  <p:sldIdLst>
    <p:sldId xmlns:r="http://schemas.openxmlformats.org/officeDocument/2006/relationships" id="256" r:id="R7a259af23b634e74"/>
    <p:sldId xmlns:r="http://schemas.openxmlformats.org/officeDocument/2006/relationships" id="257" r:id="R595a7f3c99174b75"/>
    <p:sldId xmlns:r="http://schemas.openxmlformats.org/officeDocument/2006/relationships" id="258" r:id="R9cc993ca9b924087"/>
    <p:sldId xmlns:r="http://schemas.openxmlformats.org/officeDocument/2006/relationships" id="259" r:id="Re8389e134b684f1a"/>
    <p:sldId xmlns:r="http://schemas.openxmlformats.org/officeDocument/2006/relationships" id="260" r:id="R1fa4a5cc04684434"/>
    <p:sldId xmlns:r="http://schemas.openxmlformats.org/officeDocument/2006/relationships" id="261" r:id="R327dc2f20f0c4dfc"/>
    <p:sldId xmlns:r="http://schemas.openxmlformats.org/officeDocument/2006/relationships" id="262" r:id="Rc0605c5fb70a4600"/>
    <p:sldId xmlns:r="http://schemas.openxmlformats.org/officeDocument/2006/relationships" id="263" r:id="Reac741fdc6e4428b"/>
    <p:sldId xmlns:r="http://schemas.openxmlformats.org/officeDocument/2006/relationships" id="264" r:id="R2fcf8626cc804912"/>
    <p:sldId xmlns:r="http://schemas.openxmlformats.org/officeDocument/2006/relationships" id="265" r:id="Rfef2269d58cb465e"/>
    <p:sldId xmlns:r="http://schemas.openxmlformats.org/officeDocument/2006/relationships" id="266" r:id="R39f8c8c514564782"/>
    <p:sldId xmlns:r="http://schemas.openxmlformats.org/officeDocument/2006/relationships" id="267" r:id="R33adde00f5874205"/>
    <p:sldId xmlns:r="http://schemas.openxmlformats.org/officeDocument/2006/relationships" id="268" r:id="Ra8e27c389f674486"/>
    <p:sldId xmlns:r="http://schemas.openxmlformats.org/officeDocument/2006/relationships" id="269" r:id="R059d5aebecb54acf"/>
    <p:sldId xmlns:r="http://schemas.openxmlformats.org/officeDocument/2006/relationships" id="270" r:id="Re9d6a5e5cc4d48d0"/>
    <p:sldId xmlns:r="http://schemas.openxmlformats.org/officeDocument/2006/relationships" id="271" r:id="R7332f2379281411d"/>
    <p:sldId xmlns:r="http://schemas.openxmlformats.org/officeDocument/2006/relationships" id="272" r:id="R9f2b7e78b43b4ab7"/>
    <p:sldId xmlns:r="http://schemas.openxmlformats.org/officeDocument/2006/relationships" id="273" r:id="R61ff4ec554bb430b"/>
    <p:sldId xmlns:r="http://schemas.openxmlformats.org/officeDocument/2006/relationships" id="274" r:id="Rad1c34567ade4af8"/>
    <p:sldId xmlns:r="http://schemas.openxmlformats.org/officeDocument/2006/relationships" id="275" r:id="Rf8fe8a0e48a64847"/>
    <p:sldId xmlns:r="http://schemas.openxmlformats.org/officeDocument/2006/relationships" id="276" r:id="R0c5d76b17cde4a6d"/>
    <p:sldId xmlns:r="http://schemas.openxmlformats.org/officeDocument/2006/relationships" id="277" r:id="Ref414e4484fd49be"/>
    <p:sldId xmlns:r="http://schemas.openxmlformats.org/officeDocument/2006/relationships" id="278" r:id="Re6d33207ad414189"/>
    <p:sldId xmlns:r="http://schemas.openxmlformats.org/officeDocument/2006/relationships" id="279" r:id="Rd3cedd71850f4c3d"/>
    <p:sldId xmlns:r="http://schemas.openxmlformats.org/officeDocument/2006/relationships" id="280" r:id="Ra6d1de6cef03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e6e40dfaed4a2a" /><Relationship Type="http://schemas.openxmlformats.org/officeDocument/2006/relationships/slideMaster" Target="/ppt/slideMasters/slideMaster1.xml" Id="Re56226be09724ebc" /><Relationship Type="http://schemas.openxmlformats.org/officeDocument/2006/relationships/notesMaster" Target="/ppt/notesMasters/notesMaster1.xml" Id="R9ee38ddba9d44dce" /><Relationship Type="http://schemas.openxmlformats.org/officeDocument/2006/relationships/presProps" Target="/ppt/presProps.xml" Id="R5d52a0129d654873" /><Relationship Type="http://schemas.openxmlformats.org/officeDocument/2006/relationships/tableStyles" Target="/ppt/tableStyles.xml" Id="R39cdc8cc81cc4a09" /><Relationship Type="http://schemas.openxmlformats.org/officeDocument/2006/relationships/slide" Target="/ppt/slides/slide1.xml" Id="R7a259af23b634e74" /><Relationship Type="http://schemas.openxmlformats.org/officeDocument/2006/relationships/slide" Target="/ppt/slides/slide2.xml" Id="R595a7f3c99174b75" /><Relationship Type="http://schemas.openxmlformats.org/officeDocument/2006/relationships/slide" Target="/ppt/slides/slide3.xml" Id="R9cc993ca9b924087" /><Relationship Type="http://schemas.openxmlformats.org/officeDocument/2006/relationships/slide" Target="/ppt/slides/slide4.xml" Id="Re8389e134b684f1a" /><Relationship Type="http://schemas.openxmlformats.org/officeDocument/2006/relationships/slide" Target="/ppt/slides/slide5.xml" Id="R1fa4a5cc04684434" /><Relationship Type="http://schemas.openxmlformats.org/officeDocument/2006/relationships/slide" Target="/ppt/slides/slide6.xml" Id="R327dc2f20f0c4dfc" /><Relationship Type="http://schemas.openxmlformats.org/officeDocument/2006/relationships/slide" Target="/ppt/slides/slide7.xml" Id="Rc0605c5fb70a4600" /><Relationship Type="http://schemas.openxmlformats.org/officeDocument/2006/relationships/slide" Target="/ppt/slides/slide8.xml" Id="Reac741fdc6e4428b" /><Relationship Type="http://schemas.openxmlformats.org/officeDocument/2006/relationships/slide" Target="/ppt/slides/slide9.xml" Id="R2fcf8626cc804912" /><Relationship Type="http://schemas.openxmlformats.org/officeDocument/2006/relationships/slide" Target="/ppt/slides/slide10.xml" Id="Rfef2269d58cb465e" /><Relationship Type="http://schemas.openxmlformats.org/officeDocument/2006/relationships/slide" Target="/ppt/slides/slide11.xml" Id="R39f8c8c514564782" /><Relationship Type="http://schemas.openxmlformats.org/officeDocument/2006/relationships/slide" Target="/ppt/slides/slide12.xml" Id="R33adde00f5874205" /><Relationship Type="http://schemas.openxmlformats.org/officeDocument/2006/relationships/slide" Target="/ppt/slides/slide13.xml" Id="Ra8e27c389f674486" /><Relationship Type="http://schemas.openxmlformats.org/officeDocument/2006/relationships/slide" Target="/ppt/slides/slide14.xml" Id="R059d5aebecb54acf" /><Relationship Type="http://schemas.openxmlformats.org/officeDocument/2006/relationships/slide" Target="/ppt/slides/slide15.xml" Id="Re9d6a5e5cc4d48d0" /><Relationship Type="http://schemas.openxmlformats.org/officeDocument/2006/relationships/slide" Target="/ppt/slides/slide16.xml" Id="R7332f2379281411d" /><Relationship Type="http://schemas.openxmlformats.org/officeDocument/2006/relationships/slide" Target="/ppt/slides/slide17.xml" Id="R9f2b7e78b43b4ab7" /><Relationship Type="http://schemas.openxmlformats.org/officeDocument/2006/relationships/slide" Target="/ppt/slides/slide18.xml" Id="R61ff4ec554bb430b" /><Relationship Type="http://schemas.openxmlformats.org/officeDocument/2006/relationships/slide" Target="/ppt/slides/slide19.xml" Id="Rad1c34567ade4af8" /><Relationship Type="http://schemas.openxmlformats.org/officeDocument/2006/relationships/slide" Target="/ppt/slides/slide20.xml" Id="Rf8fe8a0e48a64847" /><Relationship Type="http://schemas.openxmlformats.org/officeDocument/2006/relationships/slide" Target="/ppt/slides/slide21.xml" Id="R0c5d76b17cde4a6d" /><Relationship Type="http://schemas.openxmlformats.org/officeDocument/2006/relationships/slide" Target="/ppt/slides/slide22.xml" Id="Ref414e4484fd49be" /><Relationship Type="http://schemas.openxmlformats.org/officeDocument/2006/relationships/slide" Target="/ppt/slides/slide23.xml" Id="Re6d33207ad414189" /><Relationship Type="http://schemas.openxmlformats.org/officeDocument/2006/relationships/slide" Target="/ppt/slides/slide24.xml" Id="Rd3cedd71850f4c3d" /><Relationship Type="http://schemas.openxmlformats.org/officeDocument/2006/relationships/slide" Target="/ppt/slides/slide25.xml" Id="Ra6d1de6cef034a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a0bbb653143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819d8bc14e4406" /><Relationship Type="http://schemas.openxmlformats.org/officeDocument/2006/relationships/notesMaster" Target="/ppt/notesMasters/notesMaster1.xml" Id="R451e36a7c3f34d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ce97a97c0b4d37" /><Relationship Type="http://schemas.openxmlformats.org/officeDocument/2006/relationships/notesMaster" Target="/ppt/notesMasters/notesMaster1.xml" Id="R379d3cedf4934e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27d71637564a3e" /><Relationship Type="http://schemas.openxmlformats.org/officeDocument/2006/relationships/notesMaster" Target="/ppt/notesMasters/notesMaster1.xml" Id="R4ae346577b814e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20fcc5ffae409a" /><Relationship Type="http://schemas.openxmlformats.org/officeDocument/2006/relationships/notesMaster" Target="/ppt/notesMasters/notesMaster1.xml" Id="Rbbb1722b6a3e47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bcbb6c4cd3438a" /><Relationship Type="http://schemas.openxmlformats.org/officeDocument/2006/relationships/notesMaster" Target="/ppt/notesMasters/notesMaster1.xml" Id="R9b0f05cebdc0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de5d2019294651" /><Relationship Type="http://schemas.openxmlformats.org/officeDocument/2006/relationships/notesMaster" Target="/ppt/notesMasters/notesMaster1.xml" Id="R0fb11e6ece964e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b5c9cee04340d5" /><Relationship Type="http://schemas.openxmlformats.org/officeDocument/2006/relationships/notesMaster" Target="/ppt/notesMasters/notesMaster1.xml" Id="R3903ad936bf14b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9cee1dbe7f494d" /><Relationship Type="http://schemas.openxmlformats.org/officeDocument/2006/relationships/notesMaster" Target="/ppt/notesMasters/notesMaster1.xml" Id="R484c37172f3440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86900d6ad84724" /><Relationship Type="http://schemas.openxmlformats.org/officeDocument/2006/relationships/notesMaster" Target="/ppt/notesMasters/notesMaster1.xml" Id="Redfaa542abd049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8c5f3f72eb435f" /><Relationship Type="http://schemas.openxmlformats.org/officeDocument/2006/relationships/notesMaster" Target="/ppt/notesMasters/notesMaster1.xml" Id="R408ebe6c18f644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1ca6460ed74e9f" /><Relationship Type="http://schemas.openxmlformats.org/officeDocument/2006/relationships/notesMaster" Target="/ppt/notesMasters/notesMaster1.xml" Id="R15a43744a3584b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877cd430cb412e" /><Relationship Type="http://schemas.openxmlformats.org/officeDocument/2006/relationships/notesMaster" Target="/ppt/notesMasters/notesMaster1.xml" Id="Rc7c11f0de6d140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2c4b26e8ac4ba1" /><Relationship Type="http://schemas.openxmlformats.org/officeDocument/2006/relationships/notesMaster" Target="/ppt/notesMasters/notesMaster1.xml" Id="R0db84fb8c93147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120979ea2f4bd5" /><Relationship Type="http://schemas.openxmlformats.org/officeDocument/2006/relationships/notesMaster" Target="/ppt/notesMasters/notesMaster1.xml" Id="Rb0236e9edbc945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56f1ccf95a4f5b" /><Relationship Type="http://schemas.openxmlformats.org/officeDocument/2006/relationships/notesMaster" Target="/ppt/notesMasters/notesMaster1.xml" Id="R95b49ec51b6e4f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f96069020541e1" /><Relationship Type="http://schemas.openxmlformats.org/officeDocument/2006/relationships/notesMaster" Target="/ppt/notesMasters/notesMaster1.xml" Id="R9c6c3dc9237544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8e04b357a2425f" /><Relationship Type="http://schemas.openxmlformats.org/officeDocument/2006/relationships/notesMaster" Target="/ppt/notesMasters/notesMaster1.xml" Id="Rafcbff1c945d4a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2724f994b744ab" /><Relationship Type="http://schemas.openxmlformats.org/officeDocument/2006/relationships/notesMaster" Target="/ppt/notesMasters/notesMaster1.xml" Id="R0072b40dbf744c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4bc9d14c8645aa" /><Relationship Type="http://schemas.openxmlformats.org/officeDocument/2006/relationships/notesMaster" Target="/ppt/notesMasters/notesMaster1.xml" Id="R0216d05a4d5a4f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0adb1be7ad49f3" /><Relationship Type="http://schemas.openxmlformats.org/officeDocument/2006/relationships/notesMaster" Target="/ppt/notesMasters/notesMaster1.xml" Id="R95e7cdd65c844b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7d66c58ec294ef8" /><Relationship Type="http://schemas.openxmlformats.org/officeDocument/2006/relationships/notesMaster" Target="/ppt/notesMasters/notesMaster1.xml" Id="Rfa77fbe3ba7a49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db5709592e4fc5" /><Relationship Type="http://schemas.openxmlformats.org/officeDocument/2006/relationships/notesMaster" Target="/ppt/notesMasters/notesMaster1.xml" Id="R8289378dcab845b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7182b2370342db" /><Relationship Type="http://schemas.openxmlformats.org/officeDocument/2006/relationships/notesMaster" Target="/ppt/notesMasters/notesMaster1.xml" Id="R37e1c1a59c7145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74bc2f5b4e34fff" /><Relationship Type="http://schemas.openxmlformats.org/officeDocument/2006/relationships/notesMaster" Target="/ppt/notesMasters/notesMaster1.xml" Id="R4bcf5bb3e8dd4e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741b03c1474fd4" /><Relationship Type="http://schemas.openxmlformats.org/officeDocument/2006/relationships/notesMaster" Target="/ppt/notesMasters/notesMaster1.xml" Id="R8d6c8ad1a1b64a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analysis. Colour reference: https://www.alberta.ca/colour-palette. Government of Alberta blue, sky and prairie palette. No government endorsement implied. Project snapshot 31 August 2026. Source dates are retained on each evidence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The 19 core records can represent phases or multi-location programmes, rather than unique campuses. Three enabling power records are separate. Proposed status does not establish financing, procurement or construction start. The capital plan spans different asset classes and includes more than construction labour.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Seven core estimated costs sum to CAD49.01B. The other 12 core records lack costs. The sum excludes CAD6.40B from three enabling power records. Amounts may include servers, land and enabling works. No uniform construction or labour share is applied. Names are shortened on the chart; the appendix carries the full record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interpretation of typical data-centre construction packages. The table identifies shared resources, not measured project quantities or incremental Alberta job demand. Site location, cooling design, electrical architecture and prefabrication determine the final scope. Electrical utility connections and permitting can be separate from the building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Statistics Canada, Alberta observations. Census Table 98-10-0449-01, May 2021 employed persons: https://www150.statcan.gc.ca/t1/tbl1/en/tv.action?pid=9810044901</a:t>
            </a:r>
          </a:p>
          <a:p xmlns:a="http://schemas.openxmlformats.org/drawingml/2006/main">
            <a:r>
              <a:t>Job Vacancy and Wage Survey, Table 14-10-0444-01, Q1 2026: https://www150.statcan.gc.ca/t1/tbl1/en/tv.action?pid=1410044401</a:t>
            </a:r>
          </a:p>
          <a:p xmlns:a="http://schemas.openxmlformats.org/drawingml/2006/main">
            <a:r>
              <a:t>Analyst-selected bracket, not empirically calibrated probabilities, rates or cost shares. Construction = reported costed capex × realization × construction share. Paid labour hours = construction × labour share / fully loaded paid-hour cost. Trade FTE = paid hours × trade payroll share / 1840 / 5. No licensed productivity rates implied. Treating scope-diverse reported investment with one construction share is an explicit stress assumption. The five-year allocation may be illustrated as 2026–2030, but is not supported by the six published completion dates and includes work that may already be underway. It is not a forward-only forecast. Peak quarterly activity and net Alberta hiring are not estimated. Three-year concentration multiplies annual averages by 5/3. High and low cases jointly vary assumptions, not statistical confidence bounds.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Alberta observations. Census Table 98-10-0449-01, May 2021 employed persons: https://www150.statcan.gc.ca/t1/tbl1/en/tv.action?pid=9810044901</a:t>
            </a:r>
          </a:p>
          <a:p xmlns:a="http://schemas.openxmlformats.org/drawingml/2006/main">
            <a:r>
              <a:t>Job Vacancy and Wage Survey, Table 14-10-0444-01, Q1 2026: https://www150.statcan.gc.ca/t1/tbl1/en/tv.action?pid=1410044401</a:t>
            </a:r>
          </a:p>
          <a:p xmlns:a="http://schemas.openxmlformats.org/drawingml/2006/main">
            <a:r>
              <a:t>Numerator is conditional gross average FTE; denominator is historical employed persons across industries. These are scale comparisons, not current utilization, vacancy rates, shortages or employment growth. No assumption that the workforce is idle. HVAC mechanics do not represent the whole mechanical workforce. Workers may move across regions, projects or provinces. Published completion years do not establish a simultaneous peak.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Year-over-year component changes from the industrial-factory archetype. It is a proxy for construction cost conditions, not a data-centre construction price index. Figures do not measure physical material volumes or supplier spare capacity, nor identify the causal contribution of data-centre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Exposure share is an analyst assumption, not measured capital-plan composition. Impact = $10,687M × exposed share × observed YoY percentage/100. Each row assumes the same quarter of the plan independently exposed to that component movement. No rows are summed. The historical movement is applied as a stress, not a future forecast or AI-attributable premium. Use uncommitted scope, contract allocation of price risk and current baseline price date before reserving contingency. 1% of whole plan = $106.87M; 10% = $1,068.7M. The plan is consolidated provincial capital, not the Infrastructure ministry budget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Exact filter: developer equals Alberta Infrastructure and schedule_overlap_status equals overlaps in the canonical exposure CSV for 2027–2036. 245 Infrastructure-developer records in the source, 184 with incomplete schedules. This is not a legal title search or a complete list of all GoA-funded projects. Examples intentionally span Calgary/Chestermere, central Alberta, Edmonton and the northwest. Electrical, cooling and commissioning are engineering package intersections, not observed current phases. Beacon-area and Wonder Valley-area proximity does not establish a shared contractor. Missing schedules remain unknown. Full register preserves municipality, stage and reported year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Greenlight Electricity Centre: https://greenlightelectricitycentre.ca/</a:t>
            </a:r>
          </a:p>
          <a:p xmlns:a="http://schemas.openxmlformats.org/drawingml/2006/main">
            <a:r>
              <a:t>Teton Digital Black Bear Power Project: https://www.tetondigital.io/black-bear</a:t>
            </a:r>
          </a:p>
          <a:p xmlns:a="http://schemas.openxmlformats.org/drawingml/2006/main">
            <a:r>
              <a:t>Teton Digital Northern Forge Power Project: https://www.tetondigital.io/northern-forge</a:t>
            </a:r>
          </a:p>
          <a:p xmlns:a="http://schemas.openxmlformats.org/drawingml/2006/main">
            <a:r>
              <a:t>https://www.aeso.ca/grid/connecting-to-the-grid/large-load-projects/</a:t>
            </a:r>
          </a:p>
          <a:p xmlns:a="http://schemas.openxmlformats.org/drawingml/2006/main">
            <a:r>
              <a:t>AESO checked 6 September 2026: Phase 1 allocates 970 MW to GLDC Load and 230 MW to Keephills Data Centre Phase I. The projects continue through the Connection Process. Phase 2A is a BYOG process. Executed contracts do not mean energized load. Generation proposals total 1,598 MW, distinct from load contracts and not a measure of spare network capacity. Their data-centre-enabling classification is analytical. No inference of a province-wide transmission shortage or a public-facility delay. Distribution service and equipment can matter independently of the large-load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https://sourceblue.com/equipment-cost-index/q2-2026-cost-index-report</a:t>
            </a:r>
          </a:p>
          <a:p xmlns:a="http://schemas.openxmlformats.org/drawingml/2006/main">
            <a:r>
              <a:t>Underlying report: https://sourceblue.blob.core.windows.net/qa-sourceblue/uploads/media/1786376580684-59991e4c8f932e82.pdf</a:t>
            </a:r>
          </a:p>
          <a:p xmlns:a="http://schemas.openxmlformats.org/drawingml/2006/main">
            <a:r>
              <a:t>These are external procurement benchmarks, not assumed project durations or observed Alberta delivery commitments. Ranges vary by product and manufacturer. Confirm release-to-manufacture basis, freight, testing and installation before building a project schedule. No weeks of project delay are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decisions, not existing mandates, approved funding or assigned commitments. The capital review should distinguish contract-protected spend, allowances already held and genuinely uncommitted exposure. Early orders require stable designs, procurement authority, cancellation terms and a costed business case. Coordinate facility timelines without assuming AESO has responsibility for every distribution connection. Training and contractor participation require agreement; no outreach has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Labour assumptions: realization 25–75%, construction share 30–50%, labour share 30–40%, loaded paid-hour cost $100 low / $80 high, 20% electrician and 10% HVAC payroll shares, 1,840 paid hours/FTE-year, five years. These are not empirical productivity estimates. Lower capex realization does not imply lower hourly cost, hence the deliberately conservative paired bounds. Sensitivities are not confidence intervals. Budget 25% exposure is illustrative, and component tests are alternatives rather than additive. Do not double count observed inflation already incorporated in budgets. No measured peak, labour shortage, material quantity or causal cost elasticity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ABMP_10797: Alberta Surgical Initiative (02 - Calgary). Developer Alberta Infrastructure; Calgary; Under Construction; 2024–2029; as of 2026-08-31.</a:t>
            </a:r>
          </a:p>
          <a:p xmlns:a="http://schemas.openxmlformats.org/drawingml/2006/main">
            <a:r>
              <a:t>ABMP_11374: Alberta Surgical Initiative (06 - Royal Alexandra Hospital). Developer Alberta Infrastructure; Edmonton; Proposed; 2027–2028; as of 2026-08-31.</a:t>
            </a:r>
          </a:p>
          <a:p xmlns:a="http://schemas.openxmlformats.org/drawingml/2006/main">
            <a:r>
              <a:t>ABMP_11500: Alberta Surgical Initiative (07 - Sturgeon Community Hospital). Developer Alberta Infrastructure; St. Albert; Proposed; 2027–2028; as of 2026-08-31.</a:t>
            </a:r>
          </a:p>
          <a:p xmlns:a="http://schemas.openxmlformats.org/drawingml/2006/main">
            <a:r>
              <a:t>ABMP_11380: Alberta Surgical Initiative (13 - Ponoka Hospital and Care Centre). Developer Alberta Infrastructure; Ponoka; Under Construction; 2025–2028; as of 2026-08-31.</a:t>
            </a:r>
          </a:p>
          <a:p xmlns:a="http://schemas.openxmlformats.org/drawingml/2006/main">
            <a:r>
              <a:t>ABMP_11381: Alberta Surgical Initiative (14 - Fort Saskatchewan). Developer Alberta Infrastructure; Fort Saskatchewan; Proposed; 2026–2028; as of 2026-08-31.</a:t>
            </a:r>
          </a:p>
          <a:p xmlns:a="http://schemas.openxmlformats.org/drawingml/2006/main">
            <a:r>
              <a:t>ABMP_11382: Alberta Surgical Initiative (15 - Alberta Children's Hospital). Developer Alberta Infrastructure; Calgary; Under Construction; 2026–2027;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ABMP_11383: Alberta Surgical Initiative (16 - Grey Nuns Hospital). Developer Alberta Infrastructure; Edmonton; Proposed; 2026–2028; as of 2026-08-31.</a:t>
            </a:r>
          </a:p>
          <a:p xmlns:a="http://schemas.openxmlformats.org/drawingml/2006/main">
            <a:r>
              <a:t>ABMP_10801: Calgary Complex Needs Residential Facility. Developer Alberta Infrastructure; Calgary; Under Construction; 2025–2027; as of 2026-08-31.</a:t>
            </a:r>
          </a:p>
          <a:p xmlns:a="http://schemas.openxmlformats.org/drawingml/2006/main">
            <a:r>
              <a:t>ABMP_4363: Calgary Radiopharmaceutical Centre. Developer Alberta Infrastructure; Calgary; Under Construction; 2025–2027; as of 2026-08-31.</a:t>
            </a:r>
          </a:p>
          <a:p xmlns:a="http://schemas.openxmlformats.org/drawingml/2006/main">
            <a:r>
              <a:t>ABMP_2050: Foothills Medical Centre Power Plant Upgrade Cogeneration Initiative. Developer Alberta Infrastructure; Calgary; Under Construction; 2021–2027; as of 2026-08-31.</a:t>
            </a:r>
          </a:p>
          <a:p xmlns:a="http://schemas.openxmlformats.org/drawingml/2006/main">
            <a:r>
              <a:t>ABMP_4364: La Crete Maternity and Community Health Centre. Developer Alberta Infrastructure; Mackenzie County; Under Construction; 2025–2028; as of 2026-08-31.</a:t>
            </a:r>
          </a:p>
          <a:p xmlns:a="http://schemas.openxmlformats.org/drawingml/2006/main">
            <a:r>
              <a:t>ABMP_11507: Medical Device Reprocessing (MDR) Upgrades Program - Phase 1 (4 - Northern Lights). Developer Alberta Infrastructure; Wood Buffalo;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ABMP_10951: Medical Device Reprocessing (MDR) Upgrades Program - Phase 1 (5 - Westlock). Developer Alberta Infrastructure; Westlock; Proposed; 2026–2028; as of 2026-08-31.</a:t>
            </a:r>
          </a:p>
          <a:p xmlns:a="http://schemas.openxmlformats.org/drawingml/2006/main">
            <a:r>
              <a:t>ABMP_10952: Medical Device Reprocessing (MDR) Upgrades Program - Phase 1 (6 - Sturgeon). Developer Alberta Infrastructure; St. Albert; Proposed; 2027–2030; as of 2026-08-31.</a:t>
            </a:r>
          </a:p>
          <a:p xmlns:a="http://schemas.openxmlformats.org/drawingml/2006/main">
            <a:r>
              <a:t>ABMP_11366: Medical Device Reprocessing (MDR) Upgrades Program - Phase 2 (1 - Misericordia Community Hospital). Developer Alberta Infrastructure; Edmonton; Under Construction; 2026–2029; as of 2026-08-31.</a:t>
            </a:r>
          </a:p>
          <a:p xmlns:a="http://schemas.openxmlformats.org/drawingml/2006/main">
            <a:r>
              <a:t>ABMP_11367: Medical Device Reprocessing (MDR) Upgrades Program - Phase 2 (2 - Grey Nuns Community Hospital). Developer Alberta Infrastructure; Edmonton; Under Construction; 2026–2028; as of 2026-08-31.</a:t>
            </a:r>
          </a:p>
          <a:p xmlns:a="http://schemas.openxmlformats.org/drawingml/2006/main">
            <a:r>
              <a:t>ABMP_11362: National Association of Pharmacy Regulatory Authorities Capital Program (Medicine Hat). Developer Alberta Infrastructure; Medicine Hat; Under Construction; 2026–2027; as of 2026-08-31.</a:t>
            </a:r>
          </a:p>
          <a:p xmlns:a="http://schemas.openxmlformats.org/drawingml/2006/main">
            <a:r>
              <a:t>ABMP_11567: Northern Alberta Youth Recovery Centre (NAYRC) - Edmonton EYOC. Developer Alberta Infrastructure; Edmonton;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ABMP_10957: Recovery Communities (10 - Grande Prairie). Developer Alberta Infrastructure; Grande Prairie; Under Construction; 2026–2028; as of 2026-08-31.</a:t>
            </a:r>
          </a:p>
          <a:p xmlns:a="http://schemas.openxmlformats.org/drawingml/2006/main">
            <a:r>
              <a:t>ABMP_11513: Recovery Communities (12 - Edmonton Young Offender Centre). Developer Alberta Infrastructure; Edmonton; Under Construction; 2025–2027; as of 2026-08-31.</a:t>
            </a:r>
          </a:p>
          <a:p xmlns:a="http://schemas.openxmlformats.org/drawingml/2006/main">
            <a:r>
              <a:t>ABMP_11876: Red Deer Regional Hospital - Ambulatory Building. Developer Alberta Infrastructure; Red Deer; Under Construction; 2026–2029; as of 2026-08-31.</a:t>
            </a:r>
          </a:p>
          <a:p xmlns:a="http://schemas.openxmlformats.org/drawingml/2006/main">
            <a:r>
              <a:t>ABMP_4050: Red Deer Regional Hospital Centre Redevelopment. Developer Alberta Infrastructure; Red Deer; Under Construction; 2024–2031; as of 2026-08-31.</a:t>
            </a:r>
          </a:p>
          <a:p xmlns:a="http://schemas.openxmlformats.org/drawingml/2006/main">
            <a:r>
              <a:t>ABMP_10535: University of Alberta Hospital Brain Centre - Neurosciences Intensive Care Unit (NSICU). Developer Alberta Infrastructure; Edmonton; Under Construction; 2024–2029; as of 2026-08-31.</a:t>
            </a:r>
          </a:p>
          <a:p xmlns:a="http://schemas.openxmlformats.org/drawingml/2006/main">
            <a:r>
              <a:t>ABMP_11464: Barrhead Composite High School Modernization. Developer Alberta Infrastructure; Barrhead; Under Construction; 2025–2028;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ABMP_11429: Breton School K-12 Modernization. Developer Alberta Infrastructure; Breton; Under Construction; 2025–2027; as of 2026-08-31.</a:t>
            </a:r>
          </a:p>
          <a:p xmlns:a="http://schemas.openxmlformats.org/drawingml/2006/main">
            <a:r>
              <a:t>ABMP_11456: Delton K-6 Replacement School. Developer Alberta Infrastructure; Edmonton; Under Construction; 2026–2028; as of 2026-08-31.</a:t>
            </a:r>
          </a:p>
          <a:p xmlns:a="http://schemas.openxmlformats.org/drawingml/2006/main">
            <a:r>
              <a:t>ABMP_11459: Ecole Heritage K-12 Modernization. Developer Alberta Infrastructure; Falher; Under Construction; 2026–2027; as of 2026-08-31.</a:t>
            </a:r>
          </a:p>
          <a:p xmlns:a="http://schemas.openxmlformats.org/drawingml/2006/main">
            <a:r>
              <a:t>ABMP_10941: Holy Family K-12 Replacement School (Waskatenau). Developer Alberta Infrastructure; Waskatenau; Under Construction; 2025–2027; as of 2026-08-31.</a:t>
            </a:r>
          </a:p>
          <a:p xmlns:a="http://schemas.openxmlformats.org/drawingml/2006/main">
            <a:r>
              <a:t>ABMP_11431: Holy Trinity Academy (formerly St. Francis Xavier K-9 Replacement School). Developer Alberta Infrastructure; Medicine Hat; Under Construction; 2025–2027; as of 2026-08-31.</a:t>
            </a:r>
          </a:p>
          <a:p xmlns:a="http://schemas.openxmlformats.org/drawingml/2006/main">
            <a:r>
              <a:t>ABMP_11458: New 7-12 Catholic and Public High School in West Edmonton. Developer Alberta Infrastructure; Edmonton; Under Construction; 2026–2029;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ABMP_10937: New 7-12 School in Glenridding Heights (Edmonton). Developer Alberta Infrastructure; Edmonton; Under Construction; 2025–2027; as of 2026-08-31.</a:t>
            </a:r>
          </a:p>
          <a:p xmlns:a="http://schemas.openxmlformats.org/drawingml/2006/main">
            <a:r>
              <a:t>ABMP_11346: New High School in West Calgary. Developer Alberta Infrastructure; Calgary; Under Construction; 2025–2028; as of 2026-08-31.</a:t>
            </a:r>
          </a:p>
          <a:p xmlns:a="http://schemas.openxmlformats.org/drawingml/2006/main">
            <a:r>
              <a:t>ABMP_11249: New K-5 School in Blackfalds. Developer Alberta Infrastructure; Blackfalds; Under Construction; 2025–2027; as of 2026-08-31.</a:t>
            </a:r>
          </a:p>
          <a:p xmlns:a="http://schemas.openxmlformats.org/drawingml/2006/main">
            <a:r>
              <a:t>ABMP_11345: New K-8 School in Bayview (SW Airdrie). Developer Alberta Infrastructure; Airdrie; Under Construction; 2026–2028; as of 2026-08-31.</a:t>
            </a:r>
          </a:p>
          <a:p xmlns:a="http://schemas.openxmlformats.org/drawingml/2006/main">
            <a:r>
              <a:t>ABMP_11248: New K-8 School in Windsong (SW Airdrie). Developer Alberta Infrastructure; Airdrie; Under Construction; 2025–2027; as of 2026-08-31.</a:t>
            </a:r>
          </a:p>
          <a:p xmlns:a="http://schemas.openxmlformats.org/drawingml/2006/main">
            <a:r>
              <a:t>ABMP_11252: New K-9 Catholic School in Chestermere. Developer Alberta Infrastructure; Chestermere;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ABMP_10932: New K-9 Nolan Hill (Calgary). Developer Alberta Infrastructure; Calgary; Under Construction; 2025–2027; as of 2026-08-31.</a:t>
            </a:r>
          </a:p>
          <a:p xmlns:a="http://schemas.openxmlformats.org/drawingml/2006/main">
            <a:r>
              <a:t>ABMP_11251: New Rangeview High School. Developer Alberta Infrastructure; Calgary; Under Construction; 2025–2027; as of 2026-08-31.</a:t>
            </a:r>
          </a:p>
          <a:p xmlns:a="http://schemas.openxmlformats.org/drawingml/2006/main">
            <a:r>
              <a:t>ABMP_10930: New Secondary (7-12) School in Airdrie. Developer Alberta Infrastructure; Airdrie; Under Construction; 2026–2027; as of 2026-08-31.</a:t>
            </a:r>
          </a:p>
          <a:p xmlns:a="http://schemas.openxmlformats.org/drawingml/2006/main">
            <a:r>
              <a:t>ABMP_11432: Solution for Nanton School. Developer Alberta Infrastructure; Nanton; Under Construction; 2025–2027; as of 2026-08-31.</a:t>
            </a:r>
          </a:p>
          <a:p xmlns:a="http://schemas.openxmlformats.org/drawingml/2006/main">
            <a:r>
              <a:t>ABMP_11253: Solution for Rundle Heights K-9 School. Developer Alberta Infrastructure; Edmonton; Under Construction; 2025–2027; as of 2026-08-31.</a:t>
            </a:r>
          </a:p>
          <a:p xmlns:a="http://schemas.openxmlformats.org/drawingml/2006/main">
            <a:r>
              <a:t>ABMP_10933: Solution for �cole Michaelle Jean &amp; Gabrielle Roy. Developer Alberta Infrastructure; Edmonton; Under Construction; 2025–2028;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ABMP_10940: Spruce Grove Composite High School Replacement. Developer Alberta Infrastructure; Spruce Grove; Under Construction; 2025–2028; as of 2026-08-31.</a:t>
            </a:r>
          </a:p>
          <a:p xmlns:a="http://schemas.openxmlformats.org/drawingml/2006/main">
            <a:r>
              <a:t>ABMP_11056: St. Kateri Elementary School (West Lethbridge). Developer Alberta Infrastructure; Lethbridge; Under Construction; 2025–2027; as of 2026-08-31.</a:t>
            </a:r>
          </a:p>
          <a:p xmlns:a="http://schemas.openxmlformats.org/drawingml/2006/main">
            <a:r>
              <a:t>ABMP_4503: St. Martin de Porres High School Addition. Developer Alberta Infrastructure; Airdrie; Under Construction; 2024–2028; as of 2026-08-31.</a:t>
            </a:r>
          </a:p>
          <a:p xmlns:a="http://schemas.openxmlformats.org/drawingml/2006/main">
            <a:r>
              <a:t>ABMP_11410: Vera M. Welsh School Replacement. Developer Alberta Infrastructure; Lac la Biche County; Under Construction; 2025–2027; as of 2026-08-31.</a:t>
            </a:r>
          </a:p>
          <a:p xmlns:a="http://schemas.openxmlformats.org/drawingml/2006/main">
            <a:r>
              <a:t>ABMP_11343: Wainwright K-6 Elementary Replacement. Developer Alberta Infrastructure; Wainwright; Under Construction; 2025–2027; as of 2026-08-31.</a:t>
            </a:r>
          </a:p>
          <a:p xmlns:a="http://schemas.openxmlformats.org/drawingml/2006/main">
            <a:r>
              <a:t>ABMP_10942: �cole Good Shepherd K-9 Replacement. Developer Alberta Infrastructure; Okotoks;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ABMP_11256: �cole Mallaig K-12 Replacement School. Developer Alberta Infrastructure; St. Paul County No. 19;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eStruxture CAL-3 Data Centre: https://info.estruxture.com/hubfs/Data%20Sheets/eStruxture_Datasheet_CAL3%20EN%20V2%202025.pdf?__hstc=17468411.9cbf58fbaac1d56717987d205a46139e.1778703431220.1778703431220.1778703431220.1&amp;__hssc=17468411.4.1779463158036&amp;__hsfp=31c185fa9baa393ca4363973b4df6c18</a:t>
            </a:r>
          </a:p>
          <a:p xmlns:a="http://schemas.openxmlformats.org/drawingml/2006/main">
            <a:r>
              <a:t>Wonder Valley AI Data Centre Park (Phase 1): https://www.olearydigital.ai/</a:t>
            </a:r>
          </a:p>
          <a:p xmlns:a="http://schemas.openxmlformats.org/drawingml/2006/main">
            <a:r>
              <a:t>Beacon Harry Smith AI Data Centre Hub: https://beacondatacenters.com/campuses/</a:t>
            </a:r>
          </a:p>
          <a:p xmlns:a="http://schemas.openxmlformats.org/drawingml/2006/main">
            <a:r>
              <a:t>Beacon Indus Data Centre Hub: https://beacondatacenters.com/wp-content/uploads/2026/02/BEA_IndusCGY-FAQ.pdf</a:t>
            </a:r>
          </a:p>
          <a:p xmlns:a="http://schemas.openxmlformats.org/drawingml/2006/main">
            <a:r>
              <a:t>Beacon Heartland AI Data Centre Hub: https://beacondatacenters.com/campuses/</a:t>
            </a:r>
          </a:p>
          <a:p xmlns:a="http://schemas.openxmlformats.org/drawingml/2006/main">
            <a:r>
              <a:t>Beacon Saunders Lake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HubOne AI &amp; BTC High Density Compute Park: https://hub1.ca/</a:t>
            </a:r>
          </a:p>
          <a:p xmlns:a="http://schemas.openxmlformats.org/drawingml/2006/main">
            <a:r>
              <a:t>Prairie Sky Data Solutions Strathmore Data Center (Phase 1): https://www.prairieskydata.com/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Beacon Chestermere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d2d8b0cfd54d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f54af770dc47ec" /><Relationship Type="http://schemas.openxmlformats.org/officeDocument/2006/relationships/slideLayout" Target="/ppt/slideLayouts/slideLayout1.xml" Id="R226319464d8546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6319464d8546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e19c54f94c4c78" /><Relationship Type="http://schemas.openxmlformats.org/officeDocument/2006/relationships/notesSlide" Target="/ppt/notesSlides/notesSlide1.xml" Id="Rf86549c612ee4d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7ed041e428427d" /><Relationship Type="http://schemas.openxmlformats.org/officeDocument/2006/relationships/chart" Target="/ppt/slides/charts/chart1.xml" Id="R6daaa912d7b04e91" /><Relationship Type="http://schemas.openxmlformats.org/officeDocument/2006/relationships/notesSlide" Target="/ppt/notesSlides/notesSlide2.xml" Id="Rd03f4fcb862b40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6d4229affe4da8" /><Relationship Type="http://schemas.openxmlformats.org/officeDocument/2006/relationships/chart" Target="/ppt/slides/charts/chart2.xml" Id="R9dc4ae4381ee442d" /><Relationship Type="http://schemas.openxmlformats.org/officeDocument/2006/relationships/notesSlide" Target="/ppt/notesSlides/notesSlide3.xml" Id="R6c298358a636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859afb8c4741fc" /><Relationship Type="http://schemas.openxmlformats.org/officeDocument/2006/relationships/notesSlide" Target="/ppt/notesSlides/notesSlide4.xml" Id="R630e4770216648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996dd51da24b61" /><Relationship Type="http://schemas.openxmlformats.org/officeDocument/2006/relationships/notesSlide" Target="/ppt/notesSlides/notesSlide5.xml" Id="Ra708f7fcf47144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136beee9504437" /><Relationship Type="http://schemas.openxmlformats.org/officeDocument/2006/relationships/notesSlide" Target="/ppt/notesSlides/notesSlide6.xml" Id="R3d5b5f63615849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9da77ba1494667" /><Relationship Type="http://schemas.openxmlformats.org/officeDocument/2006/relationships/chart" Target="/ppt/slides/charts/chart3.xml" Id="Rc81ff432970a4591" /><Relationship Type="http://schemas.openxmlformats.org/officeDocument/2006/relationships/notesSlide" Target="/ppt/notesSlides/notesSlide7.xml" Id="R2fc1b581957645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36e47b3f054403" /><Relationship Type="http://schemas.openxmlformats.org/officeDocument/2006/relationships/notesSlide" Target="/ppt/notesSlides/notesSlide8.xml" Id="R854764703adc4d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bf0398465c4b6a" /><Relationship Type="http://schemas.openxmlformats.org/officeDocument/2006/relationships/notesSlide" Target="/ppt/notesSlides/notesSlide9.xml" Id="R91a088ee323a40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27ce0a59884d19" /><Relationship Type="http://schemas.openxmlformats.org/officeDocument/2006/relationships/notesSlide" Target="/ppt/notesSlides/notesSlide10.xml" Id="R598a8b22e55c4f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8240fd5c9c4272" /><Relationship Type="http://schemas.openxmlformats.org/officeDocument/2006/relationships/notesSlide" Target="/ppt/notesSlides/notesSlide11.xml" Id="R89c3a43bc13f4d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31b55649b84e2b" /><Relationship Type="http://schemas.openxmlformats.org/officeDocument/2006/relationships/notesSlide" Target="/ppt/notesSlides/notesSlide12.xml" Id="R9d30b72a6b324c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faa3e2d05140bc" /><Relationship Type="http://schemas.openxmlformats.org/officeDocument/2006/relationships/notesSlide" Target="/ppt/notesSlides/notesSlide13.xml" Id="R506e29e6508e4f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90b8ca69ce418c" /><Relationship Type="http://schemas.openxmlformats.org/officeDocument/2006/relationships/notesSlide" Target="/ppt/notesSlides/notesSlide14.xml" Id="Rce8f78ebdc184e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cb661e55ce4576" /><Relationship Type="http://schemas.openxmlformats.org/officeDocument/2006/relationships/notesSlide" Target="/ppt/notesSlides/notesSlide15.xml" Id="Rc228990ce6bb4e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fb8870e5094d46" /><Relationship Type="http://schemas.openxmlformats.org/officeDocument/2006/relationships/notesSlide" Target="/ppt/notesSlides/notesSlide16.xml" Id="R3afaefa514af45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0a9d8fc434547dc" /><Relationship Type="http://schemas.openxmlformats.org/officeDocument/2006/relationships/notesSlide" Target="/ppt/notesSlides/notesSlide17.xml" Id="R3e968ca98ac94b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6ca1bd9a6f434a" /><Relationship Type="http://schemas.openxmlformats.org/officeDocument/2006/relationships/notesSlide" Target="/ppt/notesSlides/notesSlide18.xml" Id="R0def792c1b8141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a9561957de49b2" /><Relationship Type="http://schemas.openxmlformats.org/officeDocument/2006/relationships/notesSlide" Target="/ppt/notesSlides/notesSlide19.xml" Id="Refd94590a5334b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af093f51be74bfe" /><Relationship Type="http://schemas.openxmlformats.org/officeDocument/2006/relationships/notesSlide" Target="/ppt/notesSlides/notesSlide20.xml" Id="R6179c7870f6c47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427e534a2f14648" /><Relationship Type="http://schemas.openxmlformats.org/officeDocument/2006/relationships/notesSlide" Target="/ppt/notesSlides/notesSlide21.xml" Id="Rb5b7dd3d1c29432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bb2d3b5f60e4cf5" /><Relationship Type="http://schemas.openxmlformats.org/officeDocument/2006/relationships/notesSlide" Target="/ppt/notesSlides/notesSlide22.xml" Id="R8063eba8abdd45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c1da11fda34a46" /><Relationship Type="http://schemas.openxmlformats.org/officeDocument/2006/relationships/notesSlide" Target="/ppt/notesSlides/notesSlide23.xml" Id="Racdfef01a1bf4a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d71971d88c4e7b" /><Relationship Type="http://schemas.openxmlformats.org/officeDocument/2006/relationships/notesSlide" Target="/ppt/notesSlides/notesSlide24.xml" Id="Rad217a23d71247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6f0af5d0f3d4f65" /><Relationship Type="http://schemas.openxmlformats.org/officeDocument/2006/relationships/notesSlide" Target="/ppt/notesSlides/notesSlide25.xml" Id="Rdf15eccaeedf49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Data-centre records</c:v>
          </c:tx>
          <c:spPr>
            <a:solidFill xmlns:a="http://schemas.openxmlformats.org/drawingml/2006/main">
              <a:srgbClr val="0077CD"/>
            </a:solidFill>
            <a:ln xmlns:a="http://schemas.openxmlformats.org/drawingml/2006/main" w="28575">
              <a:solidFill>
                <a:srgbClr val="0077CD"/>
              </a:solidFill>
            </a:ln>
          </c:spPr>
          <c:cat>
            <c:strRef>
              <c:f>'Chart Data'!$A$2:$A$3</c:f>
              <c:strCache>
                <c:ptCount val="2"/>
                <c:pt idx="0">
                  <c:v>Proposed</c:v>
                </c:pt>
                <c:pt idx="1">
                  <c:v>Under construction</c:v>
                </c:pt>
              </c:strCache>
            </c:strRef>
          </c:cat>
          <c:val>
            <c:numRef>
              <c:f>'Chart Data'!$B$2:$B$3</c:f>
              <c:numCache>
                <c:formatCode>#,##0</c:formatCode>
                <c:ptCount val="2"/>
                <c:pt idx="0">
                  <c:v>15</c:v>
                </c:pt>
                <c:pt idx="1">
                  <c:v>4</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CAD billions</c:v>
          </c:tx>
          <c:spPr>
            <a:solidFill xmlns:a="http://schemas.openxmlformats.org/drawingml/2006/main">
              <a:srgbClr val="0077CD"/>
            </a:solidFill>
            <a:ln xmlns:a="http://schemas.openxmlformats.org/drawingml/2006/main" w="28575">
              <a:solidFill>
                <a:srgbClr val="0077CD"/>
              </a:solidFill>
            </a:ln>
          </c:spPr>
          <c:cat>
            <c:strRef>
              <c:f>'Chart Data'!$A$2:$A$8</c:f>
              <c:strCache>
                <c:ptCount val="7"/>
                <c:pt idx="0">
                  <c:v>Malachite One</c:v>
                </c:pt>
                <c:pt idx="1">
                  <c:v>Meta</c:v>
                </c:pt>
                <c:pt idx="2">
                  <c:v>Wonder Valley P1</c:v>
                </c:pt>
                <c:pt idx="3">
                  <c:v>Beacon Foothills</c:v>
                </c:pt>
                <c:pt idx="4">
                  <c:v>Crusoe Alberta</c:v>
                </c:pt>
                <c:pt idx="5">
                  <c:v>TNE Data District P1</c:v>
                </c:pt>
                <c:pt idx="6">
                  <c:v>eStruxture CAL-3</c:v>
                </c:pt>
              </c:strCache>
            </c:strRef>
          </c:cat>
          <c:val>
            <c:numRef>
              <c:f>'Chart Data'!$B$2:$B$8</c:f>
              <c:numCache>
                <c:formatCode>0.00</c:formatCode>
                <c:ptCount val="7"/>
                <c:pt idx="0">
                  <c:v>15</c:v>
                </c:pt>
                <c:pt idx="1">
                  <c:v>13</c:v>
                </c:pt>
                <c:pt idx="2">
                  <c:v>12</c:v>
                </c:pt>
                <c:pt idx="3">
                  <c:v>4</c:v>
                </c:pt>
                <c:pt idx="4">
                  <c:v>3</c:v>
                </c:pt>
                <c:pt idx="5">
                  <c:v>1.26</c:v>
                </c:pt>
                <c:pt idx="6">
                  <c:v>0.75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4763">
              <a:solidFill>
                <a:srgbClr val="DCDCDC"/>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CAD billions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Calgary</c:v>
          </c:tx>
          <c:spPr>
            <a:solidFill xmlns:a="http://schemas.openxmlformats.org/drawingml/2006/main">
              <a:srgbClr val="0077CD"/>
            </a:solidFill>
            <a:ln xmlns:a="http://schemas.openxmlformats.org/drawingml/2006/main" w="28575">
              <a:solidFill>
                <a:srgbClr val="0077CD"/>
              </a:solidFill>
            </a:ln>
          </c:spPr>
          <c:cat>
            <c:strRef>
              <c:f>'Chart Data'!$A$2:$A$5</c:f>
              <c:strCache>
                <c:ptCount val="4"/>
                <c:pt idx="0">
                  <c:v>Concrete</c:v>
                </c:pt>
                <c:pt idx="1">
                  <c:v>Structural steel</c:v>
                </c:pt>
                <c:pt idx="2">
                  <c:v>Electrical systems</c:v>
                </c:pt>
                <c:pt idx="3">
                  <c:v>HVAC</c:v>
                </c:pt>
              </c:strCache>
            </c:strRef>
          </c:cat>
          <c:val>
            <c:numRef>
              <c:f>'Chart Data'!$B$2:$B$5</c:f>
              <c:numCache>
                <c:formatCode>0.0"%"</c:formatCode>
                <c:ptCount val="4"/>
                <c:pt idx="0">
                  <c:v>4.11</c:v>
                </c:pt>
                <c:pt idx="1">
                  <c:v>7.3</c:v>
                </c:pt>
                <c:pt idx="2">
                  <c:v>0.83</c:v>
                </c:pt>
                <c:pt idx="3">
                  <c:v>10.05</c:v>
                </c:pt>
              </c:numCache>
            </c:numRef>
          </c:val>
        </c:ser>
        <c:ser>
          <c:idx val="1"/>
          <c:order val="1"/>
          <c:tx>
            <c:v>Edmonton</c:v>
          </c:tx>
          <c:spPr>
            <a:solidFill xmlns:a="http://schemas.openxmlformats.org/drawingml/2006/main">
              <a:srgbClr val="00B6ED"/>
            </a:solidFill>
            <a:ln xmlns:a="http://schemas.openxmlformats.org/drawingml/2006/main" w="28575">
              <a:solidFill>
                <a:srgbClr val="00B6ED"/>
              </a:solidFill>
            </a:ln>
          </c:spPr>
          <c:cat>
            <c:strRef>
              <c:f>'Chart Data'!$C$2:$C$5</c:f>
              <c:strCache>
                <c:ptCount val="4"/>
                <c:pt idx="0">
                  <c:v>Concrete</c:v>
                </c:pt>
                <c:pt idx="1">
                  <c:v>Structural steel</c:v>
                </c:pt>
                <c:pt idx="2">
                  <c:v>Electrical systems</c:v>
                </c:pt>
                <c:pt idx="3">
                  <c:v>HVAC</c:v>
                </c:pt>
              </c:strCache>
            </c:strRef>
          </c:cat>
          <c:val>
            <c:numRef>
              <c:f>'Chart Data'!$D$2:$D$5</c:f>
              <c:numCache>
                <c:formatCode>0.0"%"</c:formatCode>
                <c:ptCount val="4"/>
                <c:pt idx="0">
                  <c:v>5.24</c:v>
                </c:pt>
                <c:pt idx="1">
                  <c:v>10.44</c:v>
                </c:pt>
                <c:pt idx="2">
                  <c:v>1.01</c:v>
                </c:pt>
                <c:pt idx="3">
                  <c:v>10.05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77C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54A2604-2AA7-46B1-BCB3-A09AE15FED49}"/>
              </a:ext>
            </a:extLst>
          </p:cNvPr>
          <p:cNvSpPr>
            <a:spLocks xmlns:a="http://schemas.openxmlformats.org/drawingml/2006/main" noGrp="1"/>
          </p:cNvSpPr>
          <p:nvPr/>
        </p:nvSpPr>
        <p:spPr>
          <a:xfrm xmlns:a="http://schemas.openxmlformats.org/drawingml/2006/main">
            <a:off x="666750" y="142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Alberta data centres</a:t>
            </a:r>
          </a:p>
        </p:txBody>
      </p:sp>
      <p:sp>
        <p:nvSpPr>
          <p:cNvPr id="2" name="">
            <a:extLst xmlns:a="http://schemas.openxmlformats.org/drawingml/2006/main">
              <a:ext uri="{FF2B5EF4-FFF2-40B4-BE49-F238E27FC236}">
                <a16:creationId xmlns:a16="http://schemas.microsoft.com/office/drawing/2014/main" id="{F22F2C6C-84AD-4C82-B07B-7E4EB60A3BF0}"/>
              </a:ext>
            </a:extLst>
          </p:cNvPr>
          <p:cNvSpPr>
            <a:spLocks xmlns:a="http://schemas.openxmlformats.org/drawingml/2006/main" noGrp="1"/>
          </p:cNvSpPr>
          <p:nvPr/>
        </p:nvSpPr>
        <p:spPr>
          <a:xfrm xmlns:a="http://schemas.openxmlformats.org/drawingml/2006/main">
            <a:off x="704850" y="2905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Helvetica Neue"/>
                <a:ea typeface="Helvetica Neue"/>
                <a:cs typeface="Helvetica Neue"/>
              </a:defRPr>
            </a:pPr>
            <a:r>
              <a:rPr sz="3300" b="0">
                <a:solidFill>
                  <a:srgbClr val="FFFFFF"/>
                </a:solidFill>
                <a:latin typeface="Helvetica Neue"/>
                <a:ea typeface="Helvetica Neue"/>
                <a:cs typeface="Helvetica Neue"/>
              </a:rPr>
              <a:t>Capital exposure and decisions for Infrastructure</a:t>
            </a:r>
          </a:p>
        </p:txBody>
      </p:sp>
      <p:sp>
        <p:nvSpPr>
          <p:cNvPr id="3" name="">
            <a:extLst xmlns:a="http://schemas.openxmlformats.org/drawingml/2006/main">
              <a:ext uri="{FF2B5EF4-FFF2-40B4-BE49-F238E27FC236}">
                <a16:creationId xmlns:a16="http://schemas.microsoft.com/office/drawing/2014/main" id="{18B3CC14-C1CF-4A03-8BC2-D980A28F9D87}"/>
              </a:ext>
            </a:extLst>
          </p:cNvPr>
          <p:cNvSpPr>
            <a:spLocks xmlns:a="http://schemas.openxmlformats.org/drawingml/2006/main" noGrp="1"/>
          </p:cNvSpPr>
          <p:nvPr/>
        </p:nvSpPr>
        <p:spPr>
          <a:xfrm xmlns:a="http://schemas.openxmlformats.org/drawingml/2006/main">
            <a:off x="704850" y="52387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September 2026</a:t>
            </a:r>
          </a:p>
        </p:txBody>
      </p:sp>
    </p:spTree>
    <p:extLst>
      <p:ext uri="{BB962C8B-B14F-4D97-AF65-F5344CB8AC3E}">
        <p14:creationId xmlns:p14="http://schemas.microsoft.com/office/powerpoint/2010/main" val="5893311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D3A15A-CB7D-461F-8873-A6DD06343BA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proposed pipeline meets an active construction market</a:t>
            </a:r>
          </a:p>
        </p:txBody>
      </p:sp>
      <p:sp>
        <p:nvSpPr>
          <p:cNvPr id="2" name="">
            <a:extLst xmlns:a="http://schemas.openxmlformats.org/drawingml/2006/main">
              <a:ext uri="{FF2B5EF4-FFF2-40B4-BE49-F238E27FC236}">
                <a16:creationId xmlns:a16="http://schemas.microsoft.com/office/drawing/2014/main" id="{1A42EF48-C956-4849-8F02-15668A7F220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19 identified data-centre records sit alongside substantial infrastructure investment.</a:t>
            </a:r>
          </a:p>
        </p:txBody>
      </p:sp>
      <p:sp>
        <p:nvSpPr>
          <p:cNvPr id="3" name="">
            <a:extLst xmlns:a="http://schemas.openxmlformats.org/drawingml/2006/main">
              <a:ext uri="{FF2B5EF4-FFF2-40B4-BE49-F238E27FC236}">
                <a16:creationId xmlns:a16="http://schemas.microsoft.com/office/drawing/2014/main" id="{2EEFD422-A447-4BCB-BB82-4B09137A9EB5}"/>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Alberta first-quarter fiscal update, 2026–27</a:t>
            </a:r>
          </a:p>
        </p:txBody>
      </p:sp>
      <p:sp>
        <p:nvSpPr>
          <p:cNvPr id="4" name="">
            <a:extLst xmlns:a="http://schemas.openxmlformats.org/drawingml/2006/main">
              <a:ext uri="{FF2B5EF4-FFF2-40B4-BE49-F238E27FC236}">
                <a16:creationId xmlns:a16="http://schemas.microsoft.com/office/drawing/2014/main" id="{600226FC-494B-4113-8E55-7AC55565577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a:t>
            </a:r>
          </a:p>
        </p:txBody>
      </p:sp>
      <p:graphicFrame>
        <p:nvGraphicFramePr>
          <p:cNvPr id="13" name="Chart"/>
          <p:cNvGraphicFramePr/>
          <p:nvPr/>
        </p:nvGraphicFramePr>
        <p:xfrm>
          <a:off xmlns:a="http://schemas.openxmlformats.org/drawingml/2006/main" x="609600" y="228600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6daaa912d7b04e91"/>
          </a:graphicData>
        </a:graphic>
      </p:graphicFrame>
      <p:sp>
        <p:nvSpPr>
          <p:cNvPr id="6" name="">
            <a:extLst xmlns:a="http://schemas.openxmlformats.org/drawingml/2006/main">
              <a:ext uri="{FF2B5EF4-FFF2-40B4-BE49-F238E27FC236}">
                <a16:creationId xmlns:a16="http://schemas.microsoft.com/office/drawing/2014/main" id="{A7332EDE-5261-4732-BCCF-3ADCCF469C94}"/>
              </a:ext>
            </a:extLst>
          </p:cNvPr>
          <p:cNvSpPr>
            <a:spLocks xmlns:a="http://schemas.openxmlformats.org/drawingml/2006/main" noGrp="1"/>
          </p:cNvSpPr>
          <p:nvPr/>
        </p:nvSpPr>
        <p:spPr>
          <a:xfrm xmlns:a="http://schemas.openxmlformats.org/drawingml/2006/main">
            <a:off x="7953375" y="23336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$10.687B</a:t>
            </a:r>
          </a:p>
        </p:txBody>
      </p:sp>
      <p:sp>
        <p:nvSpPr>
          <p:cNvPr id="7" name="">
            <a:extLst xmlns:a="http://schemas.openxmlformats.org/drawingml/2006/main">
              <a:ext uri="{FF2B5EF4-FFF2-40B4-BE49-F238E27FC236}">
                <a16:creationId xmlns:a16="http://schemas.microsoft.com/office/drawing/2014/main" id="{D5F9593D-EA23-4C0F-AE18-008E13B3B4A1}"/>
              </a:ext>
            </a:extLst>
          </p:cNvPr>
          <p:cNvSpPr>
            <a:spLocks xmlns:a="http://schemas.openxmlformats.org/drawingml/2006/main" noGrp="1"/>
          </p:cNvSpPr>
          <p:nvPr/>
        </p:nvSpPr>
        <p:spPr>
          <a:xfrm xmlns:a="http://schemas.openxmlformats.org/drawingml/2006/main">
            <a:off x="7953375" y="314325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33333"/>
                </a:solidFill>
                <a:latin typeface="Helvetica Neue"/>
                <a:ea typeface="Helvetica Neue"/>
                <a:cs typeface="Helvetica Neue"/>
              </a:defRPr>
            </a:pPr>
            <a:r>
              <a:rPr sz="2100" b="0">
                <a:solidFill>
                  <a:srgbClr val="333333"/>
                </a:solidFill>
                <a:latin typeface="Helvetica Neue"/>
                <a:ea typeface="Helvetica Neue"/>
                <a:cs typeface="Helvetica Neue"/>
              </a:rPr>
              <a:t>Updated Alberta capital plan for FY2026–27</a:t>
            </a:r>
          </a:p>
        </p:txBody>
      </p:sp>
      <p:sp>
        <p:nvSpPr>
          <p:cNvPr id="8" name="">
            <a:extLst xmlns:a="http://schemas.openxmlformats.org/drawingml/2006/main">
              <a:ext uri="{FF2B5EF4-FFF2-40B4-BE49-F238E27FC236}">
                <a16:creationId xmlns:a16="http://schemas.microsoft.com/office/drawing/2014/main" id="{68C9FB51-D9EE-412A-BFFA-BD8F17FB6FDE}"/>
              </a:ext>
            </a:extLst>
          </p:cNvPr>
          <p:cNvSpPr>
            <a:spLocks xmlns:a="http://schemas.openxmlformats.org/drawingml/2006/main" noGrp="1"/>
          </p:cNvSpPr>
          <p:nvPr/>
        </p:nvSpPr>
        <p:spPr>
          <a:xfrm xmlns:a="http://schemas.openxmlformats.org/drawingml/2006/main">
            <a:off x="7953375" y="4591050"/>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Shared trades and suppliers create potential competition as projects advance.</a:t>
            </a:r>
          </a:p>
        </p:txBody>
      </p:sp>
    </p:spTree>
    <p:extLst>
      <p:ext uri="{BB962C8B-B14F-4D97-AF65-F5344CB8AC3E}">
        <p14:creationId xmlns:p14="http://schemas.microsoft.com/office/powerpoint/2010/main" val="17583111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0576E2-5399-46A9-845F-1C33DA841FC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Seven reported projects account for $49.01B</a:t>
            </a:r>
          </a:p>
        </p:txBody>
      </p:sp>
      <p:sp>
        <p:nvSpPr>
          <p:cNvPr id="2" name="">
            <a:extLst xmlns:a="http://schemas.openxmlformats.org/drawingml/2006/main">
              <a:ext uri="{FF2B5EF4-FFF2-40B4-BE49-F238E27FC236}">
                <a16:creationId xmlns:a16="http://schemas.microsoft.com/office/drawing/2014/main" id="{25F5EEE1-946A-4F01-99A4-1B085085443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investment estimates, CAD billions.</a:t>
            </a:r>
          </a:p>
        </p:txBody>
      </p:sp>
      <p:sp>
        <p:nvSpPr>
          <p:cNvPr id="3" name="">
            <a:extLst xmlns:a="http://schemas.openxmlformats.org/drawingml/2006/main">
              <a:ext uri="{FF2B5EF4-FFF2-40B4-BE49-F238E27FC236}">
                <a16:creationId xmlns:a16="http://schemas.microsoft.com/office/drawing/2014/main" id="{E8498DA4-8802-4A90-9C0B-A95587F7E09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Twelve additional core records have no reported cost.</a:t>
            </a:r>
          </a:p>
        </p:txBody>
      </p:sp>
      <p:sp>
        <p:nvSpPr>
          <p:cNvPr id="4" name="">
            <a:extLst xmlns:a="http://schemas.openxmlformats.org/drawingml/2006/main">
              <a:ext uri="{FF2B5EF4-FFF2-40B4-BE49-F238E27FC236}">
                <a16:creationId xmlns:a16="http://schemas.microsoft.com/office/drawing/2014/main" id="{808A18AF-1EE9-4007-9F40-7C717F3E43AF}"/>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3</a:t>
            </a:r>
          </a:p>
        </p:txBody>
      </p:sp>
      <p:graphicFrame>
        <p:nvGraphicFramePr>
          <p:cNvPr id="11" name="Chart"/>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chart">
            <c:chart xmlns:r="http://schemas.openxmlformats.org/officeDocument/2006/relationships" xmlns:c="http://schemas.openxmlformats.org/drawingml/2006/chart" r:id="R9dc4ae4381ee442d"/>
          </a:graphicData>
        </a:graphic>
      </p:graphicFrame>
      <p:sp>
        <p:nvSpPr>
          <p:cNvPr id="6" name="">
            <a:extLst xmlns:a="http://schemas.openxmlformats.org/drawingml/2006/main">
              <a:ext uri="{FF2B5EF4-FFF2-40B4-BE49-F238E27FC236}">
                <a16:creationId xmlns:a16="http://schemas.microsoft.com/office/drawing/2014/main" id="{8224CFE3-8526-401E-B607-D0C1AED32950}"/>
              </a:ext>
            </a:extLst>
          </p:cNvPr>
          <p:cNvSpPr>
            <a:spLocks xmlns:a="http://schemas.openxmlformats.org/drawingml/2006/main" noGrp="1"/>
          </p:cNvSpPr>
          <p:nvPr/>
        </p:nvSpPr>
        <p:spPr>
          <a:xfrm xmlns:a="http://schemas.openxmlformats.org/drawingml/2006/main">
            <a:off x="60960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Construction-only scope is bracketed in the labour sizing scenario.</a:t>
            </a:r>
          </a:p>
        </p:txBody>
      </p:sp>
    </p:spTree>
    <p:extLst>
      <p:ext uri="{BB962C8B-B14F-4D97-AF65-F5344CB8AC3E}">
        <p14:creationId xmlns:p14="http://schemas.microsoft.com/office/powerpoint/2010/main" val="4314850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DDAB8A-D103-4273-BE7E-50E6138108A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Demand concentrates in shared construction packages</a:t>
            </a:r>
          </a:p>
        </p:txBody>
      </p:sp>
      <p:sp>
        <p:nvSpPr>
          <p:cNvPr id="2" name="">
            <a:extLst xmlns:a="http://schemas.openxmlformats.org/drawingml/2006/main">
              <a:ext uri="{FF2B5EF4-FFF2-40B4-BE49-F238E27FC236}">
                <a16:creationId xmlns:a16="http://schemas.microsoft.com/office/drawing/2014/main" id="{154897FE-3615-471B-A35F-CCACF028221A}"/>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Civil works establish the site. Electrical and cooling systems drive specialist fit-out.</a:t>
            </a:r>
          </a:p>
        </p:txBody>
      </p:sp>
      <p:sp>
        <p:nvSpPr>
          <p:cNvPr id="3" name="">
            <a:extLst xmlns:a="http://schemas.openxmlformats.org/drawingml/2006/main">
              <a:ext uri="{FF2B5EF4-FFF2-40B4-BE49-F238E27FC236}">
                <a16:creationId xmlns:a16="http://schemas.microsoft.com/office/drawing/2014/main" id="{27B23192-5BED-4EC0-B27E-F50C2CA253A9}"/>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Engineering scope classification; actual crew and supplier overlap depends on package timing and location.</a:t>
            </a:r>
          </a:p>
        </p:txBody>
      </p:sp>
      <p:sp>
        <p:nvSpPr>
          <p:cNvPr id="4" name="">
            <a:extLst xmlns:a="http://schemas.openxmlformats.org/drawingml/2006/main">
              <a:ext uri="{FF2B5EF4-FFF2-40B4-BE49-F238E27FC236}">
                <a16:creationId xmlns:a16="http://schemas.microsoft.com/office/drawing/2014/main" id="{EAA82DE8-BAD6-4FCE-8946-FE9BFED3D81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4</a:t>
            </a:r>
          </a:p>
        </p:txBody>
      </p:sp>
      <p:graphicFrame>
        <p:nvGraphicFramePr>
          <p:cNvPr id="10" name=""/>
          <p:cNvGraphicFramePr/>
          <p:nvPr/>
        </p:nvGraphicFramePr>
        <p:xfrm>
          <a:off xmlns:a="http://schemas.openxmlformats.org/drawingml/2006/main" x="609600" y="2095500"/>
          <a:ext xmlns:a="http://schemas.openxmlformats.org/drawingml/2006/main" cx="10972800" cy="3714750"/>
        </p:xfrm>
        <a:graphic xmlns:a="http://schemas.openxmlformats.org/drawingml/2006/main">
          <a:graphicData uri="http://schemas.openxmlformats.org/drawingml/2006/table">
            <a:tbl>
              <a:tblPr/>
              <a:tblGrid>
                <a:gridCol w="2476500"/>
                <a:gridCol w="4286250"/>
                <a:gridCol w="4210050"/>
              </a:tblGrid>
              <a:tr h="742950">
                <a:tc>
                  <a:txBody>
                    <a:bodyPr/>
                    <a:lstStyle/>
                    <a:p>
                      <a:r>
                        <a:rPr sz="1650" b="1">
                          <a:solidFill>
                            <a:srgbClr val="FFFFFF"/>
                          </a:solidFill>
                          <a:latin typeface="Helvetica Neue"/>
                          <a:ea typeface="Helvetica Neue"/>
                          <a:cs typeface="Helvetica Neue"/>
                        </a:rPr>
                        <a:t>Package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Labour demand</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Materials and equipment</a:t>
                      </a:r>
                    </a:p>
                  </a:txBody>
                  <a:tcPr marL="91440" marR="91440" marT="45720" marB="45720">
                    <a:solidFill>
                      <a:srgbClr val="0077CD"/>
                    </a:solidFill>
                  </a:tcPr>
                </a:tc>
              </a:tr>
              <a:tr h="742950">
                <a:tc>
                  <a:txBody>
                    <a:bodyPr/>
                    <a:lstStyle/>
                    <a:p>
                      <a:r>
                        <a:rPr sz="1650" b="0">
                          <a:solidFill>
                            <a:srgbClr val="333333"/>
                          </a:solidFill>
                          <a:latin typeface="Helvetica Neue"/>
                          <a:ea typeface="Helvetica Neue"/>
                          <a:cs typeface="Helvetica Neue"/>
                        </a:rPr>
                        <a:t>Civil / structural</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Operators, labourers, formwork crews, finishers, ironworkers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Concrete, aggregate, reinforcing and structural steel</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Electrical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Electricians, cable installers, controls and testing specialists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Transformers, switchgear, cable, UPS and generators</a:t>
                      </a:r>
                    </a:p>
                  </a:txBody>
                  <a:tcPr marL="91440" marR="91440" marT="45720" marB="45720">
                    <a:solidFill>
                      <a:srgbClr val="F2F2F2"/>
                    </a:solidFill>
                  </a:tcPr>
                </a:tc>
              </a:tr>
              <a:tr h="742950">
                <a:tc>
                  <a:txBody>
                    <a:bodyPr/>
                    <a:lstStyle/>
                    <a:p>
                      <a:r>
                        <a:rPr sz="1650" b="0">
                          <a:solidFill>
                            <a:srgbClr val="333333"/>
                          </a:solidFill>
                          <a:latin typeface="Helvetica Neue"/>
                          <a:ea typeface="Helvetica Neue"/>
                          <a:cs typeface="Helvetica Neue"/>
                        </a:rPr>
                        <a:t>Mechanical / cooling</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HVAC and sheet-metal workers, pipefitters, plumbers, insulators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Chillers, air handlers, pumps, pipework and ducts</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Utility connections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Line crews, utility engineers and enabling civil crews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Substations, connection equipment and utility corridors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6025063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EDA32D-1FB3-4A1D-899B-FDC50047F2E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The stress range is hundreds to low thousands of trade FTE</a:t>
            </a:r>
          </a:p>
        </p:txBody>
      </p:sp>
      <p:sp>
        <p:nvSpPr>
          <p:cNvPr id="2" name="">
            <a:extLst xmlns:a="http://schemas.openxmlformats.org/drawingml/2006/main">
              <a:ext uri="{FF2B5EF4-FFF2-40B4-BE49-F238E27FC236}">
                <a16:creationId xmlns:a16="http://schemas.microsoft.com/office/drawing/2014/main" id="{FE4FC0A1-E26B-4514-9042-E62124D014C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Illustrative five-year allocation of the costed pipeline. Low/high assumptions remain visible.</a:t>
            </a:r>
          </a:p>
        </p:txBody>
      </p:sp>
      <p:sp>
        <p:nvSpPr>
          <p:cNvPr id="3" name="">
            <a:extLst xmlns:a="http://schemas.openxmlformats.org/drawingml/2006/main">
              <a:ext uri="{FF2B5EF4-FFF2-40B4-BE49-F238E27FC236}">
                <a16:creationId xmlns:a16="http://schemas.microsoft.com/office/drawing/2014/main" id="{35912C3B-A612-4025-BDB1-BBFED2CEEBC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Analyst stress cases. Gross average workload, not a labour shortage or delivery forecast.</a:t>
            </a:r>
          </a:p>
        </p:txBody>
      </p:sp>
      <p:sp>
        <p:nvSpPr>
          <p:cNvPr id="4" name="">
            <a:extLst xmlns:a="http://schemas.openxmlformats.org/drawingml/2006/main">
              <a:ext uri="{FF2B5EF4-FFF2-40B4-BE49-F238E27FC236}">
                <a16:creationId xmlns:a16="http://schemas.microsoft.com/office/drawing/2014/main" id="{4B096F7F-B835-4172-BD56-18872906B21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5</a:t>
            </a:r>
          </a:p>
        </p:txBody>
      </p:sp>
      <p:graphicFrame>
        <p:nvGraphicFramePr>
          <p:cNvPr id="11" name=""/>
          <p:cNvGraphicFramePr/>
          <p:nvPr/>
        </p:nvGraphicFramePr>
        <p:xfrm>
          <a:off xmlns:a="http://schemas.openxmlformats.org/drawingml/2006/main" x="609600" y="2028825"/>
          <a:ext xmlns:a="http://schemas.openxmlformats.org/drawingml/2006/main" cx="10972800" cy="3286125"/>
        </p:xfrm>
        <a:graphic xmlns:a="http://schemas.openxmlformats.org/drawingml/2006/main">
          <a:graphicData uri="http://schemas.openxmlformats.org/drawingml/2006/table">
            <a:tbl>
              <a:tblPr/>
              <a:tblGrid>
                <a:gridCol w="5524500"/>
                <a:gridCol w="2724150"/>
                <a:gridCol w="2724150"/>
              </a:tblGrid>
              <a:tr h="469446">
                <a:tc>
                  <a:txBody>
                    <a:bodyPr/>
                    <a:lstStyle/>
                    <a:p>
                      <a:r>
                        <a:rPr sz="1650" b="1">
                          <a:solidFill>
                            <a:srgbClr val="FFFFFF"/>
                          </a:solidFill>
                          <a:latin typeface="Helvetica Neue"/>
                          <a:ea typeface="Helvetica Neue"/>
                          <a:cs typeface="Helvetica Neue"/>
                        </a:rPr>
                        <a:t>Input / result</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Low case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High case</a:t>
                      </a:r>
                    </a:p>
                  </a:txBody>
                  <a:tcPr marL="91440" marR="91440" marT="45720" marB="45720">
                    <a:solidFill>
                      <a:srgbClr val="0077CD"/>
                    </a:solidFill>
                  </a:tcPr>
                </a:tc>
              </a:tr>
              <a:tr h="469446">
                <a:tc>
                  <a:txBody>
                    <a:bodyPr/>
                    <a:lstStyle/>
                    <a:p>
                      <a:r>
                        <a:rPr sz="1650" b="0">
                          <a:solidFill>
                            <a:srgbClr val="333333"/>
                          </a:solidFill>
                          <a:latin typeface="Helvetica Neue"/>
                          <a:ea typeface="Helvetica Neue"/>
                          <a:cs typeface="Helvetica Neue"/>
                        </a:rPr>
                        <a:t>Pipeline realization</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25%</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75%</a:t>
                      </a:r>
                    </a:p>
                  </a:txBody>
                  <a:tcPr marL="91440" marR="91440" marT="45720" marB="45720">
                    <a:solidFill>
                      <a:srgbClr val="FFFFFF"/>
                    </a:solidFill>
                  </a:tcPr>
                </a:tc>
              </a:tr>
              <a:tr h="469446">
                <a:tc>
                  <a:txBody>
                    <a:bodyPr/>
                    <a:lstStyle/>
                    <a:p>
                      <a:r>
                        <a:rPr sz="1650" b="0">
                          <a:solidFill>
                            <a:srgbClr val="333333"/>
                          </a:solidFill>
                          <a:latin typeface="Helvetica Neue"/>
                          <a:ea typeface="Helvetica Neue"/>
                          <a:cs typeface="Helvetica Neue"/>
                        </a:rPr>
                        <a:t>Construction / labour shares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30% / 30%</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50% / 40%</a:t>
                      </a:r>
                    </a:p>
                  </a:txBody>
                  <a:tcPr marL="91440" marR="91440" marT="45720" marB="45720">
                    <a:solidFill>
                      <a:srgbClr val="F2F2F2"/>
                    </a:solidFill>
                  </a:tcPr>
                </a:tc>
              </a:tr>
              <a:tr h="469446">
                <a:tc>
                  <a:txBody>
                    <a:bodyPr/>
                    <a:lstStyle/>
                    <a:p>
                      <a:r>
                        <a:rPr sz="1650" b="0">
                          <a:solidFill>
                            <a:srgbClr val="333333"/>
                          </a:solidFill>
                          <a:latin typeface="Helvetica Neue"/>
                          <a:ea typeface="Helvetica Neue"/>
                          <a:cs typeface="Helvetica Neue"/>
                        </a:rPr>
                        <a:t>Paid labour cost / hour</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$100</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$80</a:t>
                      </a:r>
                    </a:p>
                  </a:txBody>
                  <a:tcPr marL="91440" marR="91440" marT="45720" marB="45720">
                    <a:solidFill>
                      <a:srgbClr val="FFFFFF"/>
                    </a:solidFill>
                  </a:tcPr>
                </a:tc>
              </a:tr>
              <a:tr h="469446">
                <a:tc>
                  <a:txBody>
                    <a:bodyPr/>
                    <a:lstStyle/>
                    <a:p>
                      <a:r>
                        <a:rPr sz="1650" b="0">
                          <a:solidFill>
                            <a:srgbClr val="333333"/>
                          </a:solidFill>
                          <a:latin typeface="Helvetica Neue"/>
                          <a:ea typeface="Helvetica Neue"/>
                          <a:cs typeface="Helvetica Neue"/>
                        </a:rPr>
                        <a:t>Construction volume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$3.7B</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$18.4B</a:t>
                      </a:r>
                    </a:p>
                  </a:txBody>
                  <a:tcPr marL="91440" marR="91440" marT="45720" marB="45720">
                    <a:solidFill>
                      <a:srgbClr val="F2F2F2"/>
                    </a:solidFill>
                  </a:tcPr>
                </a:tc>
              </a:tr>
              <a:tr h="469446">
                <a:tc>
                  <a:txBody>
                    <a:bodyPr/>
                    <a:lstStyle/>
                    <a:p>
                      <a:r>
                        <a:rPr sz="1650" b="0">
                          <a:solidFill>
                            <a:srgbClr val="333333"/>
                          </a:solidFill>
                          <a:latin typeface="Helvetica Neue"/>
                          <a:ea typeface="Helvetica Neue"/>
                          <a:cs typeface="Helvetica Neue"/>
                        </a:rPr>
                        <a:t>Electricians: annual average FTE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240</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1,998</a:t>
                      </a:r>
                    </a:p>
                  </a:txBody>
                  <a:tcPr marL="91440" marR="91440" marT="45720" marB="45720">
                    <a:solidFill>
                      <a:srgbClr val="FFFFFF"/>
                    </a:solidFill>
                  </a:tcPr>
                </a:tc>
              </a:tr>
              <a:tr h="469446">
                <a:tc>
                  <a:txBody>
                    <a:bodyPr/>
                    <a:lstStyle/>
                    <a:p>
                      <a:r>
                        <a:rPr sz="1650" b="0">
                          <a:solidFill>
                            <a:srgbClr val="333333"/>
                          </a:solidFill>
                          <a:latin typeface="Helvetica Neue"/>
                          <a:ea typeface="Helvetica Neue"/>
                          <a:cs typeface="Helvetica Neue"/>
                        </a:rPr>
                        <a:t>HVAC mechanics: annual average FTE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120</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999</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086A4651-79BD-4D96-9D7B-2F3493896A1E}"/>
              </a:ext>
            </a:extLst>
          </p:cNvPr>
          <p:cNvSpPr>
            <a:spLocks xmlns:a="http://schemas.openxmlformats.org/drawingml/2006/main" noGrp="1"/>
          </p:cNvSpPr>
          <p:nvPr/>
        </p:nvSpPr>
        <p:spPr>
          <a:xfrm xmlns:a="http://schemas.openxmlformats.org/drawingml/2006/main">
            <a:off x="609600" y="54578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Both: 5 years; 1,840 paid hours/FTE-year; electrician/HVAC payroll shares 20% / 10%.</a:t>
            </a:r>
          </a:p>
        </p:txBody>
      </p:sp>
    </p:spTree>
    <p:extLst>
      <p:ext uri="{BB962C8B-B14F-4D97-AF65-F5344CB8AC3E}">
        <p14:creationId xmlns:p14="http://schemas.microsoft.com/office/powerpoint/2010/main" val="12465930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5C1E96-FACC-481E-9D2A-F26FB30536A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The workforce comparison shows scale, not spare capacity</a:t>
            </a:r>
          </a:p>
        </p:txBody>
      </p:sp>
      <p:sp>
        <p:nvSpPr>
          <p:cNvPr id="2" name="">
            <a:extLst xmlns:a="http://schemas.openxmlformats.org/drawingml/2006/main">
              <a:ext uri="{FF2B5EF4-FFF2-40B4-BE49-F238E27FC236}">
                <a16:creationId xmlns:a16="http://schemas.microsoft.com/office/drawing/2014/main" id="{FD32387B-A5A7-4186-BD46-03BC8A97FE1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Scenario workload relative to historical Alberta employment stocks.</a:t>
            </a:r>
          </a:p>
        </p:txBody>
      </p:sp>
      <p:sp>
        <p:nvSpPr>
          <p:cNvPr id="3" name="">
            <a:extLst xmlns:a="http://schemas.openxmlformats.org/drawingml/2006/main">
              <a:ext uri="{FF2B5EF4-FFF2-40B4-BE49-F238E27FC236}">
                <a16:creationId xmlns:a16="http://schemas.microsoft.com/office/drawing/2014/main" id="{32C3E1E2-4A82-48BF-8F91-6E4799C51FD8}"/>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2021 Census stock denominator. Current availability requires contractor and regional evidence.</a:t>
            </a:r>
          </a:p>
        </p:txBody>
      </p:sp>
      <p:sp>
        <p:nvSpPr>
          <p:cNvPr id="4" name="">
            <a:extLst xmlns:a="http://schemas.openxmlformats.org/drawingml/2006/main">
              <a:ext uri="{FF2B5EF4-FFF2-40B4-BE49-F238E27FC236}">
                <a16:creationId xmlns:a16="http://schemas.microsoft.com/office/drawing/2014/main" id="{4F7D24BA-A0E3-4F66-89DD-A6BB72F88D6F}"/>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6</a:t>
            </a:r>
          </a:p>
        </p:txBody>
      </p:sp>
      <p:graphicFrame>
        <p:nvGraphicFramePr>
          <p:cNvPr id="11" name=""/>
          <p:cNvGraphicFramePr/>
          <p:nvPr/>
        </p:nvGraphicFramePr>
        <p:xfrm>
          <a:off xmlns:a="http://schemas.openxmlformats.org/drawingml/2006/main" x="609600" y="2333625"/>
          <a:ext xmlns:a="http://schemas.openxmlformats.org/drawingml/2006/main" cx="10972800" cy="2143125"/>
        </p:xfrm>
        <a:graphic xmlns:a="http://schemas.openxmlformats.org/drawingml/2006/main">
          <a:graphicData uri="http://schemas.openxmlformats.org/drawingml/2006/table">
            <a:tbl>
              <a:tblPr/>
              <a:tblGrid>
                <a:gridCol w="4286250"/>
                <a:gridCol w="1809750"/>
                <a:gridCol w="2438400"/>
                <a:gridCol w="2438400"/>
              </a:tblGrid>
              <a:tr h="714375">
                <a:tc>
                  <a:txBody>
                    <a:bodyPr/>
                    <a:lstStyle/>
                    <a:p>
                      <a:r>
                        <a:rPr sz="1800" b="1">
                          <a:solidFill>
                            <a:srgbClr val="FFFFFF"/>
                          </a:solidFill>
                          <a:latin typeface="Helvetica Neue"/>
                          <a:ea typeface="Helvetica Neue"/>
                          <a:cs typeface="Helvetica Neue"/>
                        </a:rPr>
                        <a:t>Occupation</a:t>
                      </a:r>
                    </a:p>
                  </a:txBody>
                  <a:tcPr marL="91440" marR="91440" marT="45720" marB="45720">
                    <a:solidFill>
                      <a:srgbClr val="0077CD"/>
                    </a:solidFill>
                  </a:tcPr>
                </a:tc>
                <a:tc>
                  <a:txBody>
                    <a:bodyPr/>
                    <a:lstStyle/>
                    <a:p>
                      <a:r>
                        <a:rPr sz="1800" b="1">
                          <a:solidFill>
                            <a:srgbClr val="FFFFFF"/>
                          </a:solidFill>
                          <a:latin typeface="Helvetica Neue"/>
                          <a:ea typeface="Helvetica Neue"/>
                          <a:cs typeface="Helvetica Neue"/>
                        </a:rPr>
                        <a:t>2021 employed</a:t>
                      </a:r>
                    </a:p>
                  </a:txBody>
                  <a:tcPr marL="91440" marR="91440" marT="45720" marB="45720">
                    <a:solidFill>
                      <a:srgbClr val="0077CD"/>
                    </a:solidFill>
                  </a:tcPr>
                </a:tc>
                <a:tc>
                  <a:txBody>
                    <a:bodyPr/>
                    <a:lstStyle/>
                    <a:p>
                      <a:r>
                        <a:rPr sz="1800" b="1">
                          <a:solidFill>
                            <a:srgbClr val="FFFFFF"/>
                          </a:solidFill>
                          <a:latin typeface="Helvetica Neue"/>
                          <a:ea typeface="Helvetica Neue"/>
                          <a:cs typeface="Helvetica Neue"/>
                        </a:rPr>
                        <a:t>Low FTE / stock</a:t>
                      </a:r>
                    </a:p>
                  </a:txBody>
                  <a:tcPr marL="91440" marR="91440" marT="45720" marB="45720">
                    <a:solidFill>
                      <a:srgbClr val="0077CD"/>
                    </a:solidFill>
                  </a:tcPr>
                </a:tc>
                <a:tc>
                  <a:txBody>
                    <a:bodyPr/>
                    <a:lstStyle/>
                    <a:p>
                      <a:r>
                        <a:rPr sz="1800" b="1">
                          <a:solidFill>
                            <a:srgbClr val="FFFFFF"/>
                          </a:solidFill>
                          <a:latin typeface="Helvetica Neue"/>
                          <a:ea typeface="Helvetica Neue"/>
                          <a:cs typeface="Helvetica Neue"/>
                        </a:rPr>
                        <a:t>High FTE / stock</a:t>
                      </a:r>
                    </a:p>
                  </a:txBody>
                  <a:tcPr marL="91440" marR="91440" marT="45720" marB="45720">
                    <a:solidFill>
                      <a:srgbClr val="0077CD"/>
                    </a:solidFill>
                  </a:tcPr>
                </a:tc>
              </a:tr>
              <a:tr h="714375">
                <a:tc>
                  <a:txBody>
                    <a:bodyPr/>
                    <a:lstStyle/>
                    <a:p>
                      <a:r>
                        <a:rPr sz="1800" b="0">
                          <a:solidFill>
                            <a:srgbClr val="333333"/>
                          </a:solidFill>
                          <a:latin typeface="Helvetica Neue"/>
                          <a:ea typeface="Helvetica Neue"/>
                          <a:cs typeface="Helvetica Neue"/>
                        </a:rPr>
                        <a:t>Electricians, excluding industrial / power</a:t>
                      </a:r>
                    </a:p>
                  </a:txBody>
                  <a:tcPr marL="91440" marR="91440" marT="45720" marB="45720">
                    <a:solidFill>
                      <a:srgbClr val="FFFFFF"/>
                    </a:solidFill>
                  </a:tcPr>
                </a:tc>
                <a:tc>
                  <a:txBody>
                    <a:bodyPr/>
                    <a:lstStyle/>
                    <a:p>
                      <a:r>
                        <a:rPr sz="1800" b="0">
                          <a:solidFill>
                            <a:srgbClr val="333333"/>
                          </a:solidFill>
                          <a:latin typeface="Helvetica Neue"/>
                          <a:ea typeface="Helvetica Neue"/>
                          <a:cs typeface="Helvetica Neue"/>
                        </a:rPr>
                        <a:t>13,375</a:t>
                      </a:r>
                    </a:p>
                  </a:txBody>
                  <a:tcPr marL="91440" marR="91440" marT="45720" marB="45720">
                    <a:solidFill>
                      <a:srgbClr val="FFFFFF"/>
                    </a:solidFill>
                  </a:tcPr>
                </a:tc>
                <a:tc>
                  <a:txBody>
                    <a:bodyPr/>
                    <a:lstStyle/>
                    <a:p>
                      <a:r>
                        <a:rPr sz="1800" b="0">
                          <a:solidFill>
                            <a:srgbClr val="333333"/>
                          </a:solidFill>
                          <a:latin typeface="Helvetica Neue"/>
                          <a:ea typeface="Helvetica Neue"/>
                          <a:cs typeface="Helvetica Neue"/>
                        </a:rPr>
                        <a:t>240 / 1.8%</a:t>
                      </a:r>
                    </a:p>
                  </a:txBody>
                  <a:tcPr marL="91440" marR="91440" marT="45720" marB="45720">
                    <a:solidFill>
                      <a:srgbClr val="FFFFFF"/>
                    </a:solidFill>
                  </a:tcPr>
                </a:tc>
                <a:tc>
                  <a:txBody>
                    <a:bodyPr/>
                    <a:lstStyle/>
                    <a:p>
                      <a:r>
                        <a:rPr sz="1800" b="0">
                          <a:solidFill>
                            <a:srgbClr val="333333"/>
                          </a:solidFill>
                          <a:latin typeface="Helvetica Neue"/>
                          <a:ea typeface="Helvetica Neue"/>
                          <a:cs typeface="Helvetica Neue"/>
                        </a:rPr>
                        <a:t>1,998 / 14.9%</a:t>
                      </a:r>
                    </a:p>
                  </a:txBody>
                  <a:tcPr marL="91440" marR="91440" marT="45720" marB="45720">
                    <a:solidFill>
                      <a:srgbClr val="FFFFFF"/>
                    </a:solidFill>
                  </a:tcPr>
                </a:tc>
              </a:tr>
              <a:tr h="714375">
                <a:tc>
                  <a:txBody>
                    <a:bodyPr/>
                    <a:lstStyle/>
                    <a:p>
                      <a:r>
                        <a:rPr sz="1800" b="0">
                          <a:solidFill>
                            <a:srgbClr val="333333"/>
                          </a:solidFill>
                          <a:latin typeface="Helvetica Neue"/>
                          <a:ea typeface="Helvetica Neue"/>
                          <a:cs typeface="Helvetica Neue"/>
                        </a:rPr>
                        <a:t>HVAC mechanics</a:t>
                      </a:r>
                    </a:p>
                  </a:txBody>
                  <a:tcPr marL="91440" marR="91440" marT="45720" marB="45720">
                    <a:solidFill>
                      <a:srgbClr val="F2F2F2"/>
                    </a:solidFill>
                  </a:tcPr>
                </a:tc>
                <a:tc>
                  <a:txBody>
                    <a:bodyPr/>
                    <a:lstStyle/>
                    <a:p>
                      <a:r>
                        <a:rPr sz="1800" b="0">
                          <a:solidFill>
                            <a:srgbClr val="333333"/>
                          </a:solidFill>
                          <a:latin typeface="Helvetica Neue"/>
                          <a:ea typeface="Helvetica Neue"/>
                          <a:cs typeface="Helvetica Neue"/>
                        </a:rPr>
                        <a:t>3,095</a:t>
                      </a:r>
                    </a:p>
                  </a:txBody>
                  <a:tcPr marL="91440" marR="91440" marT="45720" marB="45720">
                    <a:solidFill>
                      <a:srgbClr val="F2F2F2"/>
                    </a:solidFill>
                  </a:tcPr>
                </a:tc>
                <a:tc>
                  <a:txBody>
                    <a:bodyPr/>
                    <a:lstStyle/>
                    <a:p>
                      <a:r>
                        <a:rPr sz="1800" b="0">
                          <a:solidFill>
                            <a:srgbClr val="333333"/>
                          </a:solidFill>
                          <a:latin typeface="Helvetica Neue"/>
                          <a:ea typeface="Helvetica Neue"/>
                          <a:cs typeface="Helvetica Neue"/>
                        </a:rPr>
                        <a:t>120 / 3.9%</a:t>
                      </a:r>
                    </a:p>
                  </a:txBody>
                  <a:tcPr marL="91440" marR="91440" marT="45720" marB="45720">
                    <a:solidFill>
                      <a:srgbClr val="F2F2F2"/>
                    </a:solidFill>
                  </a:tcPr>
                </a:tc>
                <a:tc>
                  <a:txBody>
                    <a:bodyPr/>
                    <a:lstStyle/>
                    <a:p>
                      <a:r>
                        <a:rPr sz="1800" b="0">
                          <a:solidFill>
                            <a:srgbClr val="333333"/>
                          </a:solidFill>
                          <a:latin typeface="Helvetica Neue"/>
                          <a:ea typeface="Helvetica Neue"/>
                          <a:cs typeface="Helvetica Neue"/>
                        </a:rPr>
                        <a:t>999 / 32.3%</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0AAC30FF-623C-441E-8499-9DE0F2B50ED5}"/>
              </a:ext>
            </a:extLst>
          </p:cNvPr>
          <p:cNvSpPr>
            <a:spLocks xmlns:a="http://schemas.openxmlformats.org/drawingml/2006/main" noGrp="1"/>
          </p:cNvSpPr>
          <p:nvPr/>
        </p:nvSpPr>
        <p:spPr>
          <a:xfrm xmlns:a="http://schemas.openxmlformats.org/drawingml/2006/main">
            <a:off x="609600" y="49530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C4E"/>
                </a:solidFill>
                <a:latin typeface="Helvetica Neue"/>
                <a:ea typeface="Helvetica Neue"/>
                <a:cs typeface="Helvetica Neue"/>
              </a:defRPr>
            </a:pPr>
            <a:r>
              <a:rPr sz="2250" b="1">
                <a:solidFill>
                  <a:srgbClr val="002C4E"/>
                </a:solidFill>
                <a:latin typeface="Helvetica Neue"/>
                <a:ea typeface="Helvetica Neue"/>
                <a:cs typeface="Helvetica Neue"/>
              </a:rPr>
              <a:t>Timing matters: the same workload over three years raises annual averages by 67%.</a:t>
            </a:r>
          </a:p>
        </p:txBody>
      </p:sp>
    </p:spTree>
    <p:extLst>
      <p:ext uri="{BB962C8B-B14F-4D97-AF65-F5344CB8AC3E}">
        <p14:creationId xmlns:p14="http://schemas.microsoft.com/office/powerpoint/2010/main" val="1988391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EC4669-6A19-4FF4-B0BE-66814BD4DF6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HVAC and steel prices show the largest increases</a:t>
            </a:r>
          </a:p>
        </p:txBody>
      </p:sp>
      <p:sp>
        <p:nvSpPr>
          <p:cNvPr id="2" name="">
            <a:extLst xmlns:a="http://schemas.openxmlformats.org/drawingml/2006/main">
              <a:ext uri="{FF2B5EF4-FFF2-40B4-BE49-F238E27FC236}">
                <a16:creationId xmlns:a16="http://schemas.microsoft.com/office/drawing/2014/main" id="{E15EBB39-7F7A-427F-A8EF-53BE13B802B0}"/>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Calgary and Edmonton industrial-factory construction components, Q2 2026 versus Q2 2025.</a:t>
            </a:r>
          </a:p>
        </p:txBody>
      </p:sp>
      <p:sp>
        <p:nvSpPr>
          <p:cNvPr id="3" name="">
            <a:extLst xmlns:a="http://schemas.openxmlformats.org/drawingml/2006/main">
              <a:ext uri="{FF2B5EF4-FFF2-40B4-BE49-F238E27FC236}">
                <a16:creationId xmlns:a16="http://schemas.microsoft.com/office/drawing/2014/main" id="{2013380A-642A-4ECE-8B26-FBDD47E77C20}"/>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Statistics Canada, Table 18-10-0289-01. Contractor bid-price changes, not raw-material prices.</a:t>
            </a:r>
          </a:p>
        </p:txBody>
      </p:sp>
      <p:sp>
        <p:nvSpPr>
          <p:cNvPr id="4" name="">
            <a:extLst xmlns:a="http://schemas.openxmlformats.org/drawingml/2006/main">
              <a:ext uri="{FF2B5EF4-FFF2-40B4-BE49-F238E27FC236}">
                <a16:creationId xmlns:a16="http://schemas.microsoft.com/office/drawing/2014/main" id="{06BC2D39-1ACB-429F-AFB9-D4B9E058FCF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7</a:t>
            </a:r>
          </a:p>
        </p:txBody>
      </p:sp>
      <p:graphicFrame>
        <p:nvGraphicFramePr>
          <p:cNvPr id="11" name="Chart"/>
          <p:cNvGraphicFramePr/>
          <p:nvPr/>
        </p:nvGraphicFramePr>
        <p:xfrm>
          <a:off xmlns:a="http://schemas.openxmlformats.org/drawingml/2006/main" x="609600" y="214312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c81ff432970a4591"/>
          </a:graphicData>
        </a:graphic>
      </p:graphicFrame>
      <p:sp>
        <p:nvSpPr>
          <p:cNvPr id="6" name="">
            <a:extLst xmlns:a="http://schemas.openxmlformats.org/drawingml/2006/main">
              <a:ext uri="{FF2B5EF4-FFF2-40B4-BE49-F238E27FC236}">
                <a16:creationId xmlns:a16="http://schemas.microsoft.com/office/drawing/2014/main" id="{8346CD8B-94E7-42F0-8CA2-09368B9717E9}"/>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2C4E"/>
                </a:solidFill>
                <a:latin typeface="Helvetica Neue"/>
                <a:ea typeface="Helvetica Neue"/>
                <a:cs typeface="Helvetica Neue"/>
              </a:defRPr>
            </a:pPr>
            <a:r>
              <a:rPr sz="1650" b="1">
                <a:solidFill>
                  <a:srgbClr val="002C4E"/>
                </a:solidFill>
                <a:latin typeface="Helvetica Neue"/>
                <a:ea typeface="Helvetica Neue"/>
                <a:cs typeface="Helvetica Neue"/>
              </a:rPr>
              <a:t>HVAC and steel warrant a cost-weighted procurement review.</a:t>
            </a:r>
          </a:p>
        </p:txBody>
      </p:sp>
    </p:spTree>
    <p:extLst>
      <p:ext uri="{BB962C8B-B14F-4D97-AF65-F5344CB8AC3E}">
        <p14:creationId xmlns:p14="http://schemas.microsoft.com/office/powerpoint/2010/main" val="12102863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649103-CF8E-45EA-B685-0FDF0130720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10% shock on a quarter of the plan is about $267M</a:t>
            </a:r>
          </a:p>
        </p:txBody>
      </p:sp>
      <p:sp>
        <p:nvSpPr>
          <p:cNvPr id="2" name="">
            <a:extLst xmlns:a="http://schemas.openxmlformats.org/drawingml/2006/main">
              <a:ext uri="{FF2B5EF4-FFF2-40B4-BE49-F238E27FC236}">
                <a16:creationId xmlns:a16="http://schemas.microsoft.com/office/drawing/2014/main" id="{097F697D-6702-41A0-90F6-5FB94B7359AB}"/>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Budget sensitivity against the $10.687B FY2026–27 capital plan.</a:t>
            </a:r>
          </a:p>
        </p:txBody>
      </p:sp>
      <p:sp>
        <p:nvSpPr>
          <p:cNvPr id="3" name="">
            <a:extLst xmlns:a="http://schemas.openxmlformats.org/drawingml/2006/main">
              <a:ext uri="{FF2B5EF4-FFF2-40B4-BE49-F238E27FC236}">
                <a16:creationId xmlns:a16="http://schemas.microsoft.com/office/drawing/2014/main" id="{78BCA525-9878-4B11-B2CE-5F5752A82F5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Each row is a separate exposure test. Do not add them or layer them onto an escalated baseline.</a:t>
            </a:r>
          </a:p>
        </p:txBody>
      </p:sp>
      <p:sp>
        <p:nvSpPr>
          <p:cNvPr id="4" name="">
            <a:extLst xmlns:a="http://schemas.openxmlformats.org/drawingml/2006/main">
              <a:ext uri="{FF2B5EF4-FFF2-40B4-BE49-F238E27FC236}">
                <a16:creationId xmlns:a16="http://schemas.microsoft.com/office/drawing/2014/main" id="{BFB30776-C237-40EB-87E8-0D01CCB13CD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8</a:t>
            </a:r>
          </a:p>
        </p:txBody>
      </p:sp>
      <p:graphicFrame>
        <p:nvGraphicFramePr>
          <p:cNvPr id="11" name=""/>
          <p:cNvGraphicFramePr/>
          <p:nvPr/>
        </p:nvGraphicFramePr>
        <p:xfrm>
          <a:off xmlns:a="http://schemas.openxmlformats.org/drawingml/2006/main" x="609600" y="2143125"/>
          <a:ext xmlns:a="http://schemas.openxmlformats.org/drawingml/2006/main" cx="10972800" cy="2809875"/>
        </p:xfrm>
        <a:graphic xmlns:a="http://schemas.openxmlformats.org/drawingml/2006/main">
          <a:graphicData uri="http://schemas.openxmlformats.org/drawingml/2006/table">
            <a:tbl>
              <a:tblPr/>
              <a:tblGrid>
                <a:gridCol w="3810000"/>
                <a:gridCol w="3238500"/>
                <a:gridCol w="3924300"/>
              </a:tblGrid>
              <a:tr h="561975">
                <a:tc>
                  <a:txBody>
                    <a:bodyPr/>
                    <a:lstStyle/>
                    <a:p>
                      <a:r>
                        <a:rPr sz="1725" b="1">
                          <a:solidFill>
                            <a:srgbClr val="FFFFFF"/>
                          </a:solidFill>
                          <a:latin typeface="Helvetica Neue"/>
                          <a:ea typeface="Helvetica Neue"/>
                          <a:cs typeface="Helvetica Neue"/>
                        </a:rPr>
                        <a:t>Price movement</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Calgary / Edmonton</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Impact if 25% of plan exposed</a:t>
                      </a:r>
                    </a:p>
                  </a:txBody>
                  <a:tcPr marL="91440" marR="91440" marT="45720" marB="45720">
                    <a:solidFill>
                      <a:srgbClr val="0077CD"/>
                    </a:solidFill>
                  </a:tcPr>
                </a:tc>
              </a:tr>
              <a:tr h="561975">
                <a:tc>
                  <a:txBody>
                    <a:bodyPr/>
                    <a:lstStyle/>
                    <a:p>
                      <a:r>
                        <a:rPr sz="1725" b="0">
                          <a:solidFill>
                            <a:srgbClr val="333333"/>
                          </a:solidFill>
                          <a:latin typeface="Helvetica Neue"/>
                          <a:ea typeface="Helvetica Neue"/>
                          <a:cs typeface="Helvetica Neue"/>
                        </a:rPr>
                        <a:t>Concrete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4.11% / 5.24%</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$110M / $140M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Structural steel</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7.30% / 10.44%</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$195M / $279M</a:t>
                      </a:r>
                    </a:p>
                  </a:txBody>
                  <a:tcPr marL="91440" marR="91440" marT="45720" marB="45720">
                    <a:solidFill>
                      <a:srgbClr val="F2F2F2"/>
                    </a:solidFill>
                  </a:tcPr>
                </a:tc>
              </a:tr>
              <a:tr h="561975">
                <a:tc>
                  <a:txBody>
                    <a:bodyPr/>
                    <a:lstStyle/>
                    <a:p>
                      <a:r>
                        <a:rPr sz="1725" b="0">
                          <a:solidFill>
                            <a:srgbClr val="333333"/>
                          </a:solidFill>
                          <a:latin typeface="Helvetica Neue"/>
                          <a:ea typeface="Helvetica Neue"/>
                          <a:cs typeface="Helvetica Neue"/>
                        </a:rPr>
                        <a:t>Electrical systems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0.83% / 1.01%</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$22M / $27M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HVAC</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10.05% / 10.05%</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$269M / $268M</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925EFAC0-8533-4507-A842-083DB2B855D4}"/>
              </a:ext>
            </a:extLst>
          </p:cNvPr>
          <p:cNvSpPr>
            <a:spLocks xmlns:a="http://schemas.openxmlformats.org/drawingml/2006/main" noGrp="1"/>
          </p:cNvSpPr>
          <p:nvPr/>
        </p:nvSpPr>
        <p:spPr>
          <a:xfrm xmlns:a="http://schemas.openxmlformats.org/drawingml/2006/main">
            <a:off x="609600" y="53340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At a 10% shock: 10% exposed = $107M; 25% = $267M; 50% = $534M.</a:t>
            </a:r>
          </a:p>
        </p:txBody>
      </p:sp>
    </p:spTree>
    <p:extLst>
      <p:ext uri="{BB962C8B-B14F-4D97-AF65-F5344CB8AC3E}">
        <p14:creationId xmlns:p14="http://schemas.microsoft.com/office/powerpoint/2010/main" val="12914111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514CA1-74D5-40C8-8B21-17EB40C9049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49 Infrastructure-developer records overlap 2027–2036</a:t>
            </a:r>
          </a:p>
        </p:txBody>
      </p:sp>
      <p:sp>
        <p:nvSpPr>
          <p:cNvPr id="2" name="">
            <a:extLst xmlns:a="http://schemas.openxmlformats.org/drawingml/2006/main">
              <a:ext uri="{FF2B5EF4-FFF2-40B4-BE49-F238E27FC236}">
                <a16:creationId xmlns:a16="http://schemas.microsoft.com/office/drawing/2014/main" id="{D059C43F-ACAE-490B-B9F3-5CEEE5CAA08A}"/>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municipality and stage identify a portfolio for package-level review.</a:t>
            </a:r>
          </a:p>
        </p:txBody>
      </p:sp>
      <p:sp>
        <p:nvSpPr>
          <p:cNvPr id="3" name="">
            <a:extLst xmlns:a="http://schemas.openxmlformats.org/drawingml/2006/main">
              <a:ext uri="{FF2B5EF4-FFF2-40B4-BE49-F238E27FC236}">
                <a16:creationId xmlns:a16="http://schemas.microsoft.com/office/drawing/2014/main" id="{28561BBE-71A6-4D50-B1B1-961331D4344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Developer is the screening field. Ownership, current package phase and actual shared crews require confirmation.</a:t>
            </a:r>
          </a:p>
        </p:txBody>
      </p:sp>
      <p:sp>
        <p:nvSpPr>
          <p:cNvPr id="4" name="">
            <a:extLst xmlns:a="http://schemas.openxmlformats.org/drawingml/2006/main">
              <a:ext uri="{FF2B5EF4-FFF2-40B4-BE49-F238E27FC236}">
                <a16:creationId xmlns:a16="http://schemas.microsoft.com/office/drawing/2014/main" id="{1F7261B5-E9E9-446A-9386-5014B58CD31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9</a:t>
            </a:r>
          </a:p>
        </p:txBody>
      </p:sp>
      <p:graphicFrame>
        <p:nvGraphicFramePr>
          <p:cNvPr id="11" name=""/>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5524500"/>
                <a:gridCol w="2286000"/>
                <a:gridCol w="3162300"/>
              </a:tblGrid>
              <a:tr h="547688">
                <a:tc>
                  <a:txBody>
                    <a:bodyPr/>
                    <a:lstStyle/>
                    <a:p>
                      <a:r>
                        <a:rPr sz="165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Reported stage / years</a:t>
                      </a:r>
                    </a:p>
                  </a:txBody>
                  <a:tcPr marL="91440" marR="91440" marT="45720" marB="45720">
                    <a:solidFill>
                      <a:srgbClr val="0077CD"/>
                    </a:solidFill>
                  </a:tcPr>
                </a:tc>
              </a:tr>
              <a:tr h="547688">
                <a:tc>
                  <a:txBody>
                    <a:bodyPr/>
                    <a:lstStyle/>
                    <a:p>
                      <a:r>
                        <a:rPr sz="1650" b="0">
                          <a:solidFill>
                            <a:srgbClr val="333333"/>
                          </a:solidFill>
                          <a:latin typeface="Helvetica Neue"/>
                          <a:ea typeface="Helvetica Neue"/>
                          <a:cs typeface="Helvetica Neue"/>
                        </a:rPr>
                        <a:t>Alberta Surgical Initiative (02 - Calgary)</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2024–2029</a:t>
                      </a:r>
                    </a:p>
                  </a:txBody>
                  <a:tcPr marL="91440" marR="91440" marT="45720" marB="45720">
                    <a:solidFill>
                      <a:srgbClr val="FFFFFF"/>
                    </a:solidFill>
                  </a:tcPr>
                </a:tc>
              </a:tr>
              <a:tr h="547688">
                <a:tc>
                  <a:txBody>
                    <a:bodyPr/>
                    <a:lstStyle/>
                    <a:p>
                      <a:r>
                        <a:rPr sz="1650" b="0">
                          <a:solidFill>
                            <a:srgbClr val="333333"/>
                          </a:solidFill>
                          <a:latin typeface="Helvetica Neue"/>
                          <a:ea typeface="Helvetica Neue"/>
                          <a:cs typeface="Helvetica Neue"/>
                        </a:rPr>
                        <a:t>New K-9 Catholic School in Chestermere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Chestermere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Construction, 2025–2027</a:t>
                      </a:r>
                    </a:p>
                  </a:txBody>
                  <a:tcPr marL="91440" marR="91440" marT="45720" marB="45720">
                    <a:solidFill>
                      <a:srgbClr val="F2F2F2"/>
                    </a:solidFill>
                  </a:tcPr>
                </a:tc>
              </a:tr>
              <a:tr h="547688">
                <a:tc>
                  <a:txBody>
                    <a:bodyPr/>
                    <a:lstStyle/>
                    <a:p>
                      <a:r>
                        <a:rPr sz="1650" b="0">
                          <a:solidFill>
                            <a:srgbClr val="333333"/>
                          </a:solidFill>
                          <a:latin typeface="Helvetica Neue"/>
                          <a:ea typeface="Helvetica Neue"/>
                          <a:cs typeface="Helvetica Neue"/>
                        </a:rPr>
                        <a:t>Red Deer Regional Hospital Centre Redevelopment</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Red Deer</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2024–2031</a:t>
                      </a:r>
                    </a:p>
                  </a:txBody>
                  <a:tcPr marL="91440" marR="91440" marT="45720" marB="45720">
                    <a:solidFill>
                      <a:srgbClr val="FFFFFF"/>
                    </a:solidFill>
                  </a:tcPr>
                </a:tc>
              </a:tr>
              <a:tr h="547688">
                <a:tc>
                  <a:txBody>
                    <a:bodyPr/>
                    <a:lstStyle/>
                    <a:p>
                      <a:r>
                        <a:rPr sz="1650" b="0">
                          <a:solidFill>
                            <a:srgbClr val="333333"/>
                          </a:solidFill>
                          <a:latin typeface="Helvetica Neue"/>
                          <a:ea typeface="Helvetica Neue"/>
                          <a:cs typeface="Helvetica Neue"/>
                        </a:rPr>
                        <a:t>Alberta Surgical Initiative (06 - Royal Alexandra Hospital)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Proposed, 2027–2028</a:t>
                      </a:r>
                    </a:p>
                  </a:txBody>
                  <a:tcPr marL="91440" marR="91440" marT="45720" marB="45720">
                    <a:solidFill>
                      <a:srgbClr val="F2F2F2"/>
                    </a:solidFill>
                  </a:tcPr>
                </a:tc>
              </a:tr>
              <a:tr h="547688">
                <a:tc>
                  <a:txBody>
                    <a:bodyPr/>
                    <a:lstStyle/>
                    <a:p>
                      <a:r>
                        <a:rPr sz="1650" b="0">
                          <a:solidFill>
                            <a:srgbClr val="333333"/>
                          </a:solidFill>
                          <a:latin typeface="Helvetica Neue"/>
                          <a:ea typeface="Helvetica Neue"/>
                          <a:cs typeface="Helvetica Neue"/>
                        </a:rPr>
                        <a:t>Recovery Communities (10 - Grande Prairie)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Grande Prairie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2026–2028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0452D41-D7B9-43D7-BC2C-A5C6F448A461}"/>
              </a:ext>
            </a:extLst>
          </p:cNvPr>
          <p:cNvSpPr>
            <a:spLocks xmlns:a="http://schemas.openxmlformats.org/drawingml/2006/main" noGrp="1"/>
          </p:cNvSpPr>
          <p:nvPr/>
        </p:nvSpPr>
        <p:spPr>
          <a:xfrm xmlns:a="http://schemas.openxmlformats.org/drawingml/2006/main">
            <a:off x="60960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Package screen: electrical fit-out, cooling and commissioning. Full 49-record register follows.</a:t>
            </a:r>
          </a:p>
        </p:txBody>
      </p:sp>
    </p:spTree>
    <p:extLst>
      <p:ext uri="{BB962C8B-B14F-4D97-AF65-F5344CB8AC3E}">
        <p14:creationId xmlns:p14="http://schemas.microsoft.com/office/powerpoint/2010/main" val="14472941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849A3B-66DB-40ED-B4C1-26AE6B2B16F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Power belongs in the delivery conversation</a:t>
            </a:r>
          </a:p>
        </p:txBody>
      </p:sp>
      <p:sp>
        <p:nvSpPr>
          <p:cNvPr id="2" name="">
            <a:extLst xmlns:a="http://schemas.openxmlformats.org/drawingml/2006/main">
              <a:ext uri="{FF2B5EF4-FFF2-40B4-BE49-F238E27FC236}">
                <a16:creationId xmlns:a16="http://schemas.microsoft.com/office/drawing/2014/main" id="{85207AB7-07C1-4417-85E1-8752448CEB78}"/>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Three enabling-power proposals total $6.4B, separate from the core data-centre pipeline.</a:t>
            </a:r>
          </a:p>
        </p:txBody>
      </p:sp>
      <p:sp>
        <p:nvSpPr>
          <p:cNvPr id="3" name="">
            <a:extLst xmlns:a="http://schemas.openxmlformats.org/drawingml/2006/main">
              <a:ext uri="{FF2B5EF4-FFF2-40B4-BE49-F238E27FC236}">
                <a16:creationId xmlns:a16="http://schemas.microsoft.com/office/drawing/2014/main" id="{EA449895-F1D1-48E8-A82E-B6573CAB2348}"/>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AESO large-load page checked 6 Sep 2026</a:t>
            </a:r>
          </a:p>
        </p:txBody>
      </p:sp>
      <p:sp>
        <p:nvSpPr>
          <p:cNvPr id="4" name="">
            <a:extLst xmlns:a="http://schemas.openxmlformats.org/drawingml/2006/main">
              <a:ext uri="{FF2B5EF4-FFF2-40B4-BE49-F238E27FC236}">
                <a16:creationId xmlns:a16="http://schemas.microsoft.com/office/drawing/2014/main" id="{C6CBC7F9-5635-4B2B-9A38-8EF2FFFB138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09600" y="2095500"/>
          <a:ext xmlns:a="http://schemas.openxmlformats.org/drawingml/2006/main" cx="10972800" cy="2381250"/>
        </p:xfrm>
        <a:graphic xmlns:a="http://schemas.openxmlformats.org/drawingml/2006/main">
          <a:graphicData uri="http://schemas.openxmlformats.org/drawingml/2006/table">
            <a:tbl>
              <a:tblPr/>
              <a:tblGrid>
                <a:gridCol w="5524500"/>
                <a:gridCol w="3143250"/>
                <a:gridCol w="2305050"/>
              </a:tblGrid>
              <a:tr h="595313">
                <a:tc>
                  <a:txBody>
                    <a:bodyPr/>
                    <a:lstStyle/>
                    <a:p>
                      <a:r>
                        <a:rPr sz="1725" b="1">
                          <a:solidFill>
                            <a:srgbClr val="FFFFFF"/>
                          </a:solidFill>
                          <a:latin typeface="Helvetica Neue"/>
                          <a:ea typeface="Helvetica Neue"/>
                          <a:cs typeface="Helvetica Neue"/>
                        </a:rPr>
                        <a:t>Enabling-power proposal</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MW / reported end</a:t>
                      </a:r>
                    </a:p>
                  </a:txBody>
                  <a:tcPr marL="91440" marR="91440" marT="45720" marB="45720">
                    <a:solidFill>
                      <a:srgbClr val="0077CD"/>
                    </a:solidFill>
                  </a:tcPr>
                </a:tc>
              </a:tr>
              <a:tr h="595313">
                <a:tc>
                  <a:txBody>
                    <a:bodyPr/>
                    <a:lstStyle/>
                    <a:p>
                      <a:r>
                        <a:rPr sz="1725" b="0">
                          <a:solidFill>
                            <a:srgbClr val="333333"/>
                          </a:solidFill>
                          <a:latin typeface="Helvetica Neue"/>
                          <a:ea typeface="Helvetica Neue"/>
                          <a:cs typeface="Helvetica Neue"/>
                        </a:rPr>
                        <a:t>Greenlight Electricity Centre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Sturgeon County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932 MW / 2030</a:t>
                      </a:r>
                    </a:p>
                  </a:txBody>
                  <a:tcPr marL="91440" marR="91440" marT="45720" marB="45720">
                    <a:solidFill>
                      <a:srgbClr val="FFFFFF"/>
                    </a:solidFill>
                  </a:tcPr>
                </a:tc>
              </a:tr>
              <a:tr h="595313">
                <a:tc>
                  <a:txBody>
                    <a:bodyPr/>
                    <a:lstStyle/>
                    <a:p>
                      <a:r>
                        <a:rPr sz="1725" b="0">
                          <a:solidFill>
                            <a:srgbClr val="333333"/>
                          </a:solidFill>
                          <a:latin typeface="Helvetica Neue"/>
                          <a:ea typeface="Helvetica Neue"/>
                          <a:cs typeface="Helvetica Neue"/>
                        </a:rPr>
                        <a:t>Teton Digital Black Bear Power Project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Swan Hills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466 MW / 2028</a:t>
                      </a:r>
                    </a:p>
                  </a:txBody>
                  <a:tcPr marL="91440" marR="91440" marT="45720" marB="45720">
                    <a:solidFill>
                      <a:srgbClr val="F2F2F2"/>
                    </a:solidFill>
                  </a:tcPr>
                </a:tc>
              </a:tr>
              <a:tr h="595313">
                <a:tc>
                  <a:txBody>
                    <a:bodyPr/>
                    <a:lstStyle/>
                    <a:p>
                      <a:r>
                        <a:rPr sz="1725" b="0">
                          <a:solidFill>
                            <a:srgbClr val="333333"/>
                          </a:solidFill>
                          <a:latin typeface="Helvetica Neue"/>
                          <a:ea typeface="Helvetica Neue"/>
                          <a:cs typeface="Helvetica Neue"/>
                        </a:rPr>
                        <a:t>Teton Digital Northern Forge Power Project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Greenview No. 16</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200 MW / 2028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C91846C-9C99-46FF-8EEA-712FFE2BB254}"/>
              </a:ext>
            </a:extLst>
          </p:cNvPr>
          <p:cNvSpPr>
            <a:spLocks xmlns:a="http://schemas.openxmlformats.org/drawingml/2006/main" noGrp="1"/>
          </p:cNvSpPr>
          <p:nvPr/>
        </p:nvSpPr>
        <p:spPr>
          <a:xfrm xmlns:a="http://schemas.openxmlformats.org/drawingml/2006/main">
            <a:off x="609600" y="47815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C4E"/>
                </a:solidFill>
                <a:latin typeface="Helvetica Neue"/>
                <a:ea typeface="Helvetica Neue"/>
                <a:cs typeface="Helvetica Neue"/>
              </a:defRPr>
            </a:pPr>
            <a:r>
              <a:rPr sz="2175" b="1">
                <a:solidFill>
                  <a:srgbClr val="002C4E"/>
                </a:solidFill>
                <a:latin typeface="Helvetica Neue"/>
                <a:ea typeface="Helvetica Neue"/>
                <a:cs typeface="Helvetica Neue"/>
              </a:rPr>
              <a:t>AESO Phase 1: 1,200 MW allocated to executed load contracts.</a:t>
            </a:r>
          </a:p>
        </p:txBody>
      </p:sp>
      <p:sp>
        <p:nvSpPr>
          <p:cNvPr id="7" name="">
            <a:extLst xmlns:a="http://schemas.openxmlformats.org/drawingml/2006/main">
              <a:ext uri="{FF2B5EF4-FFF2-40B4-BE49-F238E27FC236}">
                <a16:creationId xmlns:a16="http://schemas.microsoft.com/office/drawing/2014/main" id="{15A9BCCE-931E-4EA4-BAD0-A82EFB50BB3A}"/>
              </a:ext>
            </a:extLst>
          </p:cNvPr>
          <p:cNvSpPr>
            <a:spLocks xmlns:a="http://schemas.openxmlformats.org/drawingml/2006/main" noGrp="1"/>
          </p:cNvSpPr>
          <p:nvPr/>
        </p:nvSpPr>
        <p:spPr>
          <a:xfrm xmlns:a="http://schemas.openxmlformats.org/drawingml/2006/main">
            <a:off x="60960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Infrastructure needs facility-level power-on milestones from AESO and local utilities.</a:t>
            </a:r>
          </a:p>
        </p:txBody>
      </p:sp>
    </p:spTree>
    <p:extLst>
      <p:ext uri="{BB962C8B-B14F-4D97-AF65-F5344CB8AC3E}">
        <p14:creationId xmlns:p14="http://schemas.microsoft.com/office/powerpoint/2010/main" val="14054693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2976D7-AF0B-41CF-A522-DF74E480720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Equipment availability can govern delivery dates</a:t>
            </a:r>
          </a:p>
        </p:txBody>
      </p:sp>
      <p:sp>
        <p:nvSpPr>
          <p:cNvPr id="2" name="">
            <a:extLst xmlns:a="http://schemas.openxmlformats.org/drawingml/2006/main">
              <a:ext uri="{FF2B5EF4-FFF2-40B4-BE49-F238E27FC236}">
                <a16:creationId xmlns:a16="http://schemas.microsoft.com/office/drawing/2014/main" id="{59284438-471E-4D2F-A33D-275CCC884628}"/>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Supplier lead-time benchmarks relevant to Alberta procurement planning.</a:t>
            </a:r>
          </a:p>
        </p:txBody>
      </p:sp>
      <p:sp>
        <p:nvSpPr>
          <p:cNvPr id="3" name="">
            <a:extLst xmlns:a="http://schemas.openxmlformats.org/drawingml/2006/main">
              <a:ext uri="{FF2B5EF4-FFF2-40B4-BE49-F238E27FC236}">
                <a16:creationId xmlns:a16="http://schemas.microsoft.com/office/drawing/2014/main" id="{06F60B8B-4ED8-4162-A304-5F680F37A4D7}"/>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SourceBlue, Q2 2026 US market ranges. Alberta delivery requires a product-specific supplier quotation.</a:t>
            </a:r>
          </a:p>
        </p:txBody>
      </p:sp>
      <p:sp>
        <p:nvSpPr>
          <p:cNvPr id="4" name="">
            <a:extLst xmlns:a="http://schemas.openxmlformats.org/drawingml/2006/main">
              <a:ext uri="{FF2B5EF4-FFF2-40B4-BE49-F238E27FC236}">
                <a16:creationId xmlns:a16="http://schemas.microsoft.com/office/drawing/2014/main" id="{F016F47B-1F2F-4A7C-B63C-A3723967514C}"/>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09600" y="2000250"/>
          <a:ext xmlns:a="http://schemas.openxmlformats.org/drawingml/2006/main" cx="10972800" cy="3905250"/>
        </p:xfrm>
        <a:graphic xmlns:a="http://schemas.openxmlformats.org/drawingml/2006/main">
          <a:graphicData uri="http://schemas.openxmlformats.org/drawingml/2006/table">
            <a:tbl>
              <a:tblPr/>
              <a:tblGrid>
                <a:gridCol w="3524250"/>
                <a:gridCol w="2381250"/>
                <a:gridCol w="5067300"/>
              </a:tblGrid>
              <a:tr h="433917">
                <a:tc>
                  <a:txBody>
                    <a:bodyPr/>
                    <a:lstStyle/>
                    <a:p>
                      <a:r>
                        <a:rPr sz="1575" b="1">
                          <a:solidFill>
                            <a:srgbClr val="FFFFFF"/>
                          </a:solidFill>
                          <a:latin typeface="Helvetica Neue"/>
                          <a:ea typeface="Helvetica Neue"/>
                          <a:cs typeface="Helvetica Neue"/>
                        </a:rPr>
                        <a:t>Equipment</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Published lead time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Delivery consideration</a:t>
                      </a:r>
                    </a:p>
                  </a:txBody>
                  <a:tcPr marL="91440" marR="91440" marT="45720" marB="45720">
                    <a:solidFill>
                      <a:srgbClr val="0077CD"/>
                    </a:solidFill>
                  </a:tcPr>
                </a:tc>
              </a:tr>
              <a:tr h="433917">
                <a:tc>
                  <a:txBody>
                    <a:bodyPr/>
                    <a:lstStyle/>
                    <a:p>
                      <a:r>
                        <a:rPr sz="1575" b="0">
                          <a:solidFill>
                            <a:srgbClr val="333333"/>
                          </a:solidFill>
                          <a:latin typeface="Helvetica Neue"/>
                          <a:ea typeface="Helvetica Neue"/>
                          <a:cs typeface="Helvetica Neue"/>
                        </a:rPr>
                        <a:t>Cooling towers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6–19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 configuration and installation window</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Air-cooled chillers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3–49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Duty, redundancy and manufacturer selection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Water-cooled chillers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12–60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Cooling-system design and commissioning</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 handling units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8–78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Custom specification and controls integration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Generators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28–66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Rating, approvals and site installation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Low-voltage switchgear</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26–58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Electrical design and approved submittals</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Medium-voltage switchgear</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28–48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Utility interface and technical specification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UPS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16–42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Power architecture and testing requirements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21237498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286ADA-BB40-46FE-B869-D78779EDEA4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Three decisions would turn the screen into a delivery response</a:t>
            </a:r>
          </a:p>
        </p:txBody>
      </p:sp>
      <p:sp>
        <p:nvSpPr>
          <p:cNvPr id="2" name="">
            <a:extLst xmlns:a="http://schemas.openxmlformats.org/drawingml/2006/main">
              <a:ext uri="{FF2B5EF4-FFF2-40B4-BE49-F238E27FC236}">
                <a16:creationId xmlns:a16="http://schemas.microsoft.com/office/drawing/2014/main" id="{55F44960-5303-459A-86BF-DA702590C00D}"/>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Proposed direction for the ADM, Infrastructure.</a:t>
            </a:r>
          </a:p>
        </p:txBody>
      </p:sp>
      <p:sp>
        <p:nvSpPr>
          <p:cNvPr id="3" name="">
            <a:extLst xmlns:a="http://schemas.openxmlformats.org/drawingml/2006/main">
              <a:ext uri="{FF2B5EF4-FFF2-40B4-BE49-F238E27FC236}">
                <a16:creationId xmlns:a16="http://schemas.microsoft.com/office/drawing/2014/main" id="{F5CF2A51-AACE-4F85-9BFB-F5916004475C}"/>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Proposed responsibilities and deadlines, subject to ADM direction</a:t>
            </a:r>
          </a:p>
        </p:txBody>
      </p:sp>
      <p:sp>
        <p:nvSpPr>
          <p:cNvPr id="4" name="">
            <a:extLst xmlns:a="http://schemas.openxmlformats.org/drawingml/2006/main">
              <a:ext uri="{FF2B5EF4-FFF2-40B4-BE49-F238E27FC236}">
                <a16:creationId xmlns:a16="http://schemas.microsoft.com/office/drawing/2014/main" id="{5B95DE16-0C93-4515-8D3C-50613786230B}"/>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2143125"/>
          <a:ext xmlns:a="http://schemas.openxmlformats.org/drawingml/2006/main" cx="10972800" cy="3333750"/>
        </p:xfrm>
        <a:graphic xmlns:a="http://schemas.openxmlformats.org/drawingml/2006/main">
          <a:graphicData uri="http://schemas.openxmlformats.org/drawingml/2006/table">
            <a:tbl>
              <a:tblPr/>
              <a:tblGrid>
                <a:gridCol w="5143500"/>
                <a:gridCol w="2714625"/>
                <a:gridCol w="3114675"/>
              </a:tblGrid>
              <a:tr h="833438">
                <a:tc>
                  <a:txBody>
                    <a:bodyPr/>
                    <a:lstStyle/>
                    <a:p>
                      <a:r>
                        <a:rPr sz="1725" b="1">
                          <a:solidFill>
                            <a:srgbClr val="FFFFFF"/>
                          </a:solidFill>
                          <a:latin typeface="Helvetica Neue"/>
                          <a:ea typeface="Helvetica Neue"/>
                          <a:cs typeface="Helvetica Neue"/>
                        </a:rPr>
                        <a:t>Decision requested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Accountable lead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Return to the ADM</a:t>
                      </a:r>
                    </a:p>
                  </a:txBody>
                  <a:tcPr marL="91440" marR="91440" marT="45720" marB="45720">
                    <a:solidFill>
                      <a:srgbClr val="0077CD"/>
                    </a:solidFill>
                  </a:tcPr>
                </a:tc>
              </a:tr>
              <a:tr h="833438">
                <a:tc>
                  <a:txBody>
                    <a:bodyPr/>
                    <a:lstStyle/>
                    <a:p>
                      <a:r>
                        <a:rPr sz="1725" b="0">
                          <a:solidFill>
                            <a:srgbClr val="333333"/>
                          </a:solidFill>
                          <a:latin typeface="Helvetica Neue"/>
                          <a:ea typeface="Helvetica Neue"/>
                          <a:cs typeface="Helvetica Neue"/>
                        </a:rPr>
                        <a:t>Authorize a 30-day review of uncommitted capital packages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capital planning</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Cost-weighted exposure and contingency recommendation</a:t>
                      </a:r>
                    </a:p>
                  </a:txBody>
                  <a:tcPr marL="91440" marR="91440" marT="45720" marB="45720">
                    <a:solidFill>
                      <a:srgbClr val="FFFFFF"/>
                    </a:solidFill>
                  </a:tcPr>
                </a:tc>
              </a:tr>
              <a:tr h="833438">
                <a:tc>
                  <a:txBody>
                    <a:bodyPr/>
                    <a:lstStyle/>
                    <a:p>
                      <a:r>
                        <a:rPr sz="1725" b="0">
                          <a:solidFill>
                            <a:srgbClr val="333333"/>
                          </a:solidFill>
                          <a:latin typeface="Helvetica Neue"/>
                          <a:ea typeface="Helvetica Neue"/>
                          <a:cs typeface="Helvetica Neue"/>
                        </a:rPr>
                        <a:t>Direct a 60-day switchgear and chiller procurement review</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Infrastructure project delivery / procurement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Release dates, alternatives and early-order business cases</a:t>
                      </a:r>
                    </a:p>
                  </a:txBody>
                  <a:tcPr marL="91440" marR="91440" marT="45720" marB="45720">
                    <a:solidFill>
                      <a:srgbClr val="F2F2F2"/>
                    </a:solidFill>
                  </a:tcPr>
                </a:tc>
              </a:tr>
              <a:tr h="833438">
                <a:tc>
                  <a:txBody>
                    <a:bodyPr/>
                    <a:lstStyle/>
                    <a:p>
                      <a:r>
                        <a:rPr sz="1725" b="0">
                          <a:solidFill>
                            <a:srgbClr val="333333"/>
                          </a:solidFill>
                          <a:latin typeface="Helvetica Neue"/>
                          <a:ea typeface="Helvetica Neue"/>
                          <a:cs typeface="Helvetica Neue"/>
                        </a:rPr>
                        <a:t>Establish a power and workforce coordination table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with T&amp;I, utilities and AESO</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Power-on dates and a regional workforce plan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565B5F8-FCC8-4A93-89DC-FC86C3124CCE}"/>
              </a:ext>
            </a:extLst>
          </p:cNvPr>
          <p:cNvSpPr>
            <a:spLocks xmlns:a="http://schemas.openxmlformats.org/drawingml/2006/main" noGrp="1"/>
          </p:cNvSpPr>
          <p:nvPr/>
        </p:nvSpPr>
        <p:spPr>
          <a:xfrm xmlns:a="http://schemas.openxmlformats.org/drawingml/2006/main">
            <a:off x="609600" y="56959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No blanket contingency uplift today. Bring back a scoped funding decision after the exposure review.</a:t>
            </a:r>
          </a:p>
        </p:txBody>
      </p:sp>
    </p:spTree>
    <p:extLst>
      <p:ext uri="{BB962C8B-B14F-4D97-AF65-F5344CB8AC3E}">
        <p14:creationId xmlns:p14="http://schemas.microsoft.com/office/powerpoint/2010/main" val="19130968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096045-228A-4447-80B1-084D29548FD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Method and interpretation</a:t>
            </a:r>
          </a:p>
        </p:txBody>
      </p:sp>
      <p:sp>
        <p:nvSpPr>
          <p:cNvPr id="2" name="">
            <a:extLst xmlns:a="http://schemas.openxmlformats.org/drawingml/2006/main">
              <a:ext uri="{FF2B5EF4-FFF2-40B4-BE49-F238E27FC236}">
                <a16:creationId xmlns:a16="http://schemas.microsoft.com/office/drawing/2014/main" id="{8DB67466-38B6-43A9-A526-C4F186165E2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One evidence base, with three distinct uses.</a:t>
            </a:r>
          </a:p>
        </p:txBody>
      </p:sp>
      <p:sp>
        <p:nvSpPr>
          <p:cNvPr id="3" name="">
            <a:extLst xmlns:a="http://schemas.openxmlformats.org/drawingml/2006/main">
              <a:ext uri="{FF2B5EF4-FFF2-40B4-BE49-F238E27FC236}">
                <a16:creationId xmlns:a16="http://schemas.microsoft.com/office/drawing/2014/main" id="{ACD28A52-9554-418F-B7B9-5ABC587DCE6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Detailed calculations and source references appear in the relevant slide notes.</a:t>
            </a:r>
          </a:p>
        </p:txBody>
      </p:sp>
      <p:sp>
        <p:nvSpPr>
          <p:cNvPr id="4" name="">
            <a:extLst xmlns:a="http://schemas.openxmlformats.org/drawingml/2006/main">
              <a:ext uri="{FF2B5EF4-FFF2-40B4-BE49-F238E27FC236}">
                <a16:creationId xmlns:a16="http://schemas.microsoft.com/office/drawing/2014/main" id="{6F4E5789-B54F-4327-8F78-BC7BC14F7F4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09600" y="2095500"/>
          <a:ext xmlns:a="http://schemas.openxmlformats.org/drawingml/2006/main" cx="10972800" cy="3333750"/>
        </p:xfrm>
        <a:graphic xmlns:a="http://schemas.openxmlformats.org/drawingml/2006/main">
          <a:graphicData uri="http://schemas.openxmlformats.org/drawingml/2006/table">
            <a:tbl>
              <a:tblPr/>
              <a:tblGrid>
                <a:gridCol w="2571750"/>
                <a:gridCol w="4667250"/>
                <a:gridCol w="3733800"/>
              </a:tblGrid>
              <a:tr h="666750">
                <a:tc>
                  <a:txBody>
                    <a:bodyPr/>
                    <a:lstStyle/>
                    <a:p>
                      <a:r>
                        <a:rPr sz="1725" b="1">
                          <a:solidFill>
                            <a:srgbClr val="FFFFFF"/>
                          </a:solidFill>
                          <a:latin typeface="Helvetica Neue"/>
                          <a:ea typeface="Helvetica Neue"/>
                          <a:cs typeface="Helvetica Neue"/>
                        </a:rPr>
                        <a:t>Use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Calculation / evidence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Interpretation</a:t>
                      </a:r>
                    </a:p>
                  </a:txBody>
                  <a:tcPr marL="91440" marR="91440" marT="45720" marB="45720">
                    <a:solidFill>
                      <a:srgbClr val="0077CD"/>
                    </a:solidFill>
                  </a:tcPr>
                </a:tc>
              </a:tr>
              <a:tr h="666750">
                <a:tc>
                  <a:txBody>
                    <a:bodyPr/>
                    <a:lstStyle/>
                    <a:p>
                      <a:r>
                        <a:rPr sz="1725" b="0">
                          <a:solidFill>
                            <a:srgbClr val="333333"/>
                          </a:solidFill>
                          <a:latin typeface="Helvetica Neue"/>
                          <a:ea typeface="Helvetica Neue"/>
                          <a:cs typeface="Helvetica Neue"/>
                        </a:rPr>
                        <a:t>Observed landscape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Dated project inventory, workforce stocks, price indexes, published lead times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Records and source periods remain visible</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Labour sizing</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Capex × realization × construction × labour ÷ paid rate × trade share ÷ hours ÷ years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Low/high analyst cases; gross average workload</a:t>
                      </a:r>
                    </a:p>
                  </a:txBody>
                  <a:tcPr marL="91440" marR="91440" marT="45720" marB="45720">
                    <a:solidFill>
                      <a:srgbClr val="F2F2F2"/>
                    </a:solidFill>
                  </a:tcPr>
                </a:tc>
              </a:tr>
              <a:tr h="666750">
                <a:tc>
                  <a:txBody>
                    <a:bodyPr/>
                    <a:lstStyle/>
                    <a:p>
                      <a:r>
                        <a:rPr sz="1725" b="0">
                          <a:solidFill>
                            <a:srgbClr val="333333"/>
                          </a:solidFill>
                          <a:latin typeface="Helvetica Neue"/>
                          <a:ea typeface="Helvetica Neue"/>
                          <a:cs typeface="Helvetica Neue"/>
                        </a:rPr>
                        <a:t>Budget sensitivity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Capital plan × exposed share × price movement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Budget stress; no causal AI premium</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Project and power exposure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Named Infrastructure developer, reported schedules, AESO process evidence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Screen for confirmation; no inferred critical-path delay</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8129437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AF8667-05A6-4B7F-B513-B5DC900C631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1</a:t>
            </a:r>
          </a:p>
        </p:txBody>
      </p:sp>
      <p:sp>
        <p:nvSpPr>
          <p:cNvPr id="2" name="">
            <a:extLst xmlns:a="http://schemas.openxmlformats.org/drawingml/2006/main">
              <a:ext uri="{FF2B5EF4-FFF2-40B4-BE49-F238E27FC236}">
                <a16:creationId xmlns:a16="http://schemas.microsoft.com/office/drawing/2014/main" id="{57297A55-D994-4B76-937C-F4800CA7AC4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3F218C09-A110-4411-A911-1477F742A819}"/>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2F60B609-7DF1-48A9-90C3-2203292C3EA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14</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Alberta Surgical Initiative (02 - 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(06 - Royal Alexandra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Alberta Surgical Initiative (07 - Sturgeon Community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St. Albert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(13 - Ponoka Hospital and Care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Ponoka</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Alberta Surgical Initiative (14 - Fort Saskatchewan)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Fort Saskatchewan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(15 - Alberta Children's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9771526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2BC3DC-6E8F-424F-AD6B-FFCB17E7610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2</a:t>
            </a:r>
          </a:p>
        </p:txBody>
      </p:sp>
      <p:sp>
        <p:nvSpPr>
          <p:cNvPr id="2" name="">
            <a:extLst xmlns:a="http://schemas.openxmlformats.org/drawingml/2006/main">
              <a:ext uri="{FF2B5EF4-FFF2-40B4-BE49-F238E27FC236}">
                <a16:creationId xmlns:a16="http://schemas.microsoft.com/office/drawing/2014/main" id="{024ADEF3-0521-444C-833D-F4C80A23520B}"/>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0D1436DE-0CFE-4DE1-93F7-58D94701FD4D}"/>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4C1A03EA-51C9-4223-9BA1-10BB255FDB08}"/>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15</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Alberta Surgical Initiative (16 - Grey Nuns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Calgary Complex Needs Residential Facility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Calgary Radiopharmaceutical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Foothills Medical Centre Power Plant Upgrade Cogeneration Initiative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2021–2027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La Crete Maternity and Community Health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Mackenzie County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1 (4 - Northern Lights)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Wood Buffalo</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6949265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F4BCE3-0212-4030-B5F4-84CD293AA25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3</a:t>
            </a:r>
          </a:p>
        </p:txBody>
      </p:sp>
      <p:sp>
        <p:nvSpPr>
          <p:cNvPr id="2" name="">
            <a:extLst xmlns:a="http://schemas.openxmlformats.org/drawingml/2006/main">
              <a:ext uri="{FF2B5EF4-FFF2-40B4-BE49-F238E27FC236}">
                <a16:creationId xmlns:a16="http://schemas.microsoft.com/office/drawing/2014/main" id="{9E37BEB9-E0B6-4470-9E4C-5F31D6E96E5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6D1A52C-B8DE-4012-9283-639C805CF596}"/>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4CBC8715-F9AD-408D-A9D7-5DB597C8A48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16</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Medical Device Reprocessing (MDR) Upgrades Program - Phase 1 (5 - Westlock)</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Westlock</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1 (6 - Sturgeon)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St. Albert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2027–2030</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Medical Device Reprocessing (MDR) Upgrades Program - Phase 2 (1 - Misericordia Community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2 (2 - Grey Nuns Community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National Association of Pharmacy Regulatory Authorities Capital Program (Medicine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Northern Alberta Youth Recovery Centre (NAYRC) - Edmonton EYOC</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5031108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82F349-61C0-48DD-A25A-25F02164922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4</a:t>
            </a:r>
          </a:p>
        </p:txBody>
      </p:sp>
      <p:sp>
        <p:nvSpPr>
          <p:cNvPr id="2" name="">
            <a:extLst xmlns:a="http://schemas.openxmlformats.org/drawingml/2006/main">
              <a:ext uri="{FF2B5EF4-FFF2-40B4-BE49-F238E27FC236}">
                <a16:creationId xmlns:a16="http://schemas.microsoft.com/office/drawing/2014/main" id="{EF715E28-8647-4C02-96E9-A56214A44EF3}"/>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4053D596-D8F8-4492-80DF-3F2AB848054F}"/>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6EB12D1F-37F1-42ED-A5D2-5C362211DEF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17</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Recovery Communities (10 - Grande Prairie)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Grande Prairie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Recovery Communities (12 - Edmonton Young Offender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Red Deer Regional Hospital - Ambulatory Building</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Red Deer</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Red Deer Regional Hospital Centre Redevelopment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Red Deer</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2024–2031</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University of Alberta Hospital Brain Centre - Neurosciences Intensive Care Unit (NSICU)</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Barrhead Composite High School Modernization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Barrhead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2868549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1DF3AB-7C51-458A-938A-D1B0B429C4C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5</a:t>
            </a:r>
          </a:p>
        </p:txBody>
      </p:sp>
      <p:sp>
        <p:nvSpPr>
          <p:cNvPr id="2" name="">
            <a:extLst xmlns:a="http://schemas.openxmlformats.org/drawingml/2006/main">
              <a:ext uri="{FF2B5EF4-FFF2-40B4-BE49-F238E27FC236}">
                <a16:creationId xmlns:a16="http://schemas.microsoft.com/office/drawing/2014/main" id="{5E277FE5-6D56-4F58-87D5-1A0EC823FB92}"/>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912FA53B-1291-4D2E-9FA3-9B10117AD94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2CB028C2-97AC-49E7-8A92-62A5A03523F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18</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Breton School K-12 Modernization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Breton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Delton K-6 Replacement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Ecole Heritage K-12 Modernization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Falher</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Holy Family K-12 Replacement School (Waskatenau)</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Waskatenau</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Holy Trinity Academy (formerly St. Francis Xavier K-9 Replacement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7-12 Catholic and Public High School in West 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20966252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812330-F58A-42BD-B48B-DA2C4F9A678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6</a:t>
            </a:r>
          </a:p>
        </p:txBody>
      </p:sp>
      <p:sp>
        <p:nvSpPr>
          <p:cNvPr id="2" name="">
            <a:extLst xmlns:a="http://schemas.openxmlformats.org/drawingml/2006/main">
              <a:ext uri="{FF2B5EF4-FFF2-40B4-BE49-F238E27FC236}">
                <a16:creationId xmlns:a16="http://schemas.microsoft.com/office/drawing/2014/main" id="{07DA9486-DEE3-49FB-B923-0A5CD584EE1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6B876C0C-08BA-4C5D-BFCE-EDE026F35C4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9D12E6F9-E98E-42CF-B1A4-D52521CA82B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19</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New 7-12 School in Glenridding Heights (Edmonton)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High School in West 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K-5 School in Blackfalds</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Blackfalds</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K-8 School in Bayview (SW Airdrie)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K-8 School in Windsong (SW 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K-9 Catholic School in Chestermere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Chestermere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7560492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B377DD-314D-47A3-A264-D5338453325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7</a:t>
            </a:r>
          </a:p>
        </p:txBody>
      </p:sp>
      <p:sp>
        <p:nvSpPr>
          <p:cNvPr id="2" name="">
            <a:extLst xmlns:a="http://schemas.openxmlformats.org/drawingml/2006/main">
              <a:ext uri="{FF2B5EF4-FFF2-40B4-BE49-F238E27FC236}">
                <a16:creationId xmlns:a16="http://schemas.microsoft.com/office/drawing/2014/main" id="{42F466A1-F27B-44AB-ABDF-36B367DC3E76}"/>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EE4BC20-FE3F-4F8B-8823-86EEAC50CC59}"/>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1FFA8611-8E66-4954-AF9C-C23F33B46D4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20</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New K-9 Nolan Hill (Calgary)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Rangeview High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Secondary (7-12) School in 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Solution for Nanton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Nanton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Solution for Rundle Heights K-9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Solution for École Michaelle Jean &amp; Gabrielle Roy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9355136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E14E1-1714-469F-BB7B-8662307F8AB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8</a:t>
            </a:r>
          </a:p>
        </p:txBody>
      </p:sp>
      <p:sp>
        <p:nvSpPr>
          <p:cNvPr id="2" name="">
            <a:extLst xmlns:a="http://schemas.openxmlformats.org/drawingml/2006/main">
              <a:ext uri="{FF2B5EF4-FFF2-40B4-BE49-F238E27FC236}">
                <a16:creationId xmlns:a16="http://schemas.microsoft.com/office/drawing/2014/main" id="{8CAE1091-DBB9-44A9-B630-06D2F830FF3D}"/>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DCDEF716-0A6B-405C-9B50-AB87219F1611}"/>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E3B934DD-BEA8-43CA-B4EC-8CE5CC4026F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21</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Spruce Grove Composite High School Replacement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Spruce Grove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St. Kateri Elementary School (West Lethbridge)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Lethbridge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St. Martin de Porres High School Addition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Vera M. Welsh School Replacement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Lac la Biche County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Wainwright K-6 Elementary Replacement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Wainwright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École Good Shepherd K-9 Replacement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Okotoks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3831074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5C8058-3C2E-42CD-B85B-FE0D7A93CD4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9</a:t>
            </a:r>
          </a:p>
        </p:txBody>
      </p:sp>
      <p:sp>
        <p:nvSpPr>
          <p:cNvPr id="2" name="">
            <a:extLst xmlns:a="http://schemas.openxmlformats.org/drawingml/2006/main">
              <a:ext uri="{FF2B5EF4-FFF2-40B4-BE49-F238E27FC236}">
                <a16:creationId xmlns:a16="http://schemas.microsoft.com/office/drawing/2014/main" id="{CEEE2040-821A-472F-9A18-E22967B6B41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FD809D2-7E99-4F2C-9AF8-AC4F84AA92B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05C59220-B722-4A24-8E3C-22F2E8D175DE}"/>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22</a:t>
            </a:r>
          </a:p>
        </p:txBody>
      </p:sp>
      <p:graphicFrame>
        <p:nvGraphicFramePr>
          <p:cNvPr id="10" name=""/>
          <p:cNvGraphicFramePr/>
          <p:nvPr/>
        </p:nvGraphicFramePr>
        <p:xfrm>
          <a:off xmlns:a="http://schemas.openxmlformats.org/drawingml/2006/main" x="609600" y="2000250"/>
          <a:ext xmlns:a="http://schemas.openxmlformats.org/drawingml/2006/main" cx="10972800" cy="110490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École Mallaig K-12 Replacement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St. Paul County No. 19</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515671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B791CE-80B7-446F-9FFC-1923CE5CA14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1 of 3</a:t>
            </a:r>
          </a:p>
        </p:txBody>
      </p:sp>
      <p:sp>
        <p:nvSpPr>
          <p:cNvPr id="2" name="">
            <a:extLst xmlns:a="http://schemas.openxmlformats.org/drawingml/2006/main">
              <a:ext uri="{FF2B5EF4-FFF2-40B4-BE49-F238E27FC236}">
                <a16:creationId xmlns:a16="http://schemas.microsoft.com/office/drawing/2014/main" id="{A780B7A3-FE35-4567-B844-744A957257EC}"/>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D1AAB10F-D472-44B5-8DE4-797D0739EF0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1768DC02-3BAC-4856-A0F1-A51E9F337A1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23</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eStruxture CAL-3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2024–2026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0.75</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Wonder Valley AI Data Centre Park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12.00</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Foothills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4.00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Harry Smith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Indus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Heartland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Saunders Lake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775993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E85CF5-32CC-44B6-AEC1-E4CC89BD51A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2 of 3</a:t>
            </a:r>
          </a:p>
        </p:txBody>
      </p:sp>
      <p:sp>
        <p:nvSpPr>
          <p:cNvPr id="2" name="">
            <a:extLst xmlns:a="http://schemas.openxmlformats.org/drawingml/2006/main">
              <a:ext uri="{FF2B5EF4-FFF2-40B4-BE49-F238E27FC236}">
                <a16:creationId xmlns:a16="http://schemas.microsoft.com/office/drawing/2014/main" id="{E78F5A9B-DC12-46EA-B5B7-0404B86C34C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4A54D207-A5CD-46E3-A82C-24EBB6CFE00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012F0533-EC0D-4F15-8BDC-46D8DC8E106C}"/>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24</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Crusoe AI Data Centres Alberta</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3.00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HubOne AI &amp; BTC High Density Compute Park</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Prairie Sky Data Solutions Strathmore Data Center (Phase 1)</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eStruxture CAL-1 Data Centre - Phase 4 Alterations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2025–?</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Blindman Industrial Park AI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Technologies New Energy &amp; Data District Data Centres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1.26</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Data Centre (Clive)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689528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512DD9-9F3B-4997-8821-01C08CA25FB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3 of 3</a:t>
            </a:r>
          </a:p>
        </p:txBody>
      </p:sp>
      <p:sp>
        <p:nvSpPr>
          <p:cNvPr id="2" name="">
            <a:extLst xmlns:a="http://schemas.openxmlformats.org/drawingml/2006/main">
              <a:ext uri="{FF2B5EF4-FFF2-40B4-BE49-F238E27FC236}">
                <a16:creationId xmlns:a16="http://schemas.microsoft.com/office/drawing/2014/main" id="{2E3BC159-0871-4E3B-8A85-CCBD3D93F5DD}"/>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3B7813B1-539A-468C-8731-F2C365301773}"/>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EBF1C361-6A6F-467B-BAEA-C1DE826DEFF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25</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603250">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603250">
                <a:tc>
                  <a:txBody>
                    <a:bodyPr/>
                    <a:lstStyle/>
                    <a:p>
                      <a:r>
                        <a:rPr sz="1500" b="0">
                          <a:solidFill>
                            <a:srgbClr val="333333"/>
                          </a:solidFill>
                          <a:latin typeface="Helvetica Neue"/>
                          <a:ea typeface="Helvetica Neue"/>
                          <a:cs typeface="Helvetica Neue"/>
                        </a:rPr>
                        <a:t>Mihta Askiy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Beacon Chestermere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K-Tech and Aurora AZ Energy Compute Facility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Meta Data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13.00</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Malachite One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2027–2030</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15.00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63621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2026-09-06T20:58:55.1840000Z</dcterms:created>
  <dcterms:modified xsi:type="dcterms:W3CDTF">2026-09-06T20:58:55.1840000Z</dcterms:modified>
</coreProperties>
</file>