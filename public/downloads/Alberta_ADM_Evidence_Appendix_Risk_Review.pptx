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15262a582f41b1" /><Relationship Type="http://schemas.openxmlformats.org/officeDocument/2006/relationships/extended-properties" Target="/docProps/app.xml" Id="R9ec0b9800cae41e4" /><Relationship Type="http://schemas.openxmlformats.org/officeDocument/2006/relationships/officeDocument" Target="/ppt/presentation.xml" Id="Rfc88bbf7529d4c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896ff4687e4954"/>
  </p:sldMasterIdLst>
  <p:notesMasterIdLst>
    <p:notesMasterId xmlns:r="http://schemas.openxmlformats.org/officeDocument/2006/relationships" r:id="R395699a6af1a4b56"/>
  </p:notesMasterIdLst>
  <p:sldIdLst>
    <p:sldId xmlns:r="http://schemas.openxmlformats.org/officeDocument/2006/relationships" id="256" r:id="Rb6c463dd1dc84c43"/>
    <p:sldId xmlns:r="http://schemas.openxmlformats.org/officeDocument/2006/relationships" id="257" r:id="R83f371c612c84d6c"/>
    <p:sldId xmlns:r="http://schemas.openxmlformats.org/officeDocument/2006/relationships" id="258" r:id="Red232cb23c584e86"/>
    <p:sldId xmlns:r="http://schemas.openxmlformats.org/officeDocument/2006/relationships" id="259" r:id="R269fd7e9d8df4de9"/>
    <p:sldId xmlns:r="http://schemas.openxmlformats.org/officeDocument/2006/relationships" id="260" r:id="R93b1df773ac74c96"/>
    <p:sldId xmlns:r="http://schemas.openxmlformats.org/officeDocument/2006/relationships" id="261" r:id="Rd57f41968eba4955"/>
    <p:sldId xmlns:r="http://schemas.openxmlformats.org/officeDocument/2006/relationships" id="262" r:id="R566434395b104709"/>
    <p:sldId xmlns:r="http://schemas.openxmlformats.org/officeDocument/2006/relationships" id="263" r:id="R5fa5c831ef9e4ce2"/>
    <p:sldId xmlns:r="http://schemas.openxmlformats.org/officeDocument/2006/relationships" id="264" r:id="R309db031cd334ac9"/>
    <p:sldId xmlns:r="http://schemas.openxmlformats.org/officeDocument/2006/relationships" id="265" r:id="R2fa05a26c3e84675"/>
    <p:sldId xmlns:r="http://schemas.openxmlformats.org/officeDocument/2006/relationships" id="266" r:id="Racf88c039cfc4cd0"/>
    <p:sldId xmlns:r="http://schemas.openxmlformats.org/officeDocument/2006/relationships" id="267" r:id="Rae84a214c2da4560"/>
    <p:sldId xmlns:r="http://schemas.openxmlformats.org/officeDocument/2006/relationships" id="268" r:id="Rd8802abc0a9d44f2"/>
    <p:sldId xmlns:r="http://schemas.openxmlformats.org/officeDocument/2006/relationships" id="269" r:id="R25f3579f256442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4256d78df74787" /><Relationship Type="http://schemas.openxmlformats.org/officeDocument/2006/relationships/slideMaster" Target="/ppt/slideMasters/slideMaster1.xml" Id="Rbc896ff4687e4954" /><Relationship Type="http://schemas.openxmlformats.org/officeDocument/2006/relationships/notesMaster" Target="/ppt/notesMasters/notesMaster1.xml" Id="R395699a6af1a4b56" /><Relationship Type="http://schemas.openxmlformats.org/officeDocument/2006/relationships/presProps" Target="/ppt/presProps.xml" Id="R9d8abd7fe1534560" /><Relationship Type="http://schemas.openxmlformats.org/officeDocument/2006/relationships/tableStyles" Target="/ppt/tableStyles.xml" Id="R042b8fc91d8048bb" /><Relationship Type="http://schemas.openxmlformats.org/officeDocument/2006/relationships/slide" Target="/ppt/slides/slide1.xml" Id="Rb6c463dd1dc84c43" /><Relationship Type="http://schemas.openxmlformats.org/officeDocument/2006/relationships/slide" Target="/ppt/slides/slide2.xml" Id="R83f371c612c84d6c" /><Relationship Type="http://schemas.openxmlformats.org/officeDocument/2006/relationships/slide" Target="/ppt/slides/slide3.xml" Id="Red232cb23c584e86" /><Relationship Type="http://schemas.openxmlformats.org/officeDocument/2006/relationships/slide" Target="/ppt/slides/slide4.xml" Id="R269fd7e9d8df4de9" /><Relationship Type="http://schemas.openxmlformats.org/officeDocument/2006/relationships/slide" Target="/ppt/slides/slide5.xml" Id="R93b1df773ac74c96" /><Relationship Type="http://schemas.openxmlformats.org/officeDocument/2006/relationships/slide" Target="/ppt/slides/slide6.xml" Id="Rd57f41968eba4955" /><Relationship Type="http://schemas.openxmlformats.org/officeDocument/2006/relationships/slide" Target="/ppt/slides/slide7.xml" Id="R566434395b104709" /><Relationship Type="http://schemas.openxmlformats.org/officeDocument/2006/relationships/slide" Target="/ppt/slides/slide8.xml" Id="R5fa5c831ef9e4ce2" /><Relationship Type="http://schemas.openxmlformats.org/officeDocument/2006/relationships/slide" Target="/ppt/slides/slide9.xml" Id="R309db031cd334ac9" /><Relationship Type="http://schemas.openxmlformats.org/officeDocument/2006/relationships/slide" Target="/ppt/slides/slide10.xml" Id="R2fa05a26c3e84675" /><Relationship Type="http://schemas.openxmlformats.org/officeDocument/2006/relationships/slide" Target="/ppt/slides/slide11.xml" Id="Racf88c039cfc4cd0" /><Relationship Type="http://schemas.openxmlformats.org/officeDocument/2006/relationships/slide" Target="/ppt/slides/slide12.xml" Id="Rae84a214c2da4560" /><Relationship Type="http://schemas.openxmlformats.org/officeDocument/2006/relationships/slide" Target="/ppt/slides/slide13.xml" Id="Rd8802abc0a9d44f2" /><Relationship Type="http://schemas.openxmlformats.org/officeDocument/2006/relationships/slide" Target="/ppt/slides/slide14.xml" Id="R25f3579f256442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3532e164d844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85c74a17a342a8" /><Relationship Type="http://schemas.openxmlformats.org/officeDocument/2006/relationships/notesMaster" Target="/ppt/notesMasters/notesMaster1.xml" Id="R6e63a554b48b44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9749d60772450f" /><Relationship Type="http://schemas.openxmlformats.org/officeDocument/2006/relationships/notesMaster" Target="/ppt/notesMasters/notesMaster1.xml" Id="Rdedbb182146740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41d529da5e43c6" /><Relationship Type="http://schemas.openxmlformats.org/officeDocument/2006/relationships/notesMaster" Target="/ppt/notesMasters/notesMaster1.xml" Id="R1e48f8322df74b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d86c4ed3674243" /><Relationship Type="http://schemas.openxmlformats.org/officeDocument/2006/relationships/notesMaster" Target="/ppt/notesMasters/notesMaster1.xml" Id="R861fc7c5fab14d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6055fcc2414c7b" /><Relationship Type="http://schemas.openxmlformats.org/officeDocument/2006/relationships/notesMaster" Target="/ppt/notesMasters/notesMaster1.xml" Id="Rfdb6dc4846fe40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aa90e7d2824004" /><Relationship Type="http://schemas.openxmlformats.org/officeDocument/2006/relationships/notesMaster" Target="/ppt/notesMasters/notesMaster1.xml" Id="R7d4a99b88fa64a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a9b501c7174a47" /><Relationship Type="http://schemas.openxmlformats.org/officeDocument/2006/relationships/notesMaster" Target="/ppt/notesMasters/notesMaster1.xml" Id="Rd3d564da5aef4a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a5aa9c705744bb" /><Relationship Type="http://schemas.openxmlformats.org/officeDocument/2006/relationships/notesMaster" Target="/ppt/notesMasters/notesMaster1.xml" Id="R757b1bc35cf041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0a969ecd074aac" /><Relationship Type="http://schemas.openxmlformats.org/officeDocument/2006/relationships/notesMaster" Target="/ppt/notesMasters/notesMaster1.xml" Id="Rb92e52b103a841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d4b8e51f234967" /><Relationship Type="http://schemas.openxmlformats.org/officeDocument/2006/relationships/notesMaster" Target="/ppt/notesMasters/notesMaster1.xml" Id="Rd1813395d0784f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cf0baa3fb24640" /><Relationship Type="http://schemas.openxmlformats.org/officeDocument/2006/relationships/notesMaster" Target="/ppt/notesMasters/notesMaster1.xml" Id="R6b218711c2f142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9d2fdd873b4a7e" /><Relationship Type="http://schemas.openxmlformats.org/officeDocument/2006/relationships/notesMaster" Target="/ppt/notesMasters/notesMaster1.xml" Id="Rd6b9c0f4e6e249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a1b3e3d1ee4abb" /><Relationship Type="http://schemas.openxmlformats.org/officeDocument/2006/relationships/notesMaster" Target="/ppt/notesMasters/notesMaster1.xml" Id="R0c143c3e190946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88b99269f943d3" /><Relationship Type="http://schemas.openxmlformats.org/officeDocument/2006/relationships/notesMaster" Target="/ppt/notesMasters/notesMaster1.xml" Id="R64b774266b764b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Government of Alberta, Alberta Major Projects inventory, snapshot 31 August 2026. https://www.majorprojects.alberta.ca/</a:t>
            </a:r>
          </a:p>
          <a:p xmlns:a="http://schemas.openxmlformats.org/drawingml/2006/main">
            <a:r>
              <a:t>Methodology: https://majorprojects.alberta.ca/methodology</a:t>
            </a:r>
          </a:p>
          <a:p xmlns:a="http://schemas.openxmlformats.org/drawingml/2006/main">
            <a:r>
              <a:t>eStruxture CAL-3 Data Centre: reported start 2024, reported end 2026, model start 2024-01, model finish 2026-12; Reported start/end years; January/December conventions</a:t>
            </a:r>
          </a:p>
          <a:p xmlns:a="http://schemas.openxmlformats.org/drawingml/2006/main">
            <a:r>
              <a:t>Wonder Valley AI Data Centre Park (Phase 1): reported start missing, reported end missing, model start 2028-03, model finish 2031-02; Model-assigned start: as-of + 18 months; 36-month duration</a:t>
            </a:r>
          </a:p>
          <a:p xmlns:a="http://schemas.openxmlformats.org/drawingml/2006/main">
            <a:r>
              <a:t>Beacon Foothills AI Data Centre Hub: reported start missing, reported end missing, model start 2028-03, model finish 2031-02; Model-assigned start: as-of + 18 months; 36-month duration</a:t>
            </a:r>
          </a:p>
          <a:p xmlns:a="http://schemas.openxmlformats.org/drawingml/2006/main">
            <a:r>
              <a:t>Crusoe AI Data Centres Alberta: reported start missing, reported end missing, model start 2028-03, model finish 2031-02; Model-assigned start: as-of + 18 months; 36-month duration</a:t>
            </a:r>
          </a:p>
          <a:p xmlns:a="http://schemas.openxmlformats.org/drawingml/2006/main">
            <a:r>
              <a:t>Technologies New Energy &amp; Data District Data Centres (Phase 1): reported start 2026, reported end missing, model start 2026-09, model finish 2029-08; Reported start year; model-inferred end from 36-month duration; past proposed start shifted to as-of month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Government of Alberta, Alberta Major Projects inventory, snapshot 31 August 2026. https://www.majorprojects.alberta.ca/</a:t>
            </a:r>
          </a:p>
          <a:p xmlns:a="http://schemas.openxmlformats.org/drawingml/2006/main">
            <a:r>
              <a:t>Methodology: https://majorprojects.alberta.ca/methodology</a:t>
            </a:r>
          </a:p>
          <a:p xmlns:a="http://schemas.openxmlformats.org/drawingml/2006/main">
            <a:r>
              <a:t>Meta Data Centre: reported start missing, reported end missing, model start 2028-03, model finish 2031-02; Model-assigned start: as-of + 18 months; 36-month duration</a:t>
            </a:r>
          </a:p>
          <a:p xmlns:a="http://schemas.openxmlformats.org/drawingml/2006/main">
            <a:r>
              <a:t>Malachite One Data Centre: reported start 2027, reported end 2030, model start 2027-01, model finish 2030-12; Reported start/end years; January/December conventions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Alberta Major Projects inventory, snapshot 31 August 2026. https://www.majorprojects.alberta.ca/</a:t>
            </a:r>
          </a:p>
          <a:p xmlns:a="http://schemas.openxmlformats.org/drawingml/2006/main">
            <a:r>
              <a:t>Analytical screen: school/postsecondary, roads/transit/airports, health, power, water/resilience and government/civic categories. Records can include private ownership. Schedule overlap does not demonstrate resource competition.</a:t>
            </a:r>
          </a:p>
          <a:p xmlns:a="http://schemas.openxmlformats.org/drawingml/2006/main">
            <a:r>
              <a:t>ABMP_10797: Alberta Surgical Initiative (02 - Calgary). Developer Alberta Infrastructure; Calgary; Under Construction; 2024–2029; as of 2026-08-31.</a:t>
            </a:r>
          </a:p>
          <a:p xmlns:a="http://schemas.openxmlformats.org/drawingml/2006/main">
            <a:r>
              <a:t>ABMP_11374: Alberta Surgical Initiative (06 - Royal Alexandra Hospital). Developer Alberta Infrastructure; Edmonton; Proposed; 2027–2028; as of 2026-08-31.</a:t>
            </a:r>
          </a:p>
          <a:p xmlns:a="http://schemas.openxmlformats.org/drawingml/2006/main">
            <a:r>
              <a:t>ABMP_11500: Alberta Surgical Initiative (07 - Sturgeon Community Hospital). Developer Alberta Infrastructure; St. Albert; Proposed; 2027–2028; as of 2026-08-31.</a:t>
            </a:r>
          </a:p>
          <a:p xmlns:a="http://schemas.openxmlformats.org/drawingml/2006/main">
            <a:r>
              <a:t>ABMP_11380: Alberta Surgical Initiative (13 - Ponoka Hospital and Care Centre). Developer Alberta Infrastructure; Ponoka; Under Construction; 2025–2028; as of 2026-08-31.</a:t>
            </a:r>
          </a:p>
          <a:p xmlns:a="http://schemas.openxmlformats.org/drawingml/2006/main">
            <a:r>
              <a:t>ABMP_11381: Alberta Surgical Initiative (14 - Fort Saskatchewan). Developer Alberta Infrastructure; Fort Saskatchewan; Proposed; 2026–2028; as of 2026-08-31.</a:t>
            </a:r>
          </a:p>
          <a:p xmlns:a="http://schemas.openxmlformats.org/drawingml/2006/main">
            <a:r>
              <a:t>ABMP_11382: Alberta Surgical Initiative (15 - Alberta Children's Hospital). Developer Alberta Infrastructure; Calgary; Under Construction; 2026–2027; as of 2026-08-31.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Alberta Major Projects inventory, snapshot 31 August 2026. https://www.majorprojects.alberta.ca/</a:t>
            </a:r>
          </a:p>
          <a:p xmlns:a="http://schemas.openxmlformats.org/drawingml/2006/main">
            <a:r>
              <a:t>Analytical screen: school/postsecondary, roads/transit/airports, health, power, water/resilience and government/civic categories. Records can include private ownership. Schedule overlap does not demonstrate resource competition.</a:t>
            </a:r>
          </a:p>
          <a:p xmlns:a="http://schemas.openxmlformats.org/drawingml/2006/main">
            <a:r>
              <a:t>ABMP_11383: Alberta Surgical Initiative (16 - Grey Nuns Hospital). Developer Alberta Infrastructure; Edmonton; Proposed; 2026–2028; as of 2026-08-31.</a:t>
            </a:r>
          </a:p>
          <a:p xmlns:a="http://schemas.openxmlformats.org/drawingml/2006/main">
            <a:r>
              <a:t>ABMP_10801: Calgary Complex Needs Residential Facility. Developer Alberta Infrastructure; Calgary; Under Construction; 2025–2027; as of 2026-08-31.</a:t>
            </a:r>
          </a:p>
          <a:p xmlns:a="http://schemas.openxmlformats.org/drawingml/2006/main">
            <a:r>
              <a:t>ABMP_4363: Calgary Radiopharmaceutical Centre. Developer Alberta Infrastructure; Calgary; Under Construction; 2025–2027; as of 2026-08-31.</a:t>
            </a:r>
          </a:p>
          <a:p xmlns:a="http://schemas.openxmlformats.org/drawingml/2006/main">
            <a:r>
              <a:t>ABMP_2050: Foothills Medical Centre Power Plant Upgrade Cogeneration Initiative. Developer Alberta Infrastructure; Calgary; Under Construction; 2021–2027; as of 2026-08-31.</a:t>
            </a:r>
          </a:p>
          <a:p xmlns:a="http://schemas.openxmlformats.org/drawingml/2006/main">
            <a:r>
              <a:t>ABMP_4364: La Crete Maternity and Community Health Centre. Developer Alberta Infrastructure; Mackenzie County; Under Construction; 2025–2028; as of 2026-08-31.</a:t>
            </a:r>
          </a:p>
          <a:p xmlns:a="http://schemas.openxmlformats.org/drawingml/2006/main">
            <a:r>
              <a:t>ABMP_11507: Medical Device Reprocessing (MDR) Upgrades Program - Phase 1 (4 - Northern Lights). Developer Alberta Infrastructure; Wood Buffalo; Under Construction; 2025–2027; as of 2026-08-31.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Alberta Major Projects inventory, snapshot 31 August 2026. https://www.majorprojects.alberta.ca/</a:t>
            </a:r>
          </a:p>
          <a:p xmlns:a="http://schemas.openxmlformats.org/drawingml/2006/main">
            <a:r>
              <a:t>Analytical screen: school/postsecondary, roads/transit/airports, health, power, water/resilience and government/civic categories. Records can include private ownership. Schedule overlap does not demonstrate resource competition.</a:t>
            </a:r>
          </a:p>
          <a:p xmlns:a="http://schemas.openxmlformats.org/drawingml/2006/main">
            <a:r>
              <a:t>ABMP_10951: Medical Device Reprocessing (MDR) Upgrades Program - Phase 1 (5 - Westlock). Developer Alberta Infrastructure; Westlock; Proposed; 2026–2028; as of 2026-08-31.</a:t>
            </a:r>
          </a:p>
          <a:p xmlns:a="http://schemas.openxmlformats.org/drawingml/2006/main">
            <a:r>
              <a:t>ABMP_10952: Medical Device Reprocessing (MDR) Upgrades Program - Phase 1 (6 - Sturgeon). Developer Alberta Infrastructure; St. Albert; Proposed; 2027–2030; as of 2026-08-31.</a:t>
            </a:r>
          </a:p>
          <a:p xmlns:a="http://schemas.openxmlformats.org/drawingml/2006/main">
            <a:r>
              <a:t>ABMP_11366: Medical Device Reprocessing (MDR) Upgrades Program - Phase 2 (1 - Misericordia Community Hospital). Developer Alberta Infrastructure; Edmonton; Under Construction; 2026–2029; as of 2026-08-31.</a:t>
            </a:r>
          </a:p>
          <a:p xmlns:a="http://schemas.openxmlformats.org/drawingml/2006/main">
            <a:r>
              <a:t>ABMP_11367: Medical Device Reprocessing (MDR) Upgrades Program - Phase 2 (2 - Grey Nuns Community Hospital). Developer Alberta Infrastructure; Edmonton; Under Construction; 2026–2028; as of 2026-08-31.</a:t>
            </a:r>
          </a:p>
          <a:p xmlns:a="http://schemas.openxmlformats.org/drawingml/2006/main">
            <a:r>
              <a:t>ABMP_11362: National Association of Pharmacy Regulatory Authorities Capital Program (Medicine Hat). Developer Alberta Infrastructure; Medicine Hat; Under Construction; 2026–2027; as of 2026-08-31.</a:t>
            </a:r>
          </a:p>
          <a:p xmlns:a="http://schemas.openxmlformats.org/drawingml/2006/main">
            <a:r>
              <a:t>ABMP_11567: Northern Alberta Youth Recovery Centre (NAYRC) - Edmonton EYOC. Developer Alberta Infrastructure; Edmonton; Under Construction; 2025–2027; as of 2026-08-31.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Alberta Major Projects inventory, snapshot 31 August 2026. https://www.majorprojects.alberta.ca/</a:t>
            </a:r>
          </a:p>
          <a:p xmlns:a="http://schemas.openxmlformats.org/drawingml/2006/main">
            <a:r>
              <a:t>Analytical screen: school/postsecondary, roads/transit/airports, health, power, water/resilience and government/civic categories. Records can include private ownership. Schedule overlap does not demonstrate resource competition.</a:t>
            </a:r>
          </a:p>
          <a:p xmlns:a="http://schemas.openxmlformats.org/drawingml/2006/main">
            <a:r>
              <a:t>ABMP_10957: Recovery Communities (10 - Grande Prairie). Developer Alberta Infrastructure; Grande Prairie; Under Construction; 2026–2028; as of 2026-08-31.</a:t>
            </a:r>
          </a:p>
          <a:p xmlns:a="http://schemas.openxmlformats.org/drawingml/2006/main">
            <a:r>
              <a:t>ABMP_11513: Recovery Communities (12 - Edmonton Young Offender Centre). Developer Alberta Infrastructure; Edmonton; Under Construction; 2025–2027; as of 2026-08-31.</a:t>
            </a:r>
          </a:p>
          <a:p xmlns:a="http://schemas.openxmlformats.org/drawingml/2006/main">
            <a:r>
              <a:t>ABMP_11876: Red Deer Regional Hospital - Ambulatory Building. Developer Alberta Infrastructure; Red Deer; Under Construction; 2026–2029; as of 2026-08-31.</a:t>
            </a:r>
          </a:p>
          <a:p xmlns:a="http://schemas.openxmlformats.org/drawingml/2006/main">
            <a:r>
              <a:t>ABMP_4050: Red Deer Regional Hospital Centre Redevelopment. Developer Alberta Infrastructure; Red Deer; Under Construction; 2024–2031; as of 2026-08-31.</a:t>
            </a:r>
          </a:p>
          <a:p xmlns:a="http://schemas.openxmlformats.org/drawingml/2006/main">
            <a:r>
              <a:t>ABMP_10535: University of Alberta Hospital Brain Centre - Neurosciences Intensive Care Unit (NSICU). Developer Alberta Infrastructure; Edmonton; Under Construction; 2024–2029; as of 2026-08-31.</a:t>
            </a:r>
          </a:p>
          <a:p xmlns:a="http://schemas.openxmlformats.org/drawingml/2006/main">
            <a:r>
              <a:t>ABMP_11464: Barrhead Composite High School Modernization. Developer Alberta Infrastructure; Barrhead; Under Construction; 2025–2028; as of 2026-08-31.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Alberta Major Projects inventory, snapshot 31 August 2026. https://www.majorprojects.alberta.ca/</a:t>
            </a:r>
          </a:p>
          <a:p xmlns:a="http://schemas.openxmlformats.org/drawingml/2006/main">
            <a:r>
              <a:t>Analytical screen: school/postsecondary, roads/transit/airports, health, power, water/resilience and government/civic categories. Records can include private ownership. Schedule overlap does not demonstrate resource competition.</a:t>
            </a:r>
          </a:p>
          <a:p xmlns:a="http://schemas.openxmlformats.org/drawingml/2006/main">
            <a:r>
              <a:t>ABMP_11429: Breton School K-12 Modernization. Developer Alberta Infrastructure; Breton; Under Construction; 2025–2027; as of 2026-08-31.</a:t>
            </a:r>
          </a:p>
          <a:p xmlns:a="http://schemas.openxmlformats.org/drawingml/2006/main">
            <a:r>
              <a:t>ABMP_11456: Delton K-6 Replacement School. Developer Alberta Infrastructure; Edmonton; Under Construction; 2026–2028; as of 2026-08-31.</a:t>
            </a:r>
          </a:p>
          <a:p xmlns:a="http://schemas.openxmlformats.org/drawingml/2006/main">
            <a:r>
              <a:t>ABMP_11459: Ecole Heritage K-12 Modernization. Developer Alberta Infrastructure; Falher; Under Construction; 2026–2027; as of 2026-08-31.</a:t>
            </a:r>
          </a:p>
          <a:p xmlns:a="http://schemas.openxmlformats.org/drawingml/2006/main">
            <a:r>
              <a:t>ABMP_10941: Holy Family K-12 Replacement School (Waskatenau). Developer Alberta Infrastructure; Waskatenau; Under Construction; 2025–2027; as of 2026-08-31.</a:t>
            </a:r>
          </a:p>
          <a:p xmlns:a="http://schemas.openxmlformats.org/drawingml/2006/main">
            <a:r>
              <a:t>ABMP_11431: Holy Trinity Academy (formerly St. Francis Xavier K-9 Replacement School). Developer Alberta Infrastructure; Medicine Hat; Under Construction; 2025–2027; as of 2026-08-31.</a:t>
            </a:r>
          </a:p>
          <a:p xmlns:a="http://schemas.openxmlformats.org/drawingml/2006/main">
            <a:r>
              <a:t>ABMP_11458: New 7-12 Catholic and Public High School in West Edmonton. Developer Alberta Infrastructure; Edmonton; Under Construction; 2026–2029; as of 2026-08-31.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Alberta Major Projects inventory, snapshot 31 August 2026. https://www.majorprojects.alberta.ca/</a:t>
            </a:r>
          </a:p>
          <a:p xmlns:a="http://schemas.openxmlformats.org/drawingml/2006/main">
            <a:r>
              <a:t>Analytical screen: school/postsecondary, roads/transit/airports, health, power, water/resilience and government/civic categories. Records can include private ownership. Schedule overlap does not demonstrate resource competition.</a:t>
            </a:r>
          </a:p>
          <a:p xmlns:a="http://schemas.openxmlformats.org/drawingml/2006/main">
            <a:r>
              <a:t>ABMP_10937: New 7-12 School in Glenridding Heights (Edmonton). Developer Alberta Infrastructure; Edmonton; Under Construction; 2025–2027; as of 2026-08-31.</a:t>
            </a:r>
          </a:p>
          <a:p xmlns:a="http://schemas.openxmlformats.org/drawingml/2006/main">
            <a:r>
              <a:t>ABMP_11346: New High School in West Calgary. Developer Alberta Infrastructure; Calgary; Under Construction; 2025–2028; as of 2026-08-31.</a:t>
            </a:r>
          </a:p>
          <a:p xmlns:a="http://schemas.openxmlformats.org/drawingml/2006/main">
            <a:r>
              <a:t>ABMP_11249: New K-5 School in Blackfalds. Developer Alberta Infrastructure; Blackfalds; Under Construction; 2025–2027; as of 2026-08-31.</a:t>
            </a:r>
          </a:p>
          <a:p xmlns:a="http://schemas.openxmlformats.org/drawingml/2006/main">
            <a:r>
              <a:t>ABMP_11345: New K-8 School in Bayview (SW Airdrie). Developer Alberta Infrastructure; Airdrie; Under Construction; 2026–2028; as of 2026-08-31.</a:t>
            </a:r>
          </a:p>
          <a:p xmlns:a="http://schemas.openxmlformats.org/drawingml/2006/main">
            <a:r>
              <a:t>ABMP_11248: New K-8 School in Windsong (SW Airdrie). Developer Alberta Infrastructure; Airdrie; Under Construction; 2025–2027; as of 2026-08-31.</a:t>
            </a:r>
          </a:p>
          <a:p xmlns:a="http://schemas.openxmlformats.org/drawingml/2006/main">
            <a:r>
              <a:t>ABMP_11252: New K-9 Catholic School in Chestermere. Developer Alberta Infrastructure; Chestermere; Under Construction; 2025–2027; as of 2026-08-31.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Alberta Major Projects inventory, snapshot 31 August 2026. https://www.majorprojects.alberta.ca/</a:t>
            </a:r>
          </a:p>
          <a:p xmlns:a="http://schemas.openxmlformats.org/drawingml/2006/main">
            <a:r>
              <a:t>Analytical screen: school/postsecondary, roads/transit/airports, health, power, water/resilience and government/civic categories. Records can include private ownership. Schedule overlap does not demonstrate resource competition.</a:t>
            </a:r>
          </a:p>
          <a:p xmlns:a="http://schemas.openxmlformats.org/drawingml/2006/main">
            <a:r>
              <a:t>ABMP_10932: New K-9 Nolan Hill (Calgary). Developer Alberta Infrastructure; Calgary; Under Construction; 2025–2027; as of 2026-08-31.</a:t>
            </a:r>
          </a:p>
          <a:p xmlns:a="http://schemas.openxmlformats.org/drawingml/2006/main">
            <a:r>
              <a:t>ABMP_11251: New Rangeview High School. Developer Alberta Infrastructure; Calgary; Under Construction; 2025–2027; as of 2026-08-31.</a:t>
            </a:r>
          </a:p>
          <a:p xmlns:a="http://schemas.openxmlformats.org/drawingml/2006/main">
            <a:r>
              <a:t>ABMP_10930: New Secondary (7-12) School in Airdrie. Developer Alberta Infrastructure; Airdrie; Under Construction; 2026–2027; as of 2026-08-31.</a:t>
            </a:r>
          </a:p>
          <a:p xmlns:a="http://schemas.openxmlformats.org/drawingml/2006/main">
            <a:r>
              <a:t>ABMP_11432: Solution for Nanton School. Developer Alberta Infrastructure; Nanton; Under Construction; 2025–2027; as of 2026-08-31.</a:t>
            </a:r>
          </a:p>
          <a:p xmlns:a="http://schemas.openxmlformats.org/drawingml/2006/main">
            <a:r>
              <a:t>ABMP_11253: Solution for Rundle Heights K-9 School. Developer Alberta Infrastructure; Edmonton; Under Construction; 2025–2027; as of 2026-08-31.</a:t>
            </a:r>
          </a:p>
          <a:p xmlns:a="http://schemas.openxmlformats.org/drawingml/2006/main">
            <a:r>
              <a:t>ABMP_10933: Solution for École Michaelle Jean &amp; Gabrielle Roy. Developer Alberta Infrastructure; Edmonton; Under Construction; 2025–2028; as of 2026-08-31.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Alberta Major Projects inventory, snapshot 31 August 2026. https://www.majorprojects.alberta.ca/</a:t>
            </a:r>
          </a:p>
          <a:p xmlns:a="http://schemas.openxmlformats.org/drawingml/2006/main">
            <a:r>
              <a:t>Analytical screen: school/postsecondary, roads/transit/airports, health, power, water/resilience and government/civic categories. Records can include private ownership. Schedule overlap does not demonstrate resource competition.</a:t>
            </a:r>
          </a:p>
          <a:p xmlns:a="http://schemas.openxmlformats.org/drawingml/2006/main">
            <a:r>
              <a:t>ABMP_10940: Spruce Grove Composite High School Replacement. Developer Alberta Infrastructure; Spruce Grove; Under Construction; 2025–2028; as of 2026-08-31.</a:t>
            </a:r>
          </a:p>
          <a:p xmlns:a="http://schemas.openxmlformats.org/drawingml/2006/main">
            <a:r>
              <a:t>ABMP_11056: St. Kateri Elementary School (West Lethbridge). Developer Alberta Infrastructure; Lethbridge; Under Construction; 2025–2027; as of 2026-08-31.</a:t>
            </a:r>
          </a:p>
          <a:p xmlns:a="http://schemas.openxmlformats.org/drawingml/2006/main">
            <a:r>
              <a:t>ABMP_4503: St. Martin de Porres High School Addition. Developer Alberta Infrastructure; Airdrie; Under Construction; 2024–2028; as of 2026-08-31.</a:t>
            </a:r>
          </a:p>
          <a:p xmlns:a="http://schemas.openxmlformats.org/drawingml/2006/main">
            <a:r>
              <a:t>ABMP_11410: Vera M. Welsh School Replacement. Developer Alberta Infrastructure; Lac la Biche County; Under Construction; 2025–2027; as of 2026-08-31.</a:t>
            </a:r>
          </a:p>
          <a:p xmlns:a="http://schemas.openxmlformats.org/drawingml/2006/main">
            <a:r>
              <a:t>ABMP_11343: Wainwright K-6 Elementary Replacement. Developer Alberta Infrastructure; Wainwright; Under Construction; 2025–2027; as of 2026-08-31.</a:t>
            </a:r>
          </a:p>
          <a:p xmlns:a="http://schemas.openxmlformats.org/drawingml/2006/main">
            <a:r>
              <a:t>ABMP_10942: École Good Shepherd K-9 Replacement. Developer Alberta Infrastructure; Okotoks; Under Construction; 2025–2027; as of 2026-08-31.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Alberta Major Projects inventory, snapshot 31 August 2026. https://www.majorprojects.alberta.ca/</a:t>
            </a:r>
          </a:p>
          <a:p xmlns:a="http://schemas.openxmlformats.org/drawingml/2006/main">
            <a:r>
              <a:t>Analytical screen: school/postsecondary, roads/transit/airports, health, power, water/resilience and government/civic categories. Records can include private ownership. Schedule overlap does not demonstrate resource competition.</a:t>
            </a:r>
          </a:p>
          <a:p xmlns:a="http://schemas.openxmlformats.org/drawingml/2006/main">
            <a:r>
              <a:t>ABMP_11256: École Mallaig K-12 Replacement School. Developer Alberta Infrastructure; St. Paul County No. 19; Under Construction; 2025–2027; as of 2026-08-31.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Government of Alberta, Alberta Major Projects inventory, snapshot 31 August 2026. https://www.majorprojects.alberta.ca/</a:t>
            </a:r>
          </a:p>
          <a:p xmlns:a="http://schemas.openxmlformats.org/drawingml/2006/main">
            <a:r>
              <a:t>Methodology: https://majorprojects.alberta.ca/methodology</a:t>
            </a:r>
          </a:p>
          <a:p xmlns:a="http://schemas.openxmlformats.org/drawingml/2006/main">
            <a:r>
              <a:t>Names and reported values are preserved from the dated inventory. “Construction” abbreviates the publisher’s “Under Construction” status. Start and end years are reported years without back-calculation. These records are not a confirmed delivery forecast.</a:t>
            </a:r>
          </a:p>
          <a:p xmlns:a="http://schemas.openxmlformats.org/drawingml/2006/main">
            <a:r>
              <a:t>eStruxture CAL-3 Data Centre: https://info.estruxture.com/hubfs/Data%20Sheets/eStruxture_Datasheet_CAL3%20EN%20V2%202025.pdf?__hstc=17468411.9cbf58fbaac1d56717987d205a46139e.1778703431220.1778703431220.1778703431220.1&amp;__hssc=17468411.4.1779463158036&amp;__hsfp=31c185fa9baa393ca4363973b4df6c18</a:t>
            </a:r>
          </a:p>
          <a:p xmlns:a="http://schemas.openxmlformats.org/drawingml/2006/main">
            <a:r>
              <a:t>Wonder Valley AI Data Centre Park (Phase 1): https://www.olearydigital.ai/</a:t>
            </a:r>
          </a:p>
          <a:p xmlns:a="http://schemas.openxmlformats.org/drawingml/2006/main">
            <a:r>
              <a:t>Beacon Harry Smith AI Data Centre Hub: https://beacondatacenters.com/campuses/</a:t>
            </a:r>
          </a:p>
          <a:p xmlns:a="http://schemas.openxmlformats.org/drawingml/2006/main">
            <a:r>
              <a:t>Beacon Indus Data Centre Hub: https://beacondatacenters.com/wp-content/uploads/2026/02/BEA_IndusCGY-FAQ.pdf</a:t>
            </a:r>
          </a:p>
          <a:p xmlns:a="http://schemas.openxmlformats.org/drawingml/2006/main">
            <a:r>
              <a:t>Beacon Heartland AI Data Centre Hub: https://beacondatacenters.com/campuses/</a:t>
            </a:r>
          </a:p>
          <a:p xmlns:a="http://schemas.openxmlformats.org/drawingml/2006/main">
            <a:r>
              <a:t>Beacon Saunders Lake AI Data Centre Hub: https://beacondatacenters.com/campuses/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Government of Alberta, Alberta Major Projects inventory, snapshot 31 August 2026. https://www.majorprojects.alberta.ca/</a:t>
            </a:r>
          </a:p>
          <a:p xmlns:a="http://schemas.openxmlformats.org/drawingml/2006/main">
            <a:r>
              <a:t>Methodology: https://majorprojects.alberta.ca/methodology</a:t>
            </a:r>
          </a:p>
          <a:p xmlns:a="http://schemas.openxmlformats.org/drawingml/2006/main">
            <a:r>
              <a:t>Names and reported values are preserved from the dated inventory. “Construction” abbreviates the publisher’s “Under Construction” status. Start and end years are reported years without back-calculation. These records are not a confirmed delivery forecast.</a:t>
            </a:r>
          </a:p>
          <a:p xmlns:a="http://schemas.openxmlformats.org/drawingml/2006/main">
            <a:r>
              <a:t>HubOne AI &amp; BTC High Density Compute Park: https://hub1.ca/</a:t>
            </a:r>
          </a:p>
          <a:p xmlns:a="http://schemas.openxmlformats.org/drawingml/2006/main">
            <a:r>
              <a:t>Prairie Sky Data Solutions Strathmore Data Center (Phase 1): https://www.prairieskydata.com/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Government of Alberta, Alberta Major Projects inventory, snapshot 31 August 2026. https://www.majorprojects.alberta.ca/</a:t>
            </a:r>
          </a:p>
          <a:p xmlns:a="http://schemas.openxmlformats.org/drawingml/2006/main">
            <a:r>
              <a:t>Methodology: https://majorprojects.alberta.ca/methodology</a:t>
            </a:r>
          </a:p>
          <a:p xmlns:a="http://schemas.openxmlformats.org/drawingml/2006/main">
            <a:r>
              <a:t>Names and reported values are preserved from the dated inventory. “Construction” abbreviates the publisher’s “Under Construction” status. Start and end years are reported years without back-calculation. These records are not a confirmed delivery forecast.</a:t>
            </a:r>
          </a:p>
          <a:p xmlns:a="http://schemas.openxmlformats.org/drawingml/2006/main">
            <a:r>
              <a:t>Beacon Chestermere AI Data Centre Hub: https://beacondatacenters.com/campuses/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d10633c00a4c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91cb927b4542be" /><Relationship Type="http://schemas.openxmlformats.org/officeDocument/2006/relationships/slideLayout" Target="/ppt/slideLayouts/slideLayout1.xml" Id="R6236e87926f342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36e87926f342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281a393af445a" /><Relationship Type="http://schemas.openxmlformats.org/officeDocument/2006/relationships/notesSlide" Target="/ppt/notesSlides/notesSlide1.xml" Id="R35d3eef0923547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9fbffa9964c5f" /><Relationship Type="http://schemas.openxmlformats.org/officeDocument/2006/relationships/notesSlide" Target="/ppt/notesSlides/notesSlide2.xml" Id="R3f42314d6b304e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b8fe05d0245b7" /><Relationship Type="http://schemas.openxmlformats.org/officeDocument/2006/relationships/notesSlide" Target="/ppt/notesSlides/notesSlide3.xml" Id="R8aac68ee8fb846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98ce42d22449c" /><Relationship Type="http://schemas.openxmlformats.org/officeDocument/2006/relationships/notesSlide" Target="/ppt/notesSlides/notesSlide4.xml" Id="Rc3e32b8b8cdf4c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b022473b746be" /><Relationship Type="http://schemas.openxmlformats.org/officeDocument/2006/relationships/notesSlide" Target="/ppt/notesSlides/notesSlide5.xml" Id="Rf165704f314c40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9cbde3ebb4185" /><Relationship Type="http://schemas.openxmlformats.org/officeDocument/2006/relationships/notesSlide" Target="/ppt/notesSlides/notesSlide6.xml" Id="R8e72ac92ada142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97e1ad65a49f9" /><Relationship Type="http://schemas.openxmlformats.org/officeDocument/2006/relationships/notesSlide" Target="/ppt/notesSlides/notesSlide7.xml" Id="R7066c8f1dbc344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6623e51874ac2" /><Relationship Type="http://schemas.openxmlformats.org/officeDocument/2006/relationships/notesSlide" Target="/ppt/notesSlides/notesSlide8.xml" Id="R9adaa7305f914c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936d2579e4917" /><Relationship Type="http://schemas.openxmlformats.org/officeDocument/2006/relationships/notesSlide" Target="/ppt/notesSlides/notesSlide9.xml" Id="R93d9395ae33145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dd6b0a19445e9" /><Relationship Type="http://schemas.openxmlformats.org/officeDocument/2006/relationships/notesSlide" Target="/ppt/notesSlides/notesSlide10.xml" Id="R8ed2f4801fef42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ff9319cc74215" /><Relationship Type="http://schemas.openxmlformats.org/officeDocument/2006/relationships/notesSlide" Target="/ppt/notesSlides/notesSlide11.xml" Id="R78a4b2308eb740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21d030a244b16" /><Relationship Type="http://schemas.openxmlformats.org/officeDocument/2006/relationships/notesSlide" Target="/ppt/notesSlides/notesSlide12.xml" Id="Ra20aff74f45d4b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e503cc956417a" /><Relationship Type="http://schemas.openxmlformats.org/officeDocument/2006/relationships/notesSlide" Target="/ppt/notesSlides/notesSlide13.xml" Id="Rdbc88358c02045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a6d3cd3084224" /><Relationship Type="http://schemas.openxmlformats.org/officeDocument/2006/relationships/notesSlide" Target="/ppt/notesSlides/notesSlide14.xml" Id="R6c099407855f4f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51D2B-AE86-4807-9DCF-EC47034E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rPr>
              <a:t>Project model schedule register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F0FBF-F5C5-4E81-8D5E-A6A33074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Reported fields remain unchanged. The model retains a separate schedule basis.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61B56-8379-4E27-AC43-58FCA73D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Model-assigned dates are planning inputs and do not establish developer commitments.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1049B-C553-4427-BA94-2D00829E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2333625"/>
                <a:gridCol w="3876675"/>
              </a:tblGrid>
              <a:tr h="666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Costed phase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 start / finish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Schedule basis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eStruxture CAL-3 Data Centre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2024-01 / 2026-12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Reported start/end years; January/December conventions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Wonder Valley AI Data Centre Park (Phase 1)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2028-03 / 2031-02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Model-assigned start: as-of + 18 months; 36-month duration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Beacon Foothills AI Data Centre Hub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2028-03 / 2031-02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Model-assigned start: as-of + 18 months; 36-month duration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Crusoe AI Data Centres Alberta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2028-03 / 2031-02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Model-assigned start: as-of + 18 months; 36-month duration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Technologies New Energy &amp; Data District Data Centres (Phase 1)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2026-09 / 2029-08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Reported start year; model-inferred end from 36-month duration; past proposed start shifted to as-of month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0256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0226B-D8F3-46A3-860B-F126CC44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rPr>
              <a:t>Project model schedule register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16EBF-BC91-4A2A-918B-C1E9797D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Reported fields remain unchanged. The model retains a separate schedule basis.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3FDBC-17AD-4AE1-AA5A-6061D75D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Model-assigned dates are planning inputs and do not establish developer commitments.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EBF7B-B95D-4CA6-A7E6-DEDBBFE9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2333625"/>
                <a:gridCol w="3876675"/>
              </a:tblGrid>
              <a:tr h="666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Costed phase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 start / finish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Schedule basis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Meta Data Centre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2028-03 / 2031-02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Model-assigned start: as-of + 18 months; 36-month duration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Malachite One Data Centre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2027-01 / 2030-12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Reported start/end years; January/December conventions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4377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B4768-397C-474A-A4B7-6015F46A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rPr>
              <a:t>Infrastructure exposure register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02574-D696-4E43-8AD8-3C94154C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Developer: Alberta Infrastructure. Known schedule overlap with 2027–2036.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7E2F2-FA37-4775-8CA7-329C6E9C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Package phase and legal ownership unverified. Electrical, cooling and commissioning are screening intersections.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069EF-CDF2-4E36-8B59-7046826A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143125"/>
                <a:gridCol w="2638425"/>
              </a:tblGrid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Municipality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 / years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Alberta Surgical Initiative (02 - Calgary)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Calgary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2024–2029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Alberta Surgical Initiative (06 - Royal Alexandra Hospital)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Edmonton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2027–2028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Alberta Surgical Initiative (07 - Sturgeon Community Hospital)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St. Albert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2027–2028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Alberta Surgical Initiative (13 - Ponoka Hospital and Care Centre)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Ponoka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Alberta Surgical Initiative (14 - Fort Saskatchewan)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Fort Saskatchewan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2026–2028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Alberta Surgical Initiative (15 - Alberta Children's Hospital)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Calgary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2026–2027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814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447F8-9DB5-41B1-828E-31952804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rPr>
              <a:t>Infrastructure exposure register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CDACD-2022-49D0-8B6C-F3AE566B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Developer: Alberta Infrastructure. Known schedule overlap with 2027–2036.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78AF0-E1FB-446F-9F89-E0B2E50F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Package phase and legal ownership unverified. Electrical, cooling and commissioning are screening intersections.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5702C-CF1E-4345-9227-67CC46CB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143125"/>
                <a:gridCol w="2638425"/>
              </a:tblGrid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Municipality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 / years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Alberta Surgical Initiative (16 - Grey Nuns Hospital)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Edmonton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2026–2028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Calgary Complex Needs Residential Facility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Calgary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Calgary Radiopharmaceutical Centre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Calgary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Foothills Medical Centre Power Plant Upgrade Cogeneration Initiative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Calgary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2021–2027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 Crete Maternity and Community Health Centre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Mackenzie County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Medical Device Reprocessing (MDR) Upgrades Program - Phase 1 (4 - Northern Lights)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Wood Buffalo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3669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3A46F-9368-4C3E-891C-241A3D5B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rPr>
              <a:t>Infrastructure exposure register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312CA-A129-4EF4-9C77-210DDB2E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Developer: Alberta Infrastructure. Known schedule overlap with 2027–2036.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37E45-281E-4EAC-BB59-A622C050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Package phase and legal ownership unverified. Electrical, cooling and commissioning are screening intersections.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D1B07-7A2B-4C87-8307-1119DAA9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143125"/>
                <a:gridCol w="2638425"/>
              </a:tblGrid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Municipality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 / years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Medical Device Reprocessing (MDR) Upgrades Program - Phase 1 (5 - Westlock)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Westlock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2026–2028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Medical Device Reprocessing (MDR) Upgrades Program - Phase 1 (6 - Sturgeon)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St. Albert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2027–2030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Medical Device Reprocessing (MDR) Upgrades Program - Phase 2 (1 - Misericordia Community Hospital)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Edmonton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2026–2029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Medical Device Reprocessing (MDR) Upgrades Program - Phase 2 (2 - Grey Nuns Community Hospital)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Edmonton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2026–2028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National Association of Pharmacy Regulatory Authorities Capital Program (Medicine Hat)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Medicine Hat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2026–2027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Northern Alberta Youth Recovery Centre (NAYRC) - Edmonton EYOC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Edmonton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9832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F81BC-4AF1-4DB3-BA37-DD605748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rPr>
              <a:t>Infrastructure exposure register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F486B-69FD-4FBA-AEC8-51B68155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Developer: Alberta Infrastructure. Known schedule overlap with 2027–2036.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DCEC0-59C1-4DCC-9F67-E06AC3DB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Package phase and legal ownership unverified. Electrical, cooling and commissioning are screening intersections.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DF40E-3950-48E0-80CE-6F083D1E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143125"/>
                <a:gridCol w="2638425"/>
              </a:tblGrid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Municipality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 / years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Recovery Communities (10 - Grande Prairie)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Grande Prairie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2026–2028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Recovery Communities (12 - Edmonton Young Offender Centre)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Edmonton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Red Deer Regional Hospital - Ambulatory Building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Red Deer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2026–2029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Red Deer Regional Hospital Centre Redevelopment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Red Deer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2024–2031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University of Alberta Hospital Brain Centre - Neurosciences Intensive Care Unit (NSICU)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Edmonton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2024–2029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Barrhead Composite High School Modernization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Barrhead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72290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910E9-95B8-44C1-9CBA-7D1A896E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rPr>
              <a:t>Infrastructure exposure register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3AADC-6BFB-459C-BE75-DC3B1BD6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Developer: Alberta Infrastructure. Known schedule overlap with 2027–2036.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A43E2-6E65-46AC-8A61-6E74005E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Package phase and legal ownership unverified. Electrical, cooling and commissioning are screening intersections.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EE070-F37D-48DC-9F67-390A1171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143125"/>
                <a:gridCol w="2638425"/>
              </a:tblGrid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Municipality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 / years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Breton School K-12 Modernization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Breton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Delton K-6 Replacement School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Edmonton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2026–2028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Ecole Heritage K-12 Modernization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Falher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2026–2027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Holy Family K-12 Replacement School (Waskatenau)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Waskatenau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Holy Trinity Academy (formerly St. Francis Xavier K-9 Replacement School)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Medicine Hat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7-12 Catholic and Public High School in West Edmonton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Edmonton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2026–2029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4549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8915B-4CBB-489B-A936-69A046E9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rPr>
              <a:t>Infrastructure exposure register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E916A-B89F-4285-B41B-3834362F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Developer: Alberta Infrastructure. Known schedule overlap with 2027–2036.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B049B-64BD-4C58-AD3A-D151B135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Package phase and legal ownership unverified. Electrical, cooling and commissioning are screening intersections.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51997-8E86-4E03-9A75-DA6DF767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143125"/>
                <a:gridCol w="2638425"/>
              </a:tblGrid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Municipality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 / years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7-12 School in Glenridding Heights (Edmonton)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Edmonton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High School in West Calgary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Calgary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K-5 School in Blackfalds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Blackfalds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K-8 School in Bayview (SW Airdrie)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Airdrie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2026–2028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K-8 School in Windsong (SW Airdrie)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Airdrie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K-9 Catholic School in Chestermere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Chestermere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093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3F897-15D7-446C-BCF0-95F20A67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rPr>
              <a:t>Infrastructure exposure register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FE91C-D41A-44E0-A4D6-9C9F5E8B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Developer: Alberta Infrastructure. Known schedule overlap with 2027–2036.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77349-6CB9-4C5D-9866-FA4EEE1D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Package phase and legal ownership unverified. Electrical, cooling and commissioning are screening intersections.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333C3-20FD-4BBB-B671-166CAF2C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143125"/>
                <a:gridCol w="2638425"/>
              </a:tblGrid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Municipality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 / years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K-9 Nolan Hill (Calgary)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Calgary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Rangeview High School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Calgary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Secondary (7-12) School in Airdrie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Airdrie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2026–2027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Solution for Nanton School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Nanton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Solution for Rundle Heights K-9 School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Edmonton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Solution for École Michaelle Jean &amp; Gabrielle Roy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Edmonton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2025–2028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7746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20A1F-793C-4516-A797-9BB0BFBF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rPr>
              <a:t>Infrastructure exposure register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85791-9E4F-4A38-B030-9EC49DA8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Developer: Alberta Infrastructure. Known schedule overlap with 2027–2036.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788FC-BFE9-4E3A-8D72-976D8447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Package phase and legal ownership unverified. Electrical, cooling and commissioning are screening intersections.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0E61E-ED0B-45ED-A283-8B8BBE3B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143125"/>
                <a:gridCol w="2638425"/>
              </a:tblGrid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Municipality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 / years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Spruce Grove Composite High School Replacement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Spruce Grove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St. Kateri Elementary School (West Lethbridge)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Lethbridge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St. Martin de Porres High School Addition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Airdrie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2024–2028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Vera M. Welsh School Replacement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Lac la Biche County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Wainwright K-6 Elementary Replacement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Wainwright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École Good Shepherd K-9 Replacement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Okotoks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91090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99F4B-C493-4EE6-8F08-136E7032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rPr>
              <a:t>Infrastructure exposure register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88A9B-8E1C-4EF9-91A0-DDC36FD5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Developer: Alberta Infrastructure. Known schedule overlap with 2027–2036.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CF25A-814C-441B-BB9D-9DC31648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Package phase and legal ownership unverified. Electrical, cooling and commissioning are screening intersections.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BBBF3-EE27-4E9B-BFAE-5C0B1881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1104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143125"/>
                <a:gridCol w="2638425"/>
              </a:tblGrid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Municipality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 / years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École Mallaig K-12 Replacement School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St. Paul County No. 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2025–2027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5739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06FB7-884F-47BE-B1B4-39C546BB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rPr>
              <a:t>Alberta pipeline reference 1 of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4B240-764E-4F5F-B868-4A23ABDF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Full identified core project and phase records.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EBA20-2454-4352-A24E-DCA478F9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Alberta Major Projects, 31 Aug 2026. ? = missing year; — = missing cost. Estimated scope varies.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E4B3C-98AE-43CE-9431-297E862D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00750"/>
                <a:gridCol w="1714500"/>
                <a:gridCol w="2000250"/>
                <a:gridCol w="1257300"/>
              </a:tblGrid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Project / phase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Reported years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CAD B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eStruxture CAL-3 Data Centre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2024–2026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Wonder Valley AI Data Centre Park (Phase 1)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?–?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Beacon Foothills AI Data Centre Hub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?–?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Beacon Harry Smith AI Data Centre Hub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?–?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Beacon Indus Data Centre Hub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?–?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Beacon Heartland AI Data Centre Hub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?–2027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Beacon Saunders Lake AI Data Centre Hub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?–?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7115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5C717-7F15-4DE4-8A85-0A0B6DB2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rPr>
              <a:t>Alberta pipeline reference 2 of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B9063-9C14-46E4-89FB-AB4CC870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Full identified core project and phase records.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B0FA9-0059-4891-A91C-5316B02C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Alberta Major Projects, 31 Aug 2026. ? = missing year; — = missing cost. Estimated scope varies.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D37D7-0A07-42AB-B396-2965B86C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00750"/>
                <a:gridCol w="1714500"/>
                <a:gridCol w="2000250"/>
                <a:gridCol w="1257300"/>
              </a:tblGrid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Project / phase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Reported years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CAD B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Crusoe AI Data Centres Alberta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?–?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HubOne AI &amp; BTC High Density Compute Park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?–?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Prairie Sky Data Solutions Strathmore Data Center (Phase 1)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?–2026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eStruxture CAL-1 Data Centre - Phase 4 Alterations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2025–?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Blindman Industrial Park AI Data Centre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2026–2026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Technologies New Energy &amp; Data District Data Centres (Phase 1)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2026–?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1.26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Centre (Clive)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2026–?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7353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20631-9314-4323-A0F6-F8F6AAEE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2C4E"/>
                </a:solidFill>
                <a:latin typeface="Helvetica Neue"/>
                <a:ea typeface="Helvetica Neue"/>
                <a:cs typeface="Helvetica Neue"/>
              </a:rPr>
              <a:t>Alberta pipeline reference 3 of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41ABE-7941-4C44-9B6C-D6A0AC53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Full identified core project and phase records.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16A64-2E5C-4C45-8959-C1F6D391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Alberta Major Projects, 31 Aug 2026. ? = missing year; — = missing cost. Estimated scope varies.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BCCB1-CE0C-4AE5-BB1E-497BC31D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00750"/>
                <a:gridCol w="1714500"/>
                <a:gridCol w="2000250"/>
                <a:gridCol w="1257300"/>
              </a:tblGrid>
              <a:tr h="6032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Project / phase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Reported years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CAD B</a:t>
                      </a:r>
                    </a:p>
                  </a:txBody>
                  <a:tcPr marL="91440" marR="91440" marT="45720" marB="45720">
                    <a:solidFill>
                      <a:srgbClr val="0077CD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Mihta Askiy Data Centre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2027–?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Beacon Chestermere AI Data Centre Hub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?–2027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K-Tech and Aurora AZ Energy Compute Facility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Construction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2026–?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Meta Data Centre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?–?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13.00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Malachite One Data Centre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2027–2030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898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2026-09-06T22:11:38.5620000Z</dcterms:created>
  <dcterms:modified xsi:type="dcterms:W3CDTF">2026-09-06T22:11:38.5620000Z</dcterms:modified>
</coreProperties>
</file>