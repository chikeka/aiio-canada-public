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4.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5.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2aa06824836433b" /><Relationship Type="http://schemas.openxmlformats.org/officeDocument/2006/relationships/extended-properties" Target="/docProps/app.xml" Id="Rf4745f4567944967" /><Relationship Type="http://schemas.openxmlformats.org/officeDocument/2006/relationships/officeDocument" Target="/ppt/presentation.xml" Id="R296b73ee7ecb4cd0" /></Relationships>
</file>

<file path=ppt/presentation.xml><?xml version="1.0" encoding="utf-8"?>
<p:presentation xmlns:p="http://schemas.openxmlformats.org/presentationml/2006/main">
  <p:sldMasterIdLst>
    <p:sldMasterId xmlns:r="http://schemas.openxmlformats.org/officeDocument/2006/relationships" id="2147483648" r:id="R3ce74c240c96461e"/>
  </p:sldMasterIdLst>
  <p:notesMasterIdLst>
    <p:notesMasterId xmlns:r="http://schemas.openxmlformats.org/officeDocument/2006/relationships" r:id="Rc6146a0f9ec444e1"/>
  </p:notesMasterIdLst>
  <p:sldIdLst>
    <p:sldId xmlns:r="http://schemas.openxmlformats.org/officeDocument/2006/relationships" id="256" r:id="R014d3fe436cc4166"/>
    <p:sldId xmlns:r="http://schemas.openxmlformats.org/officeDocument/2006/relationships" id="257" r:id="R82bec09a27694b55"/>
    <p:sldId xmlns:r="http://schemas.openxmlformats.org/officeDocument/2006/relationships" id="258" r:id="Re918aec4bf844edb"/>
    <p:sldId xmlns:r="http://schemas.openxmlformats.org/officeDocument/2006/relationships" id="259" r:id="Rfa9c0382055047cc"/>
    <p:sldId xmlns:r="http://schemas.openxmlformats.org/officeDocument/2006/relationships" id="260" r:id="R9afce9c8a0874df7"/>
    <p:sldId xmlns:r="http://schemas.openxmlformats.org/officeDocument/2006/relationships" id="261" r:id="R471972a1a9204349"/>
    <p:sldId xmlns:r="http://schemas.openxmlformats.org/officeDocument/2006/relationships" id="262" r:id="R49c195ada4394c0d"/>
    <p:sldId xmlns:r="http://schemas.openxmlformats.org/officeDocument/2006/relationships" id="263" r:id="R8ed7e376c0d848a5"/>
    <p:sldId xmlns:r="http://schemas.openxmlformats.org/officeDocument/2006/relationships" id="264" r:id="Rf71ab0431c904b44"/>
    <p:sldId xmlns:r="http://schemas.openxmlformats.org/officeDocument/2006/relationships" id="265" r:id="Rd0ba3cd806064043"/>
    <p:sldId xmlns:r="http://schemas.openxmlformats.org/officeDocument/2006/relationships" id="266" r:id="R0697c046f55d470b"/>
    <p:sldId xmlns:r="http://schemas.openxmlformats.org/officeDocument/2006/relationships" id="267" r:id="R2059a8b0ef8a47c8"/>
    <p:sldId xmlns:r="http://schemas.openxmlformats.org/officeDocument/2006/relationships" id="268" r:id="Rc014279bf3ed439f"/>
    <p:sldId xmlns:r="http://schemas.openxmlformats.org/officeDocument/2006/relationships" id="269" r:id="R65b79b2c43cd4852"/>
    <p:sldId xmlns:r="http://schemas.openxmlformats.org/officeDocument/2006/relationships" id="270" r:id="R29a3a97be6364c96"/>
    <p:sldId xmlns:r="http://schemas.openxmlformats.org/officeDocument/2006/relationships" id="271" r:id="R6034456d47424f7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8d10035517a4f7f" /><Relationship Type="http://schemas.openxmlformats.org/officeDocument/2006/relationships/slideMaster" Target="/ppt/slideMasters/slideMaster1.xml" Id="R3ce74c240c96461e" /><Relationship Type="http://schemas.openxmlformats.org/officeDocument/2006/relationships/notesMaster" Target="/ppt/notesMasters/notesMaster1.xml" Id="Rc6146a0f9ec444e1" /><Relationship Type="http://schemas.openxmlformats.org/officeDocument/2006/relationships/presProps" Target="/ppt/presProps.xml" Id="R933a5a4bde44499e" /><Relationship Type="http://schemas.openxmlformats.org/officeDocument/2006/relationships/tableStyles" Target="/ppt/tableStyles.xml" Id="Re809450ae4cc4c9f" /><Relationship Type="http://schemas.openxmlformats.org/officeDocument/2006/relationships/slide" Target="/ppt/slides/slide1.xml" Id="R014d3fe436cc4166" /><Relationship Type="http://schemas.openxmlformats.org/officeDocument/2006/relationships/slide" Target="/ppt/slides/slide2.xml" Id="R82bec09a27694b55" /><Relationship Type="http://schemas.openxmlformats.org/officeDocument/2006/relationships/slide" Target="/ppt/slides/slide3.xml" Id="Re918aec4bf844edb" /><Relationship Type="http://schemas.openxmlformats.org/officeDocument/2006/relationships/slide" Target="/ppt/slides/slide4.xml" Id="Rfa9c0382055047cc" /><Relationship Type="http://schemas.openxmlformats.org/officeDocument/2006/relationships/slide" Target="/ppt/slides/slide5.xml" Id="R9afce9c8a0874df7" /><Relationship Type="http://schemas.openxmlformats.org/officeDocument/2006/relationships/slide" Target="/ppt/slides/slide6.xml" Id="R471972a1a9204349" /><Relationship Type="http://schemas.openxmlformats.org/officeDocument/2006/relationships/slide" Target="/ppt/slides/slide7.xml" Id="R49c195ada4394c0d" /><Relationship Type="http://schemas.openxmlformats.org/officeDocument/2006/relationships/slide" Target="/ppt/slides/slide8.xml" Id="R8ed7e376c0d848a5" /><Relationship Type="http://schemas.openxmlformats.org/officeDocument/2006/relationships/slide" Target="/ppt/slides/slide9.xml" Id="Rf71ab0431c904b44" /><Relationship Type="http://schemas.openxmlformats.org/officeDocument/2006/relationships/slide" Target="/ppt/slides/slide10.xml" Id="Rd0ba3cd806064043" /><Relationship Type="http://schemas.openxmlformats.org/officeDocument/2006/relationships/slide" Target="/ppt/slides/slide11.xml" Id="R0697c046f55d470b" /><Relationship Type="http://schemas.openxmlformats.org/officeDocument/2006/relationships/slide" Target="/ppt/slides/slide12.xml" Id="R2059a8b0ef8a47c8" /><Relationship Type="http://schemas.openxmlformats.org/officeDocument/2006/relationships/slide" Target="/ppt/slides/slide13.xml" Id="Rc014279bf3ed439f" /><Relationship Type="http://schemas.openxmlformats.org/officeDocument/2006/relationships/slide" Target="/ppt/slides/slide14.xml" Id="R65b79b2c43cd4852" /><Relationship Type="http://schemas.openxmlformats.org/officeDocument/2006/relationships/slide" Target="/ppt/slides/slide15.xml" Id="R29a3a97be6364c96" /><Relationship Type="http://schemas.openxmlformats.org/officeDocument/2006/relationships/slide" Target="/ppt/slides/slide16.xml" Id="R6034456d47424f7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90847ee3ba3434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3d49d6cb5304cc3" /><Relationship Type="http://schemas.openxmlformats.org/officeDocument/2006/relationships/notesMaster" Target="/ppt/notesMasters/notesMaster1.xml" Id="Ra1c2f0cd1c58445a" /></Relationships>
</file>

<file path=ppt/notesSlides/_rels/notesSlide2.xml.rels>&#65279;<?xml version="1.0" encoding="utf-8"?><Relationships xmlns="http://schemas.openxmlformats.org/package/2006/relationships"><Relationship Type="http://schemas.openxmlformats.org/officeDocument/2006/relationships/slide" Target="/ppt/slides/slide2.xml" Id="R92aa5444cbad4785" /><Relationship Type="http://schemas.openxmlformats.org/officeDocument/2006/relationships/notesMaster" Target="/ppt/notesMasters/notesMaster1.xml" Id="R03d9fa6e05cc4eb0" /></Relationships>
</file>

<file path=ppt/notesSlides/_rels/notesSlide3.xml.rels>&#65279;<?xml version="1.0" encoding="utf-8"?><Relationships xmlns="http://schemas.openxmlformats.org/package/2006/relationships"><Relationship Type="http://schemas.openxmlformats.org/officeDocument/2006/relationships/slide" Target="/ppt/slides/slide3.xml" Id="R58a63f7b245242b6" /><Relationship Type="http://schemas.openxmlformats.org/officeDocument/2006/relationships/notesMaster" Target="/ppt/notesMasters/notesMaster1.xml" Id="R235cab84b3874b75" /></Relationships>
</file>

<file path=ppt/notesSlides/_rels/notesSlide4.xml.rels>&#65279;<?xml version="1.0" encoding="utf-8"?><Relationships xmlns="http://schemas.openxmlformats.org/package/2006/relationships"><Relationship Type="http://schemas.openxmlformats.org/officeDocument/2006/relationships/slide" Target="/ppt/slides/slide4.xml" Id="Ra3bc064faeb64abc" /><Relationship Type="http://schemas.openxmlformats.org/officeDocument/2006/relationships/notesMaster" Target="/ppt/notesMasters/notesMaster1.xml" Id="Rcb71a54418c54323" /></Relationships>
</file>

<file path=ppt/notesSlides/_rels/notesSlide5.xml.rels>&#65279;<?xml version="1.0" encoding="utf-8"?><Relationships xmlns="http://schemas.openxmlformats.org/package/2006/relationships"><Relationship Type="http://schemas.openxmlformats.org/officeDocument/2006/relationships/slide" Target="/ppt/slides/slide5.xml" Id="R36e67f95e82d4c30" /><Relationship Type="http://schemas.openxmlformats.org/officeDocument/2006/relationships/notesMaster" Target="/ppt/notesMasters/notesMaster1.xml" Id="R4a28c399779e4b6f" /></Relationships>
</file>

<file path=ppt/notesSlides/_rels/notesSlide6.xml.rels>&#65279;<?xml version="1.0" encoding="utf-8"?><Relationships xmlns="http://schemas.openxmlformats.org/package/2006/relationships"><Relationship Type="http://schemas.openxmlformats.org/officeDocument/2006/relationships/slide" Target="/ppt/slides/slide6.xml" Id="R6ce9872e6fca4295" /><Relationship Type="http://schemas.openxmlformats.org/officeDocument/2006/relationships/notesMaster" Target="/ppt/notesMasters/notesMaster1.xml" Id="Ra835d82655174703" /></Relationships>
</file>

<file path=ppt/notesSlides/_rels/notesSlide7.xml.rels>&#65279;<?xml version="1.0" encoding="utf-8"?><Relationships xmlns="http://schemas.openxmlformats.org/package/2006/relationships"><Relationship Type="http://schemas.openxmlformats.org/officeDocument/2006/relationships/slide" Target="/ppt/slides/slide7.xml" Id="R4047adfc83d2451e" /><Relationship Type="http://schemas.openxmlformats.org/officeDocument/2006/relationships/notesMaster" Target="/ppt/notesMasters/notesMaster1.xml" Id="R952317dbbf2b49d2" /></Relationships>
</file>

<file path=ppt/notesSlides/_rels/notesSlide8.xml.rels>&#65279;<?xml version="1.0" encoding="utf-8"?><Relationships xmlns="http://schemas.openxmlformats.org/package/2006/relationships"><Relationship Type="http://schemas.openxmlformats.org/officeDocument/2006/relationships/slide" Target="/ppt/slides/slide8.xml" Id="R19c9602af6dc453a" /><Relationship Type="http://schemas.openxmlformats.org/officeDocument/2006/relationships/notesMaster" Target="/ppt/notesMasters/notesMaster1.xml" Id="R970c489cf4984795" /></Relationships>
</file>

<file path=ppt/notesSlides/_rels/notesSlide9.xml.rels>&#65279;<?xml version="1.0" encoding="utf-8"?><Relationships xmlns="http://schemas.openxmlformats.org/package/2006/relationships"><Relationship Type="http://schemas.openxmlformats.org/officeDocument/2006/relationships/slide" Target="/ppt/slides/slide9.xml" Id="R85426d31a0e1487c" /><Relationship Type="http://schemas.openxmlformats.org/officeDocument/2006/relationships/notesMaster" Target="/ppt/notesMasters/notesMaster1.xml" Id="R74f927681b90450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6ae47cce9dd47c7" /><Relationship Type="http://schemas.openxmlformats.org/officeDocument/2006/relationships/notesMaster" Target="/ppt/notesMasters/notesMaster1.xml" Id="R05554bc49b964d3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0cd32eaac4c46ef" /><Relationship Type="http://schemas.openxmlformats.org/officeDocument/2006/relationships/notesMaster" Target="/ppt/notesMasters/notesMaster1.xml" Id="R2f5edc306dd342c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bdcb3cdf0fa4571" /><Relationship Type="http://schemas.openxmlformats.org/officeDocument/2006/relationships/notesMaster" Target="/ppt/notesMasters/notesMaster1.xml" Id="Raa0b78c85fb748d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abbc84ef8a5478b" /><Relationship Type="http://schemas.openxmlformats.org/officeDocument/2006/relationships/notesMaster" Target="/ppt/notesMasters/notesMaster1.xml" Id="R67d9899b74aa4dd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3bf1d31178347e2" /><Relationship Type="http://schemas.openxmlformats.org/officeDocument/2006/relationships/notesMaster" Target="/ppt/notesMasters/notesMaster1.xml" Id="Re73c257e6ef4440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2a27f907e314bdd" /><Relationship Type="http://schemas.openxmlformats.org/officeDocument/2006/relationships/notesMaster" Target="/ppt/notesMasters/notesMaster1.xml" Id="R90c47b0e080b45a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80f4e501ed946f5" /><Relationship Type="http://schemas.openxmlformats.org/officeDocument/2006/relationships/notesMaster" Target="/ppt/notesMasters/notesMaster1.xml" Id="R9f5f77c65e5741e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analysis. Colour reference: https://www.alberta.ca/colour-palette. Government of Alberta blue, sky and prairie palette. No government endorsement implied. Project snapshot 31 August 2026. Source dates are retained on each evidence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Government of Alberta, Alberta Major Projects inventory, snapshot 31 August 2026. https://www.majorprojects.alberta.ca/</a:t>
            </a:r>
          </a:p>
          <a:p xmlns:a="http://schemas.openxmlformats.org/drawingml/2006/main">
            <a:r>
              <a:t>Methodology: https://majorprojects.alberta.ca/methodology</a:t>
            </a:r>
          </a:p>
          <a:p xmlns:a="http://schemas.openxmlformats.org/drawingml/2006/main">
            <a:r>
              <a:t>https://open.alberta.ca/dataset/9c81a5a7-cdf1-49ad-a923-d1ecb42944e4/resource/eaeb7a75-0c9f-4964-be53-0f1cc889ffab/download/tbf-2026-27-first-quarter-fiscal-update-economic-statement.pdf</a:t>
            </a:r>
          </a:p>
          <a:p xmlns:a="http://schemas.openxmlformats.org/drawingml/2006/main">
            <a:r>
              <a:t>The 19 core records can represent phases or multi-location programmes, rather than unique campuses. Three enabling power records are separate. Proposed status does not establish financing, procurement or construction start. The capital plan spans different asset classes and includes more than construction labour.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Government of Alberta, Alberta Major Projects inventory, snapshot 31 August 2026. https://www.majorprojects.alberta.ca/</a:t>
            </a:r>
          </a:p>
          <a:p xmlns:a="http://schemas.openxmlformats.org/drawingml/2006/main">
            <a:r>
              <a:t>Methodology: https://majorprojects.alberta.ca/methodology</a:t>
            </a:r>
          </a:p>
          <a:p xmlns:a="http://schemas.openxmlformats.org/drawingml/2006/main">
            <a:r>
              <a:t>Seven core estimated costs sum to CAD49.01B. The other 12 core records lack costs. The sum excludes CAD6.40B from three enabling power records. Amounts may include servers, land and enabling works. No uniform construction or labour share is applied. Names are shortened on the chart; the appendix carries the full record names.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Government of Alberta, Alberta Major Projects inventory, snapshot 31 August 2026. https://www.majorprojects.alberta.ca/</a:t>
            </a:r>
          </a:p>
          <a:p xmlns:a="http://schemas.openxmlformats.org/drawingml/2006/main">
            <a:r>
              <a:t>Methodology: https://majorprojects.alberta.ca/methodology</a:t>
            </a:r>
          </a:p>
          <a:p xmlns:a="http://schemas.openxmlformats.org/drawingml/2006/main">
            <a:r>
              <a:t>Only listed end years are shown. No construction duration, start date, midpoint date, commissioning period or delivery probability has been inferred. The four under-construction records include two with missing end years.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Engineering interpretation of typical data-centre construction packages. The table identifies shared resources, not measured project quantities or incremental Alberta job demand. Site location, cooling design, electrical architecture and prefabrication determine the final scope. Electrical utility connections and permitting can be separate from the building contract.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Statistics Canada, Alberta observations. Census Table 98-10-0449-01, May 2021 employed persons: https://www150.statcan.gc.ca/t1/tbl1/en/tv.action?pid=9810044901</a:t>
            </a:r>
          </a:p>
          <a:p xmlns:a="http://schemas.openxmlformats.org/drawingml/2006/main">
            <a:r>
              <a:t>Job Vacancy and Wage Survey, Table 14-10-0444-01, Q1 2026: https://www150.statcan.gc.ca/t1/tbl1/en/tv.action?pid=1410044401</a:t>
            </a:r>
          </a:p>
          <a:p xmlns:a="http://schemas.openxmlformats.org/drawingml/2006/main">
            <a:r>
              <a:t>Employment refers to May 2021 Census employed persons across industries, with random rounding, not exclusively construction. Vacancy observations refer to Q1 2026 and are not comparable enough to calculate current vacancy rates from the 2021 denominator. HVAC mechanics cover only part of the mechanical workforce. No available capacity or labour-density coefficient is inferred.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https://www.buildforce.ca/en/press-release/construction-activity-rises-in-alberta-to-2035-as-non-residential-growth-offsets-moderating-residential-demands/</a:t>
            </a:r>
          </a:p>
          <a:p xmlns:a="http://schemas.openxmlformats.org/drawingml/2006/main">
            <a:r>
              <a:t>Published Alberta forecast. Recruitment requirement 48,800 minus projected first-time local entrants 43,500 gives a potential cumulative gap of 5,300. Retirement figure 43,700 is part of the recruitment context, not an additional demand to add to 48,800. Forecasts do not attribute this gap to data centres and do not measure current idle labour.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Statistics Canada, Building construction price indexes, Table 18-10-0289-01, Calgary and Edmonton industrial-factory components, Q2 2026 year-over-year changes. https://www150.statcan.gc.ca/t1/tbl1/en/tv.action?pid=1810028901</a:t>
            </a:r>
          </a:p>
          <a:p xmlns:a="http://schemas.openxmlformats.org/drawingml/2006/main">
            <a:r>
              <a:t>Year-over-year component changes from the industrial-factory archetype. It is a proxy for construction cost conditions, not a data-centre construction price index. Figures do not measure physical material volumes or supplier spare capacity, nor identify the causal contribution of data-centre activity.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Alberta Major Projects inventory, snapshot 31 August 2026. https://www.majorprojects.alberta.ca/</a:t>
            </a:r>
          </a:p>
          <a:p xmlns:a="http://schemas.openxmlformats.org/drawingml/2006/main">
            <a:r>
              <a:t>Analytical screen: school/postsecondary, roads/transit/airports, health, power, water/resilience and government/civic categories. Records can include private ownership. Schedule overlap does not demonstrate resource competition.</a:t>
            </a:r>
          </a:p>
          <a:p xmlns:a="http://schemas.openxmlformats.org/drawingml/2006/main">
            <a:r>
              <a:t>The six categories sum to 541. Of 166 records with a known schedule overlap with 2027–2036, 92 have complete costs and schedules. Missing schedules do not imply no overlap. Counts are a screening inventory, not committed funded projects or additional spending to add to the provincial capital plan.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https://sourceblue.com/equipment-cost-index/q2-2026-cost-index-report</a:t>
            </a:r>
          </a:p>
          <a:p xmlns:a="http://schemas.openxmlformats.org/drawingml/2006/main">
            <a:r>
              <a:t>Underlying report: https://sourceblue.blob.core.windows.net/qa-sourceblue/uploads/media/1786376580684-59991e4c8f932e82.pdf</a:t>
            </a:r>
          </a:p>
          <a:p xmlns:a="http://schemas.openxmlformats.org/drawingml/2006/main">
            <a:r>
              <a:t>These are external procurement benchmarks, not assumed project durations or observed Alberta delivery commitments. Ranges vary by product and manufacturer. Confirm release-to-manufacture basis, freight, testing and installation before building a project schedule. No weeks of project delay are calculated.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DPR Construction, The Supply Chain Insights Shaping Tomorrow’s Data Centers. https://www.dpr.com/media/blog/supply-chain-insights-shaping-tomorrows-data-centers</a:t>
            </a:r>
          </a:p>
          <a:p xmlns:a="http://schemas.openxmlformats.org/drawingml/2006/main">
            <a:r>
              <a:t>DPR Construction, Supply Chain Management. https://www.dpr.com/construction/expertise/supply-chain-management</a:t>
            </a:r>
          </a:p>
          <a:p xmlns:a="http://schemas.openxmlformats.org/drawingml/2006/main">
            <a:r>
              <a:t>Recommendations are analytical applications to Alberta, without quantified savings.</a:t>
            </a:r>
          </a:p>
          <a:p xmlns:a="http://schemas.openxmlformats.org/drawingml/2006/main">
            <a:r>
              <a:t>https://sourceblue.com/equipment-cost-index/q2-2026-cost-index-report</a:t>
            </a:r>
          </a:p>
          <a:p xmlns:a="http://schemas.openxmlformats.org/drawingml/2006/main">
            <a:r>
              <a:t>Qualitative engineering and commercial analysis. Delay affects completion only if the affected path lacks sufficient float or cannot be resequenced. Cost exposure depends on procurement timing and contract terms; fixed-price owner contracts do not automatically reprice all spending. No assumed inflation rate, blanket multiplier or shortage-to-delay elasticity is applied.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DPR Construction, The Supply Chain Insights Shaping Tomorrow’s Data Centers. https://www.dpr.com/media/blog/supply-chain-insights-shaping-tomorrows-data-centers</a:t>
            </a:r>
          </a:p>
          <a:p xmlns:a="http://schemas.openxmlformats.org/drawingml/2006/main">
            <a:r>
              <a:t>DPR Construction, Supply Chain Management. https://www.dpr.com/construction/expertise/supply-chain-management</a:t>
            </a:r>
          </a:p>
          <a:p xmlns:a="http://schemas.openxmlformats.org/drawingml/2006/main">
            <a:r>
              <a:t>Recommendations are analytical applications to Alberta, without quantified savings.</a:t>
            </a:r>
          </a:p>
          <a:p xmlns:a="http://schemas.openxmlformats.org/drawingml/2006/main">
            <a:r>
              <a:t>https://www.buildforce.ca/en/press-release/construction-activity-rises-in-alberta-to-2035-as-non-residential-growth-offsets-moderating-residential-demands/</a:t>
            </a:r>
          </a:p>
          <a:p xmlns:a="http://schemas.openxmlformats.org/drawingml/2006/main">
            <a:r>
              <a:t>DPR discusses early visibility, supplier engagement, alternative sourcing and prefabrication as responses to data-centre supply-chain constraints. Application to Alberta is a recommendation, not an empirical savings estimate. Workforce partnership recommendation responds to the published Alberta recruitment outlook. Coordination does not require sharing commercially sensitive bids.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Government of Alberta, Alberta Major Projects inventory, snapshot 31 August 2026. https://www.majorprojects.alberta.ca/</a:t>
            </a:r>
          </a:p>
          <a:p xmlns:a="http://schemas.openxmlformats.org/drawingml/2006/main">
            <a:r>
              <a:t>Methodology: https://majorprojects.alberta.ca/methodology</a:t>
            </a:r>
          </a:p>
          <a:p xmlns:a="http://schemas.openxmlformats.org/drawingml/2006/main">
            <a:r>
              <a:t>https://sourceblue.com/equipment-cost-index/q2-2026-cost-index-report</a:t>
            </a:r>
          </a:p>
          <a:p xmlns:a="http://schemas.openxmlformats.org/drawingml/2006/main">
            <a:r>
              <a:t>DPR Construction, The Supply Chain Insights Shaping Tomorrow’s Data Centers. https://www.dpr.com/media/blog/supply-chain-insights-shaping-tomorrows-data-centers</a:t>
            </a:r>
          </a:p>
          <a:p xmlns:a="http://schemas.openxmlformats.org/drawingml/2006/main">
            <a:r>
              <a:t>DPR Construction, Supply Chain Management. https://www.dpr.com/construction/expertise/supply-chain-management</a:t>
            </a:r>
          </a:p>
          <a:p xmlns:a="http://schemas.openxmlformats.org/drawingml/2006/main">
            <a:r>
              <a:t>Recommendations are analytical applications to Alberta, without quantified savings.</a:t>
            </a:r>
          </a:p>
          <a:p xmlns:a="http://schemas.openxmlformats.org/drawingml/2006/main">
            <a:r>
              <a:t>Recommended project controls. These are mitigation priorities, not findings that any listed developer has failed to undertake these actions. The landscape includes mostly proposed records and incomplete delivery schedules. A province-wide incremental labour or material total cannot be established from reported investment amounts alone.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Government of Alberta, Alberta Major Projects inventory, snapshot 31 August 2026. https://www.majorprojects.alberta.ca/</a:t>
            </a:r>
          </a:p>
          <a:p xmlns:a="http://schemas.openxmlformats.org/drawingml/2006/main">
            <a:r>
              <a:t>Methodology: https://majorprojects.alberta.ca/methodology</a:t>
            </a:r>
          </a:p>
          <a:p xmlns:a="http://schemas.openxmlformats.org/drawingml/2006/main">
            <a:r>
              <a:t>Names and reported values are preserved from the dated inventory. “Construction” abbreviates the publisher’s “Under Construction” status. Start and end years are reported years without back-calculation. These records are not a confirmed delivery forecast.</a:t>
            </a:r>
          </a:p>
          <a:p xmlns:a="http://schemas.openxmlformats.org/drawingml/2006/main">
            <a:r>
              <a:t>eStruxture CAL-3 Data Centre: https://info.estruxture.com/hubfs/Data%20Sheets/eStruxture_Datasheet_CAL3%20EN%20V2%202025.pdf?__hstc=17468411.9cbf58fbaac1d56717987d205a46139e.1778703431220.1778703431220.1778703431220.1&amp;__hssc=17468411.4.1779463158036&amp;__hsfp=31c185fa9baa393ca4363973b4df6c18</a:t>
            </a:r>
          </a:p>
          <a:p xmlns:a="http://schemas.openxmlformats.org/drawingml/2006/main">
            <a:r>
              <a:t>Wonder Valley AI Data Centre Park (Phase 1): https://www.olearydigital.ai/</a:t>
            </a:r>
          </a:p>
          <a:p xmlns:a="http://schemas.openxmlformats.org/drawingml/2006/main">
            <a:r>
              <a:t>Beacon Harry Smith AI Data Centre Hub: https://beacondatacenters.com/campuses/</a:t>
            </a:r>
          </a:p>
          <a:p xmlns:a="http://schemas.openxmlformats.org/drawingml/2006/main">
            <a:r>
              <a:t>Beacon Indus Data Centre Hub: https://beacondatacenters.com/wp-content/uploads/2026/02/BEA_IndusCGY-FAQ.pdf</a:t>
            </a:r>
          </a:p>
          <a:p xmlns:a="http://schemas.openxmlformats.org/drawingml/2006/main">
            <a:r>
              <a:t>Beacon Heartland AI Data Centre Hub: https://beacondatacenters.com/campuses/</a:t>
            </a:r>
          </a:p>
          <a:p xmlns:a="http://schemas.openxmlformats.org/drawingml/2006/main">
            <a:r>
              <a:t>Beacon Saunders Lake AI Data Centre Hub: https://beacondatacenters.com/campuses/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Government of Alberta, Alberta Major Projects inventory, snapshot 31 August 2026. https://www.majorprojects.alberta.ca/</a:t>
            </a:r>
          </a:p>
          <a:p xmlns:a="http://schemas.openxmlformats.org/drawingml/2006/main">
            <a:r>
              <a:t>Methodology: https://majorprojects.alberta.ca/methodology</a:t>
            </a:r>
          </a:p>
          <a:p xmlns:a="http://schemas.openxmlformats.org/drawingml/2006/main">
            <a:r>
              <a:t>Names and reported values are preserved from the dated inventory. “Construction” abbreviates the publisher’s “Under Construction” status. Start and end years are reported years without back-calculation. These records are not a confirmed delivery forecast.</a:t>
            </a:r>
          </a:p>
          <a:p xmlns:a="http://schemas.openxmlformats.org/drawingml/2006/main">
            <a:r>
              <a:t>HubOne AI &amp; BTC High Density Compute Park: https://hub1.ca/</a:t>
            </a:r>
          </a:p>
          <a:p xmlns:a="http://schemas.openxmlformats.org/drawingml/2006/main">
            <a:r>
              <a:t>Prairie Sky Data Solutions Strathmore Data Center (Phase 1): https://www.prairieskydata.com/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Government of Alberta, Alberta Major Projects inventory, snapshot 31 August 2026. https://www.majorprojects.alberta.ca/</a:t>
            </a:r>
          </a:p>
          <a:p xmlns:a="http://schemas.openxmlformats.org/drawingml/2006/main">
            <a:r>
              <a:t>Methodology: https://majorprojects.alberta.ca/methodology</a:t>
            </a:r>
          </a:p>
          <a:p xmlns:a="http://schemas.openxmlformats.org/drawingml/2006/main">
            <a:r>
              <a:t>Names and reported values are preserved from the dated inventory. “Construction” abbreviates the publisher’s “Under Construction” status. Start and end years are reported years without back-calculation. These records are not a confirmed delivery forecast.</a:t>
            </a:r>
          </a:p>
          <a:p xmlns:a="http://schemas.openxmlformats.org/drawingml/2006/main">
            <a:r>
              <a:t>Beacon Chestermere AI Data Centre Hub: https://beacondatacenters.com/campuses/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d8626a90ecf423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8e978ec588f4d6b" /><Relationship Type="http://schemas.openxmlformats.org/officeDocument/2006/relationships/slideLayout" Target="/ppt/slideLayouts/slideLayout1.xml" Id="Rd7278aa457ed46f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7278aa457ed46f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cc72dbc6dcd4ff5" /><Relationship Type="http://schemas.openxmlformats.org/officeDocument/2006/relationships/notesSlide" Target="/ppt/notesSlides/notesSlide1.xml" Id="Re5821fe2407944a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d60bfb0efaa4e53" /><Relationship Type="http://schemas.openxmlformats.org/officeDocument/2006/relationships/chart" Target="/ppt/slides/charts/chart1.xml" Id="Rffcd16b0403f468e" /><Relationship Type="http://schemas.openxmlformats.org/officeDocument/2006/relationships/notesSlide" Target="/ppt/notesSlides/notesSlide2.xml" Id="R597ea039979a47b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3236a85057245dd" /><Relationship Type="http://schemas.openxmlformats.org/officeDocument/2006/relationships/chart" Target="/ppt/slides/charts/chart2.xml" Id="R63a2de5e0ea84dbd" /><Relationship Type="http://schemas.openxmlformats.org/officeDocument/2006/relationships/notesSlide" Target="/ppt/notesSlides/notesSlide3.xml" Id="R2810bc258e4947b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5743c5a584e4879" /><Relationship Type="http://schemas.openxmlformats.org/officeDocument/2006/relationships/notesSlide" Target="/ppt/notesSlides/notesSlide4.xml" Id="R45304ffbaa03451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2bcd51bf3a64ae0" /><Relationship Type="http://schemas.openxmlformats.org/officeDocument/2006/relationships/notesSlide" Target="/ppt/notesSlides/notesSlide5.xml" Id="R3ea446223b094d2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1f28cdb34cc4edb" /><Relationship Type="http://schemas.openxmlformats.org/officeDocument/2006/relationships/notesSlide" Target="/ppt/notesSlides/notesSlide6.xml" Id="Rfdff9e58edd14e7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ec898a74960441e" /><Relationship Type="http://schemas.openxmlformats.org/officeDocument/2006/relationships/chart" Target="/ppt/slides/charts/chart3.xml" Id="R4f56622beec54613" /><Relationship Type="http://schemas.openxmlformats.org/officeDocument/2006/relationships/notesSlide" Target="/ppt/notesSlides/notesSlide7.xml" Id="R290246862259428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9429fd615a6449e" /><Relationship Type="http://schemas.openxmlformats.org/officeDocument/2006/relationships/chart" Target="/ppt/slides/charts/chart4.xml" Id="R448a9bbfb07b4d48" /><Relationship Type="http://schemas.openxmlformats.org/officeDocument/2006/relationships/notesSlide" Target="/ppt/notesSlides/notesSlide8.xml" Id="R3fbe7b3be4584c7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151d959f98c4d0f" /><Relationship Type="http://schemas.openxmlformats.org/officeDocument/2006/relationships/chart" Target="/ppt/slides/charts/chart5.xml" Id="R33eedfb3db334a07" /><Relationship Type="http://schemas.openxmlformats.org/officeDocument/2006/relationships/notesSlide" Target="/ppt/notesSlides/notesSlide9.xml" Id="R0f490f825bca498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05da66a08dd4433" /><Relationship Type="http://schemas.openxmlformats.org/officeDocument/2006/relationships/notesSlide" Target="/ppt/notesSlides/notesSlide10.xml" Id="Rc4fd0f2287764d7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70604156bfa4567" /><Relationship Type="http://schemas.openxmlformats.org/officeDocument/2006/relationships/notesSlide" Target="/ppt/notesSlides/notesSlide11.xml" Id="Rb6eed069691a472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e6e655ba6d6433d" /><Relationship Type="http://schemas.openxmlformats.org/officeDocument/2006/relationships/notesSlide" Target="/ppt/notesSlides/notesSlide12.xml" Id="R1b9cd3993814452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351ecdd4fbf41be" /><Relationship Type="http://schemas.openxmlformats.org/officeDocument/2006/relationships/notesSlide" Target="/ppt/notesSlides/notesSlide13.xml" Id="Rfed013259fcc41b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54cb783fb124206" /><Relationship Type="http://schemas.openxmlformats.org/officeDocument/2006/relationships/notesSlide" Target="/ppt/notesSlides/notesSlide14.xml" Id="R59b704aa946d44d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e03a919cb2c469a" /><Relationship Type="http://schemas.openxmlformats.org/officeDocument/2006/relationships/notesSlide" Target="/ppt/notesSlides/notesSlide15.xml" Id="Rf1969303ef664ad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d74e0ce99e14422" /><Relationship Type="http://schemas.openxmlformats.org/officeDocument/2006/relationships/notesSlide" Target="/ppt/notesSlides/notesSlide16.xml" Id="Rf260ce64483f4f3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Data-centre records</c:v>
          </c:tx>
          <c:spPr>
            <a:solidFill xmlns:a="http://schemas.openxmlformats.org/drawingml/2006/main">
              <a:srgbClr val="0077CD"/>
            </a:solidFill>
            <a:ln xmlns:a="http://schemas.openxmlformats.org/drawingml/2006/main" w="28575">
              <a:solidFill>
                <a:srgbClr val="0077CD"/>
              </a:solidFill>
            </a:ln>
          </c:spPr>
          <c:cat>
            <c:strRef>
              <c:f>'Chart Data'!$A$2:$A$3</c:f>
              <c:strCache>
                <c:ptCount val="2"/>
                <c:pt idx="0">
                  <c:v>Proposed</c:v>
                </c:pt>
                <c:pt idx="1">
                  <c:v>Under construction</c:v>
                </c:pt>
              </c:strCache>
            </c:strRef>
          </c:cat>
          <c:val>
            <c:numRef>
              <c:f>'Chart Data'!$B$2:$B$3</c:f>
              <c:numCache>
                <c:formatCode>#,##0</c:formatCode>
                <c:ptCount val="2"/>
                <c:pt idx="0">
                  <c:v>15</c:v>
                </c:pt>
                <c:pt idx="1">
                  <c:v>4</c:v>
                </c:pt>
              </c:numCache>
            </c:numRef>
          </c:val>
        </c:ser>
        <c:dLbls>
          <c:txPr>
            <a:bodyPr xmlns:a="http://schemas.openxmlformats.org/drawingml/2006/main" anchorCtr="1"/>
            <a:lstStyle xmlns:a="http://schemas.openxmlformats.org/drawingml/2006/main"/>
            <a:p xmlns:a="http://schemas.openxmlformats.org/drawingml/2006/main">
              <a:pPr>
                <a:defRPr sz="1425">
                  <a:solidFill>
                    <a:srgbClr val="333333"/>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333333"/>
                </a:solidFill>
                <a:latin typeface="Helvetica Neue"/>
                <a:ea typeface="Helvetica Neue"/>
                <a:cs typeface="Helvetica Neue"/>
              </a:defRPr>
            </a:pPr>
          </a:p>
        </c:txPr>
        <c:crossAx val="48672768"/>
      </c:catAx>
      <c:valAx>
        <c:axId val="48672768"/>
        <c:scaling>
          <c:orientation val="minMax"/>
          <c:min val="0"/>
        </c:scaling>
        <c:delete val="0"/>
        <c:axPos val="l"/>
        <c:majorGridlines>
          <c:spPr>
            <a:ln xmlns:a="http://schemas.openxmlformats.org/drawingml/2006/main" w="4763">
              <a:solidFill>
                <a:srgbClr val="DCDCDC"/>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333333"/>
                </a:solidFill>
                <a:latin typeface="Helvetica Neue"/>
                <a:ea typeface="Helvetica Neue"/>
                <a:cs typeface="Helvetica Neue"/>
              </a:defRPr>
            </a:pPr>
          </a:p>
        </c:txPr>
        <c:crossAx val="48650112"/>
        <c:crossBetween val="between"/>
      </c:valAx>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Reported CAD billions</c:v>
          </c:tx>
          <c:spPr>
            <a:solidFill xmlns:a="http://schemas.openxmlformats.org/drawingml/2006/main">
              <a:srgbClr val="0077CD"/>
            </a:solidFill>
            <a:ln xmlns:a="http://schemas.openxmlformats.org/drawingml/2006/main" w="28575">
              <a:solidFill>
                <a:srgbClr val="0077CD"/>
              </a:solidFill>
            </a:ln>
          </c:spPr>
          <c:cat>
            <c:strRef>
              <c:f>'Chart Data'!$A$2:$A$8</c:f>
              <c:strCache>
                <c:ptCount val="7"/>
                <c:pt idx="0">
                  <c:v>Malachite One</c:v>
                </c:pt>
                <c:pt idx="1">
                  <c:v>Meta</c:v>
                </c:pt>
                <c:pt idx="2">
                  <c:v>Wonder Valley P1</c:v>
                </c:pt>
                <c:pt idx="3">
                  <c:v>Beacon Foothills</c:v>
                </c:pt>
                <c:pt idx="4">
                  <c:v>Crusoe Alberta</c:v>
                </c:pt>
                <c:pt idx="5">
                  <c:v>TNE Data District P1</c:v>
                </c:pt>
                <c:pt idx="6">
                  <c:v>eStruxture CAL-3</c:v>
                </c:pt>
              </c:strCache>
            </c:strRef>
          </c:cat>
          <c:val>
            <c:numRef>
              <c:f>'Chart Data'!$B$2:$B$8</c:f>
              <c:numCache>
                <c:formatCode>0.00</c:formatCode>
                <c:ptCount val="7"/>
                <c:pt idx="0">
                  <c:v>15</c:v>
                </c:pt>
                <c:pt idx="1">
                  <c:v>13</c:v>
                </c:pt>
                <c:pt idx="2">
                  <c:v>12</c:v>
                </c:pt>
                <c:pt idx="3">
                  <c:v>4</c:v>
                </c:pt>
                <c:pt idx="4">
                  <c:v>3</c:v>
                </c:pt>
                <c:pt idx="5">
                  <c:v>1.26</c:v>
                </c:pt>
                <c:pt idx="6">
                  <c:v>0.75</c:v>
                </c:pt>
              </c:numCache>
            </c:numRef>
          </c:val>
        </c:ser>
        <c:dLbls>
          <c:txPr>
            <a:bodyPr xmlns:a="http://schemas.openxmlformats.org/drawingml/2006/main" anchorCtr="1"/>
            <a:lstStyle xmlns:a="http://schemas.openxmlformats.org/drawingml/2006/main"/>
            <a:p xmlns:a="http://schemas.openxmlformats.org/drawingml/2006/main">
              <a:pPr>
                <a:defRPr sz="1425">
                  <a:solidFill>
                    <a:srgbClr val="333333"/>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333333"/>
                </a:solidFill>
                <a:latin typeface="Helvetica Neue"/>
                <a:ea typeface="Helvetica Neue"/>
                <a:cs typeface="Helvetica Neue"/>
              </a:defRPr>
            </a:pPr>
          </a:p>
        </c:txPr>
        <c:crossAx val="48672768"/>
      </c:catAx>
      <c:valAx>
        <c:axId val="48672768"/>
        <c:scaling>
          <c:orientation val="minMax"/>
          <c:min val="0"/>
        </c:scaling>
        <c:delete val="0"/>
        <c:axPos val="b"/>
        <c:majorGridlines>
          <c:spPr>
            <a:ln xmlns:a="http://schemas.openxmlformats.org/drawingml/2006/main" w="4763">
              <a:solidFill>
                <a:srgbClr val="DCDCDC"/>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CAD billions</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333333"/>
                </a:solidFill>
                <a:latin typeface="Helvetica Neue"/>
                <a:ea typeface="Helvetica Neue"/>
                <a:cs typeface="Helvetica Neue"/>
              </a:defRPr>
            </a:pPr>
          </a:p>
        </c:txPr>
        <c:crossAx val="48650112"/>
        <c:crossBetween val="between"/>
      </c:valAx>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Workers, cumulative forecast</c:v>
          </c:tx>
          <c:spPr>
            <a:solidFill xmlns:a="http://schemas.openxmlformats.org/drawingml/2006/main">
              <a:srgbClr val="0077CD"/>
            </a:solidFill>
            <a:ln xmlns:a="http://schemas.openxmlformats.org/drawingml/2006/main" w="28575">
              <a:solidFill>
                <a:srgbClr val="0077CD"/>
              </a:solidFill>
            </a:ln>
          </c:spPr>
          <c:cat>
            <c:strRef>
              <c:f>'Chart Data'!$A$2:$A$3</c:f>
              <c:strCache>
                <c:ptCount val="2"/>
                <c:pt idx="0">
                  <c:v>Recruitment requirement</c:v>
                </c:pt>
                <c:pt idx="1">
                  <c:v>First-time local entrants</c:v>
                </c:pt>
              </c:strCache>
            </c:strRef>
          </c:cat>
          <c:val>
            <c:numRef>
              <c:f>'Chart Data'!$B$2:$B$3</c:f>
              <c:numCache>
                <c:formatCode>#,##0</c:formatCode>
                <c:ptCount val="2"/>
                <c:pt idx="0">
                  <c:v>48800</c:v>
                </c:pt>
                <c:pt idx="1">
                  <c:v>43500</c:v>
                </c:pt>
              </c:numCache>
            </c:numRef>
          </c:val>
        </c:ser>
        <c:dLbls>
          <c:txPr>
            <a:bodyPr xmlns:a="http://schemas.openxmlformats.org/drawingml/2006/main" anchorCtr="1"/>
            <a:lstStyle xmlns:a="http://schemas.openxmlformats.org/drawingml/2006/main"/>
            <a:p xmlns:a="http://schemas.openxmlformats.org/drawingml/2006/main">
              <a:pPr>
                <a:defRPr sz="1425">
                  <a:solidFill>
                    <a:srgbClr val="333333"/>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333333"/>
                </a:solidFill>
                <a:latin typeface="Helvetica Neue"/>
                <a:ea typeface="Helvetica Neue"/>
                <a:cs typeface="Helvetica Neue"/>
              </a:defRPr>
            </a:pPr>
          </a:p>
        </c:txPr>
        <c:crossAx val="48672768"/>
      </c:catAx>
      <c:valAx>
        <c:axId val="48672768"/>
        <c:scaling>
          <c:orientation val="minMax"/>
          <c:min val="0"/>
        </c:scaling>
        <c:delete val="0"/>
        <c:axPos val="l"/>
        <c:majorGridlines>
          <c:spPr>
            <a:ln xmlns:a="http://schemas.openxmlformats.org/drawingml/2006/main" w="4763">
              <a:solidFill>
                <a:srgbClr val="DCDCDC"/>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333333"/>
                </a:solidFill>
                <a:latin typeface="Helvetica Neue"/>
                <a:ea typeface="Helvetica Neue"/>
                <a:cs typeface="Helvetica Neue"/>
              </a:defRPr>
            </a:pPr>
          </a:p>
        </c:txPr>
        <c:crossAx val="48650112"/>
        <c:crossBetween val="between"/>
      </c:valAx>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Calgary</c:v>
          </c:tx>
          <c:spPr>
            <a:solidFill xmlns:a="http://schemas.openxmlformats.org/drawingml/2006/main">
              <a:srgbClr val="0077CD"/>
            </a:solidFill>
            <a:ln xmlns:a="http://schemas.openxmlformats.org/drawingml/2006/main" w="28575">
              <a:solidFill>
                <a:srgbClr val="0077CD"/>
              </a:solidFill>
            </a:ln>
          </c:spPr>
          <c:cat>
            <c:strRef>
              <c:f>'Chart Data'!$A$2:$A$5</c:f>
              <c:strCache>
                <c:ptCount val="4"/>
                <c:pt idx="0">
                  <c:v>Concrete</c:v>
                </c:pt>
                <c:pt idx="1">
                  <c:v>Structural steel</c:v>
                </c:pt>
                <c:pt idx="2">
                  <c:v>Electrical systems</c:v>
                </c:pt>
                <c:pt idx="3">
                  <c:v>HVAC</c:v>
                </c:pt>
              </c:strCache>
            </c:strRef>
          </c:cat>
          <c:val>
            <c:numRef>
              <c:f>'Chart Data'!$B$2:$B$5</c:f>
              <c:numCache>
                <c:formatCode>0.0"%"</c:formatCode>
                <c:ptCount val="4"/>
                <c:pt idx="0">
                  <c:v>4.11</c:v>
                </c:pt>
                <c:pt idx="1">
                  <c:v>7.3</c:v>
                </c:pt>
                <c:pt idx="2">
                  <c:v>0.83</c:v>
                </c:pt>
                <c:pt idx="3">
                  <c:v>10.06</c:v>
                </c:pt>
              </c:numCache>
            </c:numRef>
          </c:val>
        </c:ser>
        <c:ser>
          <c:idx val="1"/>
          <c:order val="1"/>
          <c:tx>
            <c:v>Edmonton</c:v>
          </c:tx>
          <c:spPr>
            <a:solidFill xmlns:a="http://schemas.openxmlformats.org/drawingml/2006/main">
              <a:srgbClr val="00B6ED"/>
            </a:solidFill>
            <a:ln xmlns:a="http://schemas.openxmlformats.org/drawingml/2006/main" w="28575">
              <a:solidFill>
                <a:srgbClr val="00B6ED"/>
              </a:solidFill>
            </a:ln>
          </c:spPr>
          <c:cat>
            <c:strRef>
              <c:f>'Chart Data'!$C$2:$C$5</c:f>
              <c:strCache>
                <c:ptCount val="4"/>
                <c:pt idx="0">
                  <c:v>Concrete</c:v>
                </c:pt>
                <c:pt idx="1">
                  <c:v>Structural steel</c:v>
                </c:pt>
                <c:pt idx="2">
                  <c:v>Electrical systems</c:v>
                </c:pt>
                <c:pt idx="3">
                  <c:v>HVAC</c:v>
                </c:pt>
              </c:strCache>
            </c:strRef>
          </c:cat>
          <c:val>
            <c:numRef>
              <c:f>'Chart Data'!$D$2:$D$5</c:f>
              <c:numCache>
                <c:formatCode>0.0"%"</c:formatCode>
                <c:ptCount val="4"/>
                <c:pt idx="0">
                  <c:v>5.24</c:v>
                </c:pt>
                <c:pt idx="1">
                  <c:v>10.44</c:v>
                </c:pt>
                <c:pt idx="2">
                  <c:v>1.01</c:v>
                </c:pt>
                <c:pt idx="3">
                  <c:v>10.05</c:v>
                </c:pt>
              </c:numCache>
            </c:numRef>
          </c:val>
        </c:ser>
        <c:dLbls>
          <c:txPr>
            <a:bodyPr xmlns:a="http://schemas.openxmlformats.org/drawingml/2006/main" anchorCtr="1"/>
            <a:lstStyle xmlns:a="http://schemas.openxmlformats.org/drawingml/2006/main"/>
            <a:p xmlns:a="http://schemas.openxmlformats.org/drawingml/2006/main">
              <a:pPr>
                <a:defRPr sz="1425">
                  <a:solidFill>
                    <a:srgbClr val="333333"/>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333333"/>
                </a:solidFill>
                <a:latin typeface="Helvetica Neue"/>
                <a:ea typeface="Helvetica Neue"/>
                <a:cs typeface="Helvetica Neue"/>
              </a:defRPr>
            </a:pPr>
          </a:p>
        </c:txPr>
        <c:crossAx val="48672768"/>
      </c:catAx>
      <c:valAx>
        <c:axId val="48672768"/>
        <c:scaling>
          <c:orientation val="minMax"/>
          <c:min val="0"/>
        </c:scaling>
        <c:delete val="0"/>
        <c:axPos val="l"/>
        <c:majorGridlines>
          <c:spPr>
            <a:ln xmlns:a="http://schemas.openxmlformats.org/drawingml/2006/main" w="4763">
              <a:solidFill>
                <a:srgbClr val="DCDCDC"/>
              </a:solidFill>
            </a:ln>
          </c:spPr>
        </c:majorGridlines>
        <c:numFmt formatCode="0.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333333"/>
                </a:solidFill>
                <a:latin typeface="Helvetica Neue"/>
                <a:ea typeface="Helvetica Neue"/>
                <a:cs typeface="Helvetica Neue"/>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500">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Screened records</c:v>
          </c:tx>
          <c:spPr>
            <a:solidFill xmlns:a="http://schemas.openxmlformats.org/drawingml/2006/main">
              <a:srgbClr val="0077CD"/>
            </a:solidFill>
            <a:ln xmlns:a="http://schemas.openxmlformats.org/drawingml/2006/main" w="28575">
              <a:solidFill>
                <a:srgbClr val="0077CD"/>
              </a:solidFill>
            </a:ln>
          </c:spPr>
          <c:cat>
            <c:strRef>
              <c:f>'Chart Data'!$A$2:$A$7</c:f>
              <c:strCache>
                <c:ptCount val="6"/>
                <c:pt idx="0">
                  <c:v>School / postsecondary</c:v>
                </c:pt>
                <c:pt idx="1">
                  <c:v>Road / transit / airport</c:v>
                </c:pt>
                <c:pt idx="2">
                  <c:v>Health</c:v>
                </c:pt>
                <c:pt idx="3">
                  <c:v>Power</c:v>
                </c:pt>
                <c:pt idx="4">
                  <c:v>Water / resilience</c:v>
                </c:pt>
                <c:pt idx="5">
                  <c:v>Government / civic</c:v>
                </c:pt>
              </c:strCache>
            </c:strRef>
          </c:cat>
          <c:val>
            <c:numRef>
              <c:f>'Chart Data'!$B$2:$B$7</c:f>
              <c:numCache>
                <c:formatCode>#,##0</c:formatCode>
                <c:ptCount val="6"/>
                <c:pt idx="0">
                  <c:v>179</c:v>
                </c:pt>
                <c:pt idx="1">
                  <c:v>113</c:v>
                </c:pt>
                <c:pt idx="2">
                  <c:v>95</c:v>
                </c:pt>
                <c:pt idx="3">
                  <c:v>73</c:v>
                </c:pt>
                <c:pt idx="4">
                  <c:v>46</c:v>
                </c:pt>
                <c:pt idx="5">
                  <c:v>35</c:v>
                </c:pt>
              </c:numCache>
            </c:numRef>
          </c:val>
        </c:ser>
        <c:dLbls>
          <c:txPr>
            <a:bodyPr xmlns:a="http://schemas.openxmlformats.org/drawingml/2006/main" anchorCtr="1"/>
            <a:lstStyle xmlns:a="http://schemas.openxmlformats.org/drawingml/2006/main"/>
            <a:p xmlns:a="http://schemas.openxmlformats.org/drawingml/2006/main">
              <a:pPr>
                <a:defRPr sz="1425">
                  <a:solidFill>
                    <a:srgbClr val="333333"/>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333333"/>
                </a:solidFill>
                <a:latin typeface="Helvetica Neue"/>
                <a:ea typeface="Helvetica Neue"/>
                <a:cs typeface="Helvetica Neue"/>
              </a:defRPr>
            </a:pPr>
          </a:p>
        </c:txPr>
        <c:crossAx val="48672768"/>
      </c:catAx>
      <c:valAx>
        <c:axId val="48672768"/>
        <c:scaling>
          <c:orientation val="minMax"/>
          <c:min val="0"/>
        </c:scaling>
        <c:delete val="0"/>
        <c:axPos val="b"/>
        <c:majorGridlines>
          <c:spPr>
            <a:ln xmlns:a="http://schemas.openxmlformats.org/drawingml/2006/main" w="4763">
              <a:solidFill>
                <a:srgbClr val="DCDCDC"/>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333333"/>
                </a:solidFill>
                <a:latin typeface="Helvetica Neue"/>
                <a:ea typeface="Helvetica Neue"/>
                <a:cs typeface="Helvetica Neue"/>
              </a:defRPr>
            </a:pPr>
          </a:p>
        </c:txPr>
        <c:crossAx val="48650112"/>
        <c:crossBetween val="between"/>
      </c:valAx>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077C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17472A6-8EED-4724-833C-38107D6FFFF7}"/>
              </a:ext>
            </a:extLst>
          </p:cNvPr>
          <p:cNvSpPr>
            <a:spLocks xmlns:a="http://schemas.openxmlformats.org/drawingml/2006/main" noGrp="1"/>
          </p:cNvSpPr>
          <p:nvPr/>
        </p:nvSpPr>
        <p:spPr>
          <a:xfrm xmlns:a="http://schemas.openxmlformats.org/drawingml/2006/main">
            <a:off x="666750" y="1428750"/>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FFFFFF"/>
                </a:solidFill>
                <a:latin typeface="Helvetica Neue"/>
                <a:ea typeface="Helvetica Neue"/>
                <a:cs typeface="Helvetica Neue"/>
              </a:defRPr>
            </a:pPr>
            <a:r>
              <a:rPr sz="4950" b="1">
                <a:solidFill>
                  <a:srgbClr val="FFFFFF"/>
                </a:solidFill>
                <a:latin typeface="Helvetica Neue"/>
                <a:ea typeface="Helvetica Neue"/>
                <a:cs typeface="Helvetica Neue"/>
              </a:rPr>
              <a:t>Alberta data centres</a:t>
            </a:r>
          </a:p>
        </p:txBody>
      </p:sp>
      <p:sp>
        <p:nvSpPr>
          <p:cNvPr id="2" name="">
            <a:extLst xmlns:a="http://schemas.openxmlformats.org/drawingml/2006/main">
              <a:ext uri="{FF2B5EF4-FFF2-40B4-BE49-F238E27FC236}">
                <a16:creationId xmlns:a16="http://schemas.microsoft.com/office/drawing/2014/main" id="{590A2CB5-6428-4426-8263-E861CF2D6595}"/>
              </a:ext>
            </a:extLst>
          </p:cNvPr>
          <p:cNvSpPr>
            <a:spLocks xmlns:a="http://schemas.openxmlformats.org/drawingml/2006/main" noGrp="1"/>
          </p:cNvSpPr>
          <p:nvPr/>
        </p:nvSpPr>
        <p:spPr>
          <a:xfrm xmlns:a="http://schemas.openxmlformats.org/drawingml/2006/main">
            <a:off x="704850" y="2905125"/>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FFFFFF"/>
                </a:solidFill>
                <a:latin typeface="Helvetica Neue"/>
                <a:ea typeface="Helvetica Neue"/>
                <a:cs typeface="Helvetica Neue"/>
              </a:defRPr>
            </a:pPr>
            <a:r>
              <a:rPr sz="3300" b="0">
                <a:solidFill>
                  <a:srgbClr val="FFFFFF"/>
                </a:solidFill>
                <a:latin typeface="Helvetica Neue"/>
                <a:ea typeface="Helvetica Neue"/>
                <a:cs typeface="Helvetica Neue"/>
              </a:rPr>
              <a:t>Construction pressures and delivery priorities</a:t>
            </a:r>
          </a:p>
        </p:txBody>
      </p:sp>
      <p:sp>
        <p:nvSpPr>
          <p:cNvPr id="3" name="">
            <a:extLst xmlns:a="http://schemas.openxmlformats.org/drawingml/2006/main">
              <a:ext uri="{FF2B5EF4-FFF2-40B4-BE49-F238E27FC236}">
                <a16:creationId xmlns:a16="http://schemas.microsoft.com/office/drawing/2014/main" id="{43461A29-87D8-4AFE-8085-6C6CCD53786D}"/>
              </a:ext>
            </a:extLst>
          </p:cNvPr>
          <p:cNvSpPr>
            <a:spLocks xmlns:a="http://schemas.openxmlformats.org/drawingml/2006/main" noGrp="1"/>
          </p:cNvSpPr>
          <p:nvPr/>
        </p:nvSpPr>
        <p:spPr>
          <a:xfrm xmlns:a="http://schemas.openxmlformats.org/drawingml/2006/main">
            <a:off x="704850" y="5238750"/>
            <a:ext cx="714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FFF"/>
                </a:solidFill>
                <a:latin typeface="Helvetica Neue"/>
                <a:ea typeface="Helvetica Neue"/>
                <a:cs typeface="Helvetica Neue"/>
              </a:defRPr>
            </a:pPr>
            <a:r>
              <a:rPr sz="1875" b="0">
                <a:solidFill>
                  <a:srgbClr val="FFFFFF"/>
                </a:solidFill>
                <a:latin typeface="Helvetica Neue"/>
                <a:ea typeface="Helvetica Neue"/>
                <a:cs typeface="Helvetica Neue"/>
              </a:rPr>
              <a:t>September 2026</a:t>
            </a:r>
          </a:p>
        </p:txBody>
      </p:sp>
    </p:spTree>
    <p:extLst>
      <p:ext uri="{BB962C8B-B14F-4D97-AF65-F5344CB8AC3E}">
        <p14:creationId xmlns:p14="http://schemas.microsoft.com/office/powerpoint/2010/main" val="58701909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91E7E9A-152A-4C9F-8EB5-A74AE83AEEE2}"/>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A proposed pipeline meets an active construction market</a:t>
            </a:r>
          </a:p>
        </p:txBody>
      </p:sp>
      <p:sp>
        <p:nvSpPr>
          <p:cNvPr id="2" name="">
            <a:extLst xmlns:a="http://schemas.openxmlformats.org/drawingml/2006/main">
              <a:ext uri="{FF2B5EF4-FFF2-40B4-BE49-F238E27FC236}">
                <a16:creationId xmlns:a16="http://schemas.microsoft.com/office/drawing/2014/main" id="{9528D027-D032-408D-B5AA-732453FD97D9}"/>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19 identified data-centre records sit alongside substantial infrastructure investment.</a:t>
            </a:r>
          </a:p>
        </p:txBody>
      </p:sp>
      <p:sp>
        <p:nvSpPr>
          <p:cNvPr id="3" name="">
            <a:extLst xmlns:a="http://schemas.openxmlformats.org/drawingml/2006/main">
              <a:ext uri="{FF2B5EF4-FFF2-40B4-BE49-F238E27FC236}">
                <a16:creationId xmlns:a16="http://schemas.microsoft.com/office/drawing/2014/main" id="{694CC753-5CE7-4E22-9E2C-D197E876DC54}"/>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Sources: Alberta Major Projects, 31 Aug 2026; Alberta first-quarter fiscal update, 2026–27</a:t>
            </a:r>
          </a:p>
        </p:txBody>
      </p:sp>
      <p:sp>
        <p:nvSpPr>
          <p:cNvPr id="4" name="">
            <a:extLst xmlns:a="http://schemas.openxmlformats.org/drawingml/2006/main">
              <a:ext uri="{FF2B5EF4-FFF2-40B4-BE49-F238E27FC236}">
                <a16:creationId xmlns:a16="http://schemas.microsoft.com/office/drawing/2014/main" id="{BCC1DCCA-90C5-4764-B8BD-23C44BDE7844}"/>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2</a:t>
            </a:r>
          </a:p>
        </p:txBody>
      </p:sp>
      <p:graphicFrame>
        <p:nvGraphicFramePr>
          <p:cNvPr id="13" name="Chart"/>
          <p:cNvGraphicFramePr/>
          <p:nvPr/>
        </p:nvGraphicFramePr>
        <p:xfrm>
          <a:off xmlns:a="http://schemas.openxmlformats.org/drawingml/2006/main" x="609600" y="2286000"/>
          <a:ext xmlns:a="http://schemas.openxmlformats.org/drawingml/2006/main" cx="6572250" cy="3238500"/>
        </p:xfrm>
        <a:graphic xmlns:a="http://schemas.openxmlformats.org/drawingml/2006/main">
          <a:graphicData uri="http://schemas.openxmlformats.org/drawingml/2006/chart">
            <c:chart xmlns:r="http://schemas.openxmlformats.org/officeDocument/2006/relationships" xmlns:c="http://schemas.openxmlformats.org/drawingml/2006/chart" r:id="Rffcd16b0403f468e"/>
          </a:graphicData>
        </a:graphic>
      </p:graphicFrame>
      <p:sp>
        <p:nvSpPr>
          <p:cNvPr id="6" name="">
            <a:extLst xmlns:a="http://schemas.openxmlformats.org/drawingml/2006/main">
              <a:ext uri="{FF2B5EF4-FFF2-40B4-BE49-F238E27FC236}">
                <a16:creationId xmlns:a16="http://schemas.microsoft.com/office/drawing/2014/main" id="{2845D21C-FC87-4024-AFE6-529C6235F51D}"/>
              </a:ext>
            </a:extLst>
          </p:cNvPr>
          <p:cNvSpPr>
            <a:spLocks xmlns:a="http://schemas.openxmlformats.org/drawingml/2006/main" noGrp="1"/>
          </p:cNvSpPr>
          <p:nvPr/>
        </p:nvSpPr>
        <p:spPr>
          <a:xfrm xmlns:a="http://schemas.openxmlformats.org/drawingml/2006/main">
            <a:off x="7953375" y="2333625"/>
            <a:ext cx="352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1">
                <a:solidFill>
                  <a:srgbClr val="0077CD"/>
                </a:solidFill>
                <a:latin typeface="Helvetica Neue"/>
                <a:ea typeface="Helvetica Neue"/>
                <a:cs typeface="Helvetica Neue"/>
              </a:defRPr>
            </a:pPr>
            <a:r>
              <a:rPr sz="3750" b="1">
                <a:solidFill>
                  <a:srgbClr val="0077CD"/>
                </a:solidFill>
                <a:latin typeface="Helvetica Neue"/>
                <a:ea typeface="Helvetica Neue"/>
                <a:cs typeface="Helvetica Neue"/>
              </a:rPr>
              <a:t>$10.687B</a:t>
            </a:r>
          </a:p>
        </p:txBody>
      </p:sp>
      <p:sp>
        <p:nvSpPr>
          <p:cNvPr id="7" name="">
            <a:extLst xmlns:a="http://schemas.openxmlformats.org/drawingml/2006/main">
              <a:ext uri="{FF2B5EF4-FFF2-40B4-BE49-F238E27FC236}">
                <a16:creationId xmlns:a16="http://schemas.microsoft.com/office/drawing/2014/main" id="{B38D4031-911F-43AA-838E-EF5F52E59AF9}"/>
              </a:ext>
            </a:extLst>
          </p:cNvPr>
          <p:cNvSpPr>
            <a:spLocks xmlns:a="http://schemas.openxmlformats.org/drawingml/2006/main" noGrp="1"/>
          </p:cNvSpPr>
          <p:nvPr/>
        </p:nvSpPr>
        <p:spPr>
          <a:xfrm xmlns:a="http://schemas.openxmlformats.org/drawingml/2006/main">
            <a:off x="7953375" y="3143250"/>
            <a:ext cx="3524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333333"/>
                </a:solidFill>
                <a:latin typeface="Helvetica Neue"/>
                <a:ea typeface="Helvetica Neue"/>
                <a:cs typeface="Helvetica Neue"/>
              </a:defRPr>
            </a:pPr>
            <a:r>
              <a:rPr sz="2100" b="0">
                <a:solidFill>
                  <a:srgbClr val="333333"/>
                </a:solidFill>
                <a:latin typeface="Helvetica Neue"/>
                <a:ea typeface="Helvetica Neue"/>
                <a:cs typeface="Helvetica Neue"/>
              </a:rPr>
              <a:t>Updated Alberta capital plan for FY2026–27</a:t>
            </a:r>
          </a:p>
        </p:txBody>
      </p:sp>
      <p:sp>
        <p:nvSpPr>
          <p:cNvPr id="8" name="">
            <a:extLst xmlns:a="http://schemas.openxmlformats.org/drawingml/2006/main">
              <a:ext uri="{FF2B5EF4-FFF2-40B4-BE49-F238E27FC236}">
                <a16:creationId xmlns:a16="http://schemas.microsoft.com/office/drawing/2014/main" id="{E59B178B-36DD-4610-910E-3555439E61FC}"/>
              </a:ext>
            </a:extLst>
          </p:cNvPr>
          <p:cNvSpPr>
            <a:spLocks xmlns:a="http://schemas.openxmlformats.org/drawingml/2006/main" noGrp="1"/>
          </p:cNvSpPr>
          <p:nvPr/>
        </p:nvSpPr>
        <p:spPr>
          <a:xfrm xmlns:a="http://schemas.openxmlformats.org/drawingml/2006/main">
            <a:off x="7953375" y="4591050"/>
            <a:ext cx="3524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333333"/>
                </a:solidFill>
                <a:latin typeface="Helvetica Neue"/>
                <a:ea typeface="Helvetica Neue"/>
                <a:cs typeface="Helvetica Neue"/>
              </a:defRPr>
            </a:pPr>
            <a:r>
              <a:rPr sz="2025" b="0">
                <a:solidFill>
                  <a:srgbClr val="333333"/>
                </a:solidFill>
                <a:latin typeface="Helvetica Neue"/>
                <a:ea typeface="Helvetica Neue"/>
                <a:cs typeface="Helvetica Neue"/>
              </a:rPr>
              <a:t>Shared trades and suppliers create potential competition as projects advance.</a:t>
            </a:r>
          </a:p>
        </p:txBody>
      </p:sp>
    </p:spTree>
    <p:extLst>
      <p:ext uri="{BB962C8B-B14F-4D97-AF65-F5344CB8AC3E}">
        <p14:creationId xmlns:p14="http://schemas.microsoft.com/office/powerpoint/2010/main" val="2447583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DE99764-751A-4B2D-BDB7-CF8E1DA40CF0}"/>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Seven reported projects account for $49.01B</a:t>
            </a:r>
          </a:p>
        </p:txBody>
      </p:sp>
      <p:sp>
        <p:nvSpPr>
          <p:cNvPr id="2" name="">
            <a:extLst xmlns:a="http://schemas.openxmlformats.org/drawingml/2006/main">
              <a:ext uri="{FF2B5EF4-FFF2-40B4-BE49-F238E27FC236}">
                <a16:creationId xmlns:a16="http://schemas.microsoft.com/office/drawing/2014/main" id="{7F236711-238C-458E-AFB2-63EC07D9A63F}"/>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Reported investment estimates, CAD billions.</a:t>
            </a:r>
          </a:p>
        </p:txBody>
      </p:sp>
      <p:sp>
        <p:nvSpPr>
          <p:cNvPr id="3" name="">
            <a:extLst xmlns:a="http://schemas.openxmlformats.org/drawingml/2006/main">
              <a:ext uri="{FF2B5EF4-FFF2-40B4-BE49-F238E27FC236}">
                <a16:creationId xmlns:a16="http://schemas.microsoft.com/office/drawing/2014/main" id="{0BCD7B35-F8AF-42D7-914F-F96E14AF280C}"/>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Source: Alberta Major Projects, 31 Aug 2026. Twelve additional core records have no reported cost.</a:t>
            </a:r>
          </a:p>
        </p:txBody>
      </p:sp>
      <p:sp>
        <p:nvSpPr>
          <p:cNvPr id="4" name="">
            <a:extLst xmlns:a="http://schemas.openxmlformats.org/drawingml/2006/main">
              <a:ext uri="{FF2B5EF4-FFF2-40B4-BE49-F238E27FC236}">
                <a16:creationId xmlns:a16="http://schemas.microsoft.com/office/drawing/2014/main" id="{17FD81E8-926A-426E-AD14-A3084286AC00}"/>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3</a:t>
            </a:r>
          </a:p>
        </p:txBody>
      </p:sp>
      <p:graphicFrame>
        <p:nvGraphicFramePr>
          <p:cNvPr id="11" name="Chart"/>
          <p:cNvGraphicFramePr/>
          <p:nvPr/>
        </p:nvGraphicFramePr>
        <p:xfrm>
          <a:off xmlns:a="http://schemas.openxmlformats.org/drawingml/2006/main" x="609600" y="2095500"/>
          <a:ext xmlns:a="http://schemas.openxmlformats.org/drawingml/2006/main" cx="10972800" cy="3667125"/>
        </p:xfrm>
        <a:graphic xmlns:a="http://schemas.openxmlformats.org/drawingml/2006/main">
          <a:graphicData uri="http://schemas.openxmlformats.org/drawingml/2006/chart">
            <c:chart xmlns:r="http://schemas.openxmlformats.org/officeDocument/2006/relationships" xmlns:c="http://schemas.openxmlformats.org/drawingml/2006/chart" r:id="R63a2de5e0ea84dbd"/>
          </a:graphicData>
        </a:graphic>
      </p:graphicFrame>
      <p:sp>
        <p:nvSpPr>
          <p:cNvPr id="6" name="">
            <a:extLst xmlns:a="http://schemas.openxmlformats.org/drawingml/2006/main">
              <a:ext uri="{FF2B5EF4-FFF2-40B4-BE49-F238E27FC236}">
                <a16:creationId xmlns:a16="http://schemas.microsoft.com/office/drawing/2014/main" id="{6F5DDF2B-17CE-4214-8551-27CD402C5726}"/>
              </a:ext>
            </a:extLst>
          </p:cNvPr>
          <p:cNvSpPr>
            <a:spLocks xmlns:a="http://schemas.openxmlformats.org/drawingml/2006/main" noGrp="1"/>
          </p:cNvSpPr>
          <p:nvPr/>
        </p:nvSpPr>
        <p:spPr>
          <a:xfrm xmlns:a="http://schemas.openxmlformats.org/drawingml/2006/main">
            <a:off x="609600" y="5829300"/>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02C4E"/>
                </a:solidFill>
                <a:latin typeface="Helvetica Neue"/>
                <a:ea typeface="Helvetica Neue"/>
                <a:cs typeface="Helvetica Neue"/>
              </a:defRPr>
            </a:pPr>
            <a:r>
              <a:rPr sz="1725" b="1">
                <a:solidFill>
                  <a:srgbClr val="002C4E"/>
                </a:solidFill>
                <a:latin typeface="Helvetica Neue"/>
                <a:ea typeface="Helvetica Neue"/>
                <a:cs typeface="Helvetica Neue"/>
              </a:rPr>
              <a:t>These headline estimates have different scopes and are not committed construction spending.</a:t>
            </a:r>
          </a:p>
        </p:txBody>
      </p:sp>
    </p:spTree>
    <p:extLst>
      <p:ext uri="{BB962C8B-B14F-4D97-AF65-F5344CB8AC3E}">
        <p14:creationId xmlns:p14="http://schemas.microsoft.com/office/powerpoint/2010/main" val="168164955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F962810-337A-4C05-8108-225BF39ED5A4}"/>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Published completion years span 2026 to 2030</a:t>
            </a:r>
          </a:p>
        </p:txBody>
      </p:sp>
      <p:sp>
        <p:nvSpPr>
          <p:cNvPr id="2" name="">
            <a:extLst xmlns:a="http://schemas.openxmlformats.org/drawingml/2006/main">
              <a:ext uri="{FF2B5EF4-FFF2-40B4-BE49-F238E27FC236}">
                <a16:creationId xmlns:a16="http://schemas.microsoft.com/office/drawing/2014/main" id="{D50A1ACF-650F-47B3-B7AD-D4A4A2E22995}"/>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Six of the 19 core records report a completion year.</a:t>
            </a:r>
          </a:p>
        </p:txBody>
      </p:sp>
      <p:sp>
        <p:nvSpPr>
          <p:cNvPr id="3" name="">
            <a:extLst xmlns:a="http://schemas.openxmlformats.org/drawingml/2006/main">
              <a:ext uri="{FF2B5EF4-FFF2-40B4-BE49-F238E27FC236}">
                <a16:creationId xmlns:a16="http://schemas.microsoft.com/office/drawing/2014/main" id="{C38D49A3-434E-4E2F-ABF9-B58C839B69DB}"/>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Source: Alberta Major Projects, 31 Aug 2026. Reported years are estimates, not verified operating dates.</a:t>
            </a:r>
          </a:p>
        </p:txBody>
      </p:sp>
      <p:sp>
        <p:nvSpPr>
          <p:cNvPr id="4" name="">
            <a:extLst xmlns:a="http://schemas.openxmlformats.org/drawingml/2006/main">
              <a:ext uri="{FF2B5EF4-FFF2-40B4-BE49-F238E27FC236}">
                <a16:creationId xmlns:a16="http://schemas.microsoft.com/office/drawing/2014/main" id="{1C7D6F32-A94B-487F-A572-88E0575B35B5}"/>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4</a:t>
            </a:r>
          </a:p>
        </p:txBody>
      </p:sp>
      <p:graphicFrame>
        <p:nvGraphicFramePr>
          <p:cNvPr id="11" name=""/>
          <p:cNvGraphicFramePr/>
          <p:nvPr/>
        </p:nvGraphicFramePr>
        <p:xfrm>
          <a:off xmlns:a="http://schemas.openxmlformats.org/drawingml/2006/main" x="609600" y="2095500"/>
          <a:ext xmlns:a="http://schemas.openxmlformats.org/drawingml/2006/main" cx="10972800" cy="3286125"/>
        </p:xfrm>
        <a:graphic xmlns:a="http://schemas.openxmlformats.org/drawingml/2006/main">
          <a:graphicData uri="http://schemas.openxmlformats.org/drawingml/2006/table">
            <a:tbl>
              <a:tblPr/>
              <a:tblGrid>
                <a:gridCol w="6858000"/>
                <a:gridCol w="2476500"/>
                <a:gridCol w="1638300"/>
              </a:tblGrid>
              <a:tr h="469446">
                <a:tc>
                  <a:txBody>
                    <a:bodyPr/>
                    <a:lstStyle/>
                    <a:p>
                      <a:r>
                        <a:rPr sz="1575" b="1">
                          <a:solidFill>
                            <a:srgbClr val="FFFFFF"/>
                          </a:solidFill>
                          <a:latin typeface="Helvetica Neue"/>
                          <a:ea typeface="Helvetica Neue"/>
                          <a:cs typeface="Helvetica Neue"/>
                        </a:rPr>
                        <a:t>Project / phase</a:t>
                      </a:r>
                    </a:p>
                  </a:txBody>
                  <a:tcPr marL="91440" marR="91440" marT="45720" marB="45720">
                    <a:solidFill>
                      <a:srgbClr val="0077CD"/>
                    </a:solidFill>
                  </a:tcPr>
                </a:tc>
                <a:tc>
                  <a:txBody>
                    <a:bodyPr/>
                    <a:lstStyle/>
                    <a:p>
                      <a:r>
                        <a:rPr sz="1575" b="1">
                          <a:solidFill>
                            <a:srgbClr val="FFFFFF"/>
                          </a:solidFill>
                          <a:latin typeface="Helvetica Neue"/>
                          <a:ea typeface="Helvetica Neue"/>
                          <a:cs typeface="Helvetica Neue"/>
                        </a:rPr>
                        <a:t>Reported stage</a:t>
                      </a:r>
                    </a:p>
                  </a:txBody>
                  <a:tcPr marL="91440" marR="91440" marT="45720" marB="45720">
                    <a:solidFill>
                      <a:srgbClr val="0077CD"/>
                    </a:solidFill>
                  </a:tcPr>
                </a:tc>
                <a:tc>
                  <a:txBody>
                    <a:bodyPr/>
                    <a:lstStyle/>
                    <a:p>
                      <a:r>
                        <a:rPr sz="1575" b="1">
                          <a:solidFill>
                            <a:srgbClr val="FFFFFF"/>
                          </a:solidFill>
                          <a:latin typeface="Helvetica Neue"/>
                          <a:ea typeface="Helvetica Neue"/>
                          <a:cs typeface="Helvetica Neue"/>
                        </a:rPr>
                        <a:t>Completion year</a:t>
                      </a:r>
                    </a:p>
                  </a:txBody>
                  <a:tcPr marL="91440" marR="91440" marT="45720" marB="45720">
                    <a:solidFill>
                      <a:srgbClr val="0077CD"/>
                    </a:solidFill>
                  </a:tcPr>
                </a:tc>
              </a:tr>
              <a:tr h="469446">
                <a:tc>
                  <a:txBody>
                    <a:bodyPr/>
                    <a:lstStyle/>
                    <a:p>
                      <a:r>
                        <a:rPr sz="1575" b="0">
                          <a:solidFill>
                            <a:srgbClr val="333333"/>
                          </a:solidFill>
                          <a:latin typeface="Helvetica Neue"/>
                          <a:ea typeface="Helvetica Neue"/>
                          <a:cs typeface="Helvetica Neue"/>
                        </a:rPr>
                        <a:t>eStruxture CAL-3 Data Centre</a:t>
                      </a:r>
                    </a:p>
                  </a:txBody>
                  <a:tcPr marL="91440" marR="91440" marT="45720" marB="45720">
                    <a:solidFill>
                      <a:srgbClr val="FFFFFF"/>
                    </a:solidFill>
                  </a:tcPr>
                </a:tc>
                <a:tc>
                  <a:txBody>
                    <a:bodyPr/>
                    <a:lstStyle/>
                    <a:p>
                      <a:r>
                        <a:rPr sz="1575" b="0">
                          <a:solidFill>
                            <a:srgbClr val="333333"/>
                          </a:solidFill>
                          <a:latin typeface="Helvetica Neue"/>
                          <a:ea typeface="Helvetica Neue"/>
                          <a:cs typeface="Helvetica Neue"/>
                        </a:rPr>
                        <a:t>Under construction</a:t>
                      </a:r>
                    </a:p>
                  </a:txBody>
                  <a:tcPr marL="91440" marR="91440" marT="45720" marB="45720">
                    <a:solidFill>
                      <a:srgbClr val="FFFFFF"/>
                    </a:solidFill>
                  </a:tcPr>
                </a:tc>
                <a:tc>
                  <a:txBody>
                    <a:bodyPr/>
                    <a:lstStyle/>
                    <a:p>
                      <a:r>
                        <a:rPr sz="1575" b="0">
                          <a:solidFill>
                            <a:srgbClr val="333333"/>
                          </a:solidFill>
                          <a:latin typeface="Helvetica Neue"/>
                          <a:ea typeface="Helvetica Neue"/>
                          <a:cs typeface="Helvetica Neue"/>
                        </a:rPr>
                        <a:t>2026</a:t>
                      </a:r>
                    </a:p>
                  </a:txBody>
                  <a:tcPr marL="91440" marR="91440" marT="45720" marB="45720">
                    <a:solidFill>
                      <a:srgbClr val="FFFFFF"/>
                    </a:solidFill>
                  </a:tcPr>
                </a:tc>
              </a:tr>
              <a:tr h="469446">
                <a:tc>
                  <a:txBody>
                    <a:bodyPr/>
                    <a:lstStyle/>
                    <a:p>
                      <a:r>
                        <a:rPr sz="1575" b="0">
                          <a:solidFill>
                            <a:srgbClr val="333333"/>
                          </a:solidFill>
                          <a:latin typeface="Helvetica Neue"/>
                          <a:ea typeface="Helvetica Neue"/>
                          <a:cs typeface="Helvetica Neue"/>
                        </a:rPr>
                        <a:t>Prairie Sky Data Solutions Strathmore Data Center (Phase 1)</a:t>
                      </a:r>
                    </a:p>
                  </a:txBody>
                  <a:tcPr marL="91440" marR="91440" marT="45720" marB="45720">
                    <a:solidFill>
                      <a:srgbClr val="F2F2F2"/>
                    </a:solidFill>
                  </a:tcPr>
                </a:tc>
                <a:tc>
                  <a:txBody>
                    <a:bodyPr/>
                    <a:lstStyle/>
                    <a:p>
                      <a:r>
                        <a:rPr sz="1575" b="0">
                          <a:solidFill>
                            <a:srgbClr val="333333"/>
                          </a:solidFill>
                          <a:latin typeface="Helvetica Neue"/>
                          <a:ea typeface="Helvetica Neue"/>
                          <a:cs typeface="Helvetica Neue"/>
                        </a:rPr>
                        <a:t>Proposed</a:t>
                      </a:r>
                    </a:p>
                  </a:txBody>
                  <a:tcPr marL="91440" marR="91440" marT="45720" marB="45720">
                    <a:solidFill>
                      <a:srgbClr val="F2F2F2"/>
                    </a:solidFill>
                  </a:tcPr>
                </a:tc>
                <a:tc>
                  <a:txBody>
                    <a:bodyPr/>
                    <a:lstStyle/>
                    <a:p>
                      <a:r>
                        <a:rPr sz="1575" b="0">
                          <a:solidFill>
                            <a:srgbClr val="333333"/>
                          </a:solidFill>
                          <a:latin typeface="Helvetica Neue"/>
                          <a:ea typeface="Helvetica Neue"/>
                          <a:cs typeface="Helvetica Neue"/>
                        </a:rPr>
                        <a:t>2026</a:t>
                      </a:r>
                    </a:p>
                  </a:txBody>
                  <a:tcPr marL="91440" marR="91440" marT="45720" marB="45720">
                    <a:solidFill>
                      <a:srgbClr val="F2F2F2"/>
                    </a:solidFill>
                  </a:tcPr>
                </a:tc>
              </a:tr>
              <a:tr h="469446">
                <a:tc>
                  <a:txBody>
                    <a:bodyPr/>
                    <a:lstStyle/>
                    <a:p>
                      <a:r>
                        <a:rPr sz="1575" b="0">
                          <a:solidFill>
                            <a:srgbClr val="333333"/>
                          </a:solidFill>
                          <a:latin typeface="Helvetica Neue"/>
                          <a:ea typeface="Helvetica Neue"/>
                          <a:cs typeface="Helvetica Neue"/>
                        </a:rPr>
                        <a:t>Blindman Industrial Park AI Data Centre</a:t>
                      </a:r>
                    </a:p>
                  </a:txBody>
                  <a:tcPr marL="91440" marR="91440" marT="45720" marB="45720">
                    <a:solidFill>
                      <a:srgbClr val="FFFFFF"/>
                    </a:solidFill>
                  </a:tcPr>
                </a:tc>
                <a:tc>
                  <a:txBody>
                    <a:bodyPr/>
                    <a:lstStyle/>
                    <a:p>
                      <a:r>
                        <a:rPr sz="1575" b="0">
                          <a:solidFill>
                            <a:srgbClr val="333333"/>
                          </a:solidFill>
                          <a:latin typeface="Helvetica Neue"/>
                          <a:ea typeface="Helvetica Neue"/>
                          <a:cs typeface="Helvetica Neue"/>
                        </a:rPr>
                        <a:t>Under construction</a:t>
                      </a:r>
                    </a:p>
                  </a:txBody>
                  <a:tcPr marL="91440" marR="91440" marT="45720" marB="45720">
                    <a:solidFill>
                      <a:srgbClr val="FFFFFF"/>
                    </a:solidFill>
                  </a:tcPr>
                </a:tc>
                <a:tc>
                  <a:txBody>
                    <a:bodyPr/>
                    <a:lstStyle/>
                    <a:p>
                      <a:r>
                        <a:rPr sz="1575" b="0">
                          <a:solidFill>
                            <a:srgbClr val="333333"/>
                          </a:solidFill>
                          <a:latin typeface="Helvetica Neue"/>
                          <a:ea typeface="Helvetica Neue"/>
                          <a:cs typeface="Helvetica Neue"/>
                        </a:rPr>
                        <a:t>2026</a:t>
                      </a:r>
                    </a:p>
                  </a:txBody>
                  <a:tcPr marL="91440" marR="91440" marT="45720" marB="45720">
                    <a:solidFill>
                      <a:srgbClr val="FFFFFF"/>
                    </a:solidFill>
                  </a:tcPr>
                </a:tc>
              </a:tr>
              <a:tr h="469446">
                <a:tc>
                  <a:txBody>
                    <a:bodyPr/>
                    <a:lstStyle/>
                    <a:p>
                      <a:r>
                        <a:rPr sz="1575" b="0">
                          <a:solidFill>
                            <a:srgbClr val="333333"/>
                          </a:solidFill>
                          <a:latin typeface="Helvetica Neue"/>
                          <a:ea typeface="Helvetica Neue"/>
                          <a:cs typeface="Helvetica Neue"/>
                        </a:rPr>
                        <a:t>Beacon Heartland AI Data Centre Hub</a:t>
                      </a:r>
                    </a:p>
                  </a:txBody>
                  <a:tcPr marL="91440" marR="91440" marT="45720" marB="45720">
                    <a:solidFill>
                      <a:srgbClr val="F2F2F2"/>
                    </a:solidFill>
                  </a:tcPr>
                </a:tc>
                <a:tc>
                  <a:txBody>
                    <a:bodyPr/>
                    <a:lstStyle/>
                    <a:p>
                      <a:r>
                        <a:rPr sz="1575" b="0">
                          <a:solidFill>
                            <a:srgbClr val="333333"/>
                          </a:solidFill>
                          <a:latin typeface="Helvetica Neue"/>
                          <a:ea typeface="Helvetica Neue"/>
                          <a:cs typeface="Helvetica Neue"/>
                        </a:rPr>
                        <a:t>Proposed</a:t>
                      </a:r>
                    </a:p>
                  </a:txBody>
                  <a:tcPr marL="91440" marR="91440" marT="45720" marB="45720">
                    <a:solidFill>
                      <a:srgbClr val="F2F2F2"/>
                    </a:solidFill>
                  </a:tcPr>
                </a:tc>
                <a:tc>
                  <a:txBody>
                    <a:bodyPr/>
                    <a:lstStyle/>
                    <a:p>
                      <a:r>
                        <a:rPr sz="1575" b="0">
                          <a:solidFill>
                            <a:srgbClr val="333333"/>
                          </a:solidFill>
                          <a:latin typeface="Helvetica Neue"/>
                          <a:ea typeface="Helvetica Neue"/>
                          <a:cs typeface="Helvetica Neue"/>
                        </a:rPr>
                        <a:t>2027</a:t>
                      </a:r>
                    </a:p>
                  </a:txBody>
                  <a:tcPr marL="91440" marR="91440" marT="45720" marB="45720">
                    <a:solidFill>
                      <a:srgbClr val="F2F2F2"/>
                    </a:solidFill>
                  </a:tcPr>
                </a:tc>
              </a:tr>
              <a:tr h="469446">
                <a:tc>
                  <a:txBody>
                    <a:bodyPr/>
                    <a:lstStyle/>
                    <a:p>
                      <a:r>
                        <a:rPr sz="1575" b="0">
                          <a:solidFill>
                            <a:srgbClr val="333333"/>
                          </a:solidFill>
                          <a:latin typeface="Helvetica Neue"/>
                          <a:ea typeface="Helvetica Neue"/>
                          <a:cs typeface="Helvetica Neue"/>
                        </a:rPr>
                        <a:t>Beacon Chestermere AI Data Centre Hub</a:t>
                      </a:r>
                    </a:p>
                  </a:txBody>
                  <a:tcPr marL="91440" marR="91440" marT="45720" marB="45720">
                    <a:solidFill>
                      <a:srgbClr val="FFFFFF"/>
                    </a:solidFill>
                  </a:tcPr>
                </a:tc>
                <a:tc>
                  <a:txBody>
                    <a:bodyPr/>
                    <a:lstStyle/>
                    <a:p>
                      <a:r>
                        <a:rPr sz="1575" b="0">
                          <a:solidFill>
                            <a:srgbClr val="333333"/>
                          </a:solidFill>
                          <a:latin typeface="Helvetica Neue"/>
                          <a:ea typeface="Helvetica Neue"/>
                          <a:cs typeface="Helvetica Neue"/>
                        </a:rPr>
                        <a:t>Proposed</a:t>
                      </a:r>
                    </a:p>
                  </a:txBody>
                  <a:tcPr marL="91440" marR="91440" marT="45720" marB="45720">
                    <a:solidFill>
                      <a:srgbClr val="FFFFFF"/>
                    </a:solidFill>
                  </a:tcPr>
                </a:tc>
                <a:tc>
                  <a:txBody>
                    <a:bodyPr/>
                    <a:lstStyle/>
                    <a:p>
                      <a:r>
                        <a:rPr sz="1575" b="0">
                          <a:solidFill>
                            <a:srgbClr val="333333"/>
                          </a:solidFill>
                          <a:latin typeface="Helvetica Neue"/>
                          <a:ea typeface="Helvetica Neue"/>
                          <a:cs typeface="Helvetica Neue"/>
                        </a:rPr>
                        <a:t>2027</a:t>
                      </a:r>
                    </a:p>
                  </a:txBody>
                  <a:tcPr marL="91440" marR="91440" marT="45720" marB="45720">
                    <a:solidFill>
                      <a:srgbClr val="FFFFFF"/>
                    </a:solidFill>
                  </a:tcPr>
                </a:tc>
              </a:tr>
              <a:tr h="469446">
                <a:tc>
                  <a:txBody>
                    <a:bodyPr/>
                    <a:lstStyle/>
                    <a:p>
                      <a:r>
                        <a:rPr sz="1575" b="0">
                          <a:solidFill>
                            <a:srgbClr val="333333"/>
                          </a:solidFill>
                          <a:latin typeface="Helvetica Neue"/>
                          <a:ea typeface="Helvetica Neue"/>
                          <a:cs typeface="Helvetica Neue"/>
                        </a:rPr>
                        <a:t>Malachite One Data Centre</a:t>
                      </a:r>
                    </a:p>
                  </a:txBody>
                  <a:tcPr marL="91440" marR="91440" marT="45720" marB="45720">
                    <a:solidFill>
                      <a:srgbClr val="F2F2F2"/>
                    </a:solidFill>
                  </a:tcPr>
                </a:tc>
                <a:tc>
                  <a:txBody>
                    <a:bodyPr/>
                    <a:lstStyle/>
                    <a:p>
                      <a:r>
                        <a:rPr sz="1575" b="0">
                          <a:solidFill>
                            <a:srgbClr val="333333"/>
                          </a:solidFill>
                          <a:latin typeface="Helvetica Neue"/>
                          <a:ea typeface="Helvetica Neue"/>
                          <a:cs typeface="Helvetica Neue"/>
                        </a:rPr>
                        <a:t>Proposed</a:t>
                      </a:r>
                    </a:p>
                  </a:txBody>
                  <a:tcPr marL="91440" marR="91440" marT="45720" marB="45720">
                    <a:solidFill>
                      <a:srgbClr val="F2F2F2"/>
                    </a:solidFill>
                  </a:tcPr>
                </a:tc>
                <a:tc>
                  <a:txBody>
                    <a:bodyPr/>
                    <a:lstStyle/>
                    <a:p>
                      <a:r>
                        <a:rPr sz="1575" b="0">
                          <a:solidFill>
                            <a:srgbClr val="333333"/>
                          </a:solidFill>
                          <a:latin typeface="Helvetica Neue"/>
                          <a:ea typeface="Helvetica Neue"/>
                          <a:cs typeface="Helvetica Neue"/>
                        </a:rPr>
                        <a:t>2030</a:t>
                      </a:r>
                    </a:p>
                  </a:txBody>
                  <a:tcPr marL="91440" marR="91440" marT="45720" marB="45720">
                    <a:solidFill>
                      <a:srgbClr val="F2F2F2"/>
                    </a:solidFill>
                  </a:tcPr>
                </a:tc>
              </a:tr>
            </a:tbl>
          </a:graphicData>
        </a:graphic>
      </p:graphicFrame>
      <p:sp>
        <p:nvSpPr>
          <p:cNvPr id="6" name="">
            <a:extLst xmlns:a="http://schemas.openxmlformats.org/drawingml/2006/main">
              <a:ext uri="{FF2B5EF4-FFF2-40B4-BE49-F238E27FC236}">
                <a16:creationId xmlns:a16="http://schemas.microsoft.com/office/drawing/2014/main" id="{2A729D6F-D601-41B9-B534-BE2F3BF05B12}"/>
              </a:ext>
            </a:extLst>
          </p:cNvPr>
          <p:cNvSpPr>
            <a:spLocks xmlns:a="http://schemas.openxmlformats.org/drawingml/2006/main" noGrp="1"/>
          </p:cNvSpPr>
          <p:nvPr/>
        </p:nvSpPr>
        <p:spPr>
          <a:xfrm xmlns:a="http://schemas.openxmlformats.org/drawingml/2006/main">
            <a:off x="609600" y="5695950"/>
            <a:ext cx="10858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2C4E"/>
                </a:solidFill>
                <a:latin typeface="Helvetica Neue"/>
                <a:ea typeface="Helvetica Neue"/>
                <a:cs typeface="Helvetica Neue"/>
              </a:defRPr>
            </a:pPr>
            <a:r>
              <a:rPr sz="1800" b="1">
                <a:solidFill>
                  <a:srgbClr val="002C4E"/>
                </a:solidFill>
                <a:latin typeface="Helvetica Neue"/>
                <a:ea typeface="Helvetica Neue"/>
                <a:cs typeface="Helvetica Neue"/>
              </a:rPr>
              <a:t>Thirteen records have no reported completion year, limiting the timing of any combined demand estimate.</a:t>
            </a:r>
          </a:p>
        </p:txBody>
      </p:sp>
    </p:spTree>
    <p:extLst>
      <p:ext uri="{BB962C8B-B14F-4D97-AF65-F5344CB8AC3E}">
        <p14:creationId xmlns:p14="http://schemas.microsoft.com/office/powerpoint/2010/main" val="199331485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8041923-131B-4A73-8C6D-3A0F82F85283}"/>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Demand concentrates in shared construction packages</a:t>
            </a:r>
          </a:p>
        </p:txBody>
      </p:sp>
      <p:sp>
        <p:nvSpPr>
          <p:cNvPr id="2" name="">
            <a:extLst xmlns:a="http://schemas.openxmlformats.org/drawingml/2006/main">
              <a:ext uri="{FF2B5EF4-FFF2-40B4-BE49-F238E27FC236}">
                <a16:creationId xmlns:a16="http://schemas.microsoft.com/office/drawing/2014/main" id="{514266EC-FF4E-44F5-B078-72CC53F9D4D9}"/>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Civil works establish the site. Electrical and cooling systems drive specialist fit-out.</a:t>
            </a:r>
          </a:p>
        </p:txBody>
      </p:sp>
      <p:sp>
        <p:nvSpPr>
          <p:cNvPr id="3" name="">
            <a:extLst xmlns:a="http://schemas.openxmlformats.org/drawingml/2006/main">
              <a:ext uri="{FF2B5EF4-FFF2-40B4-BE49-F238E27FC236}">
                <a16:creationId xmlns:a16="http://schemas.microsoft.com/office/drawing/2014/main" id="{6CC9FB9B-3035-476F-89B8-9200142237CA}"/>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Engineering scope classification; actual crew and supplier overlap depends on package timing and location.</a:t>
            </a:r>
          </a:p>
        </p:txBody>
      </p:sp>
      <p:sp>
        <p:nvSpPr>
          <p:cNvPr id="4" name="">
            <a:extLst xmlns:a="http://schemas.openxmlformats.org/drawingml/2006/main">
              <a:ext uri="{FF2B5EF4-FFF2-40B4-BE49-F238E27FC236}">
                <a16:creationId xmlns:a16="http://schemas.microsoft.com/office/drawing/2014/main" id="{E9A3A0C2-F6F0-4A35-930D-5AB60C4EF96D}"/>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5</a:t>
            </a:r>
          </a:p>
        </p:txBody>
      </p:sp>
      <p:graphicFrame>
        <p:nvGraphicFramePr>
          <p:cNvPr id="10" name=""/>
          <p:cNvGraphicFramePr/>
          <p:nvPr/>
        </p:nvGraphicFramePr>
        <p:xfrm>
          <a:off xmlns:a="http://schemas.openxmlformats.org/drawingml/2006/main" x="609600" y="2095500"/>
          <a:ext xmlns:a="http://schemas.openxmlformats.org/drawingml/2006/main" cx="10972800" cy="3714750"/>
        </p:xfrm>
        <a:graphic xmlns:a="http://schemas.openxmlformats.org/drawingml/2006/main">
          <a:graphicData uri="http://schemas.openxmlformats.org/drawingml/2006/table">
            <a:tbl>
              <a:tblPr/>
              <a:tblGrid>
                <a:gridCol w="2476500"/>
                <a:gridCol w="4286250"/>
                <a:gridCol w="4210050"/>
              </a:tblGrid>
              <a:tr h="742950">
                <a:tc>
                  <a:txBody>
                    <a:bodyPr/>
                    <a:lstStyle/>
                    <a:p>
                      <a:r>
                        <a:rPr sz="1650" b="1">
                          <a:solidFill>
                            <a:srgbClr val="FFFFFF"/>
                          </a:solidFill>
                          <a:latin typeface="Helvetica Neue"/>
                          <a:ea typeface="Helvetica Neue"/>
                          <a:cs typeface="Helvetica Neue"/>
                        </a:rPr>
                        <a:t>Package</a:t>
                      </a:r>
                    </a:p>
                  </a:txBody>
                  <a:tcPr marL="91440" marR="91440" marT="45720" marB="45720">
                    <a:solidFill>
                      <a:srgbClr val="0077CD"/>
                    </a:solidFill>
                  </a:tcPr>
                </a:tc>
                <a:tc>
                  <a:txBody>
                    <a:bodyPr/>
                    <a:lstStyle/>
                    <a:p>
                      <a:r>
                        <a:rPr sz="1650" b="1">
                          <a:solidFill>
                            <a:srgbClr val="FFFFFF"/>
                          </a:solidFill>
                          <a:latin typeface="Helvetica Neue"/>
                          <a:ea typeface="Helvetica Neue"/>
                          <a:cs typeface="Helvetica Neue"/>
                        </a:rPr>
                        <a:t>Labour demand</a:t>
                      </a:r>
                    </a:p>
                  </a:txBody>
                  <a:tcPr marL="91440" marR="91440" marT="45720" marB="45720">
                    <a:solidFill>
                      <a:srgbClr val="0077CD"/>
                    </a:solidFill>
                  </a:tcPr>
                </a:tc>
                <a:tc>
                  <a:txBody>
                    <a:bodyPr/>
                    <a:lstStyle/>
                    <a:p>
                      <a:r>
                        <a:rPr sz="1650" b="1">
                          <a:solidFill>
                            <a:srgbClr val="FFFFFF"/>
                          </a:solidFill>
                          <a:latin typeface="Helvetica Neue"/>
                          <a:ea typeface="Helvetica Neue"/>
                          <a:cs typeface="Helvetica Neue"/>
                        </a:rPr>
                        <a:t>Materials and equipment</a:t>
                      </a:r>
                    </a:p>
                  </a:txBody>
                  <a:tcPr marL="91440" marR="91440" marT="45720" marB="45720">
                    <a:solidFill>
                      <a:srgbClr val="0077CD"/>
                    </a:solidFill>
                  </a:tcPr>
                </a:tc>
              </a:tr>
              <a:tr h="742950">
                <a:tc>
                  <a:txBody>
                    <a:bodyPr/>
                    <a:lstStyle/>
                    <a:p>
                      <a:r>
                        <a:rPr sz="1650" b="0">
                          <a:solidFill>
                            <a:srgbClr val="333333"/>
                          </a:solidFill>
                          <a:latin typeface="Helvetica Neue"/>
                          <a:ea typeface="Helvetica Neue"/>
                          <a:cs typeface="Helvetica Neue"/>
                        </a:rPr>
                        <a:t>Civil / structural</a:t>
                      </a:r>
                    </a:p>
                  </a:txBody>
                  <a:tcPr marL="91440" marR="91440" marT="45720" marB="45720">
                    <a:solidFill>
                      <a:srgbClr val="FFFFFF"/>
                    </a:solidFill>
                  </a:tcPr>
                </a:tc>
                <a:tc>
                  <a:txBody>
                    <a:bodyPr/>
                    <a:lstStyle/>
                    <a:p>
                      <a:r>
                        <a:rPr sz="1650" b="0">
                          <a:solidFill>
                            <a:srgbClr val="333333"/>
                          </a:solidFill>
                          <a:latin typeface="Helvetica Neue"/>
                          <a:ea typeface="Helvetica Neue"/>
                          <a:cs typeface="Helvetica Neue"/>
                        </a:rPr>
                        <a:t>Operators, labourers, formwork crews, finishers, ironworkers</a:t>
                      </a:r>
                    </a:p>
                  </a:txBody>
                  <a:tcPr marL="91440" marR="91440" marT="45720" marB="45720">
                    <a:solidFill>
                      <a:srgbClr val="FFFFFF"/>
                    </a:solidFill>
                  </a:tcPr>
                </a:tc>
                <a:tc>
                  <a:txBody>
                    <a:bodyPr/>
                    <a:lstStyle/>
                    <a:p>
                      <a:r>
                        <a:rPr sz="1650" b="0">
                          <a:solidFill>
                            <a:srgbClr val="333333"/>
                          </a:solidFill>
                          <a:latin typeface="Helvetica Neue"/>
                          <a:ea typeface="Helvetica Neue"/>
                          <a:cs typeface="Helvetica Neue"/>
                        </a:rPr>
                        <a:t>Concrete, aggregate, reinforcing and structural steel</a:t>
                      </a:r>
                    </a:p>
                  </a:txBody>
                  <a:tcPr marL="91440" marR="91440" marT="45720" marB="45720">
                    <a:solidFill>
                      <a:srgbClr val="FFFFFF"/>
                    </a:solidFill>
                  </a:tcPr>
                </a:tc>
              </a:tr>
              <a:tr h="742950">
                <a:tc>
                  <a:txBody>
                    <a:bodyPr/>
                    <a:lstStyle/>
                    <a:p>
                      <a:r>
                        <a:rPr sz="1650" b="0">
                          <a:solidFill>
                            <a:srgbClr val="333333"/>
                          </a:solidFill>
                          <a:latin typeface="Helvetica Neue"/>
                          <a:ea typeface="Helvetica Neue"/>
                          <a:cs typeface="Helvetica Neue"/>
                        </a:rPr>
                        <a:t>Electrical</a:t>
                      </a:r>
                    </a:p>
                  </a:txBody>
                  <a:tcPr marL="91440" marR="91440" marT="45720" marB="45720">
                    <a:solidFill>
                      <a:srgbClr val="F2F2F2"/>
                    </a:solidFill>
                  </a:tcPr>
                </a:tc>
                <a:tc>
                  <a:txBody>
                    <a:bodyPr/>
                    <a:lstStyle/>
                    <a:p>
                      <a:r>
                        <a:rPr sz="1650" b="0">
                          <a:solidFill>
                            <a:srgbClr val="333333"/>
                          </a:solidFill>
                          <a:latin typeface="Helvetica Neue"/>
                          <a:ea typeface="Helvetica Neue"/>
                          <a:cs typeface="Helvetica Neue"/>
                        </a:rPr>
                        <a:t>Electricians, cable installers, controls and testing specialists</a:t>
                      </a:r>
                    </a:p>
                  </a:txBody>
                  <a:tcPr marL="91440" marR="91440" marT="45720" marB="45720">
                    <a:solidFill>
                      <a:srgbClr val="F2F2F2"/>
                    </a:solidFill>
                  </a:tcPr>
                </a:tc>
                <a:tc>
                  <a:txBody>
                    <a:bodyPr/>
                    <a:lstStyle/>
                    <a:p>
                      <a:r>
                        <a:rPr sz="1650" b="0">
                          <a:solidFill>
                            <a:srgbClr val="333333"/>
                          </a:solidFill>
                          <a:latin typeface="Helvetica Neue"/>
                          <a:ea typeface="Helvetica Neue"/>
                          <a:cs typeface="Helvetica Neue"/>
                        </a:rPr>
                        <a:t>Transformers, switchgear, cable, UPS and generators</a:t>
                      </a:r>
                    </a:p>
                  </a:txBody>
                  <a:tcPr marL="91440" marR="91440" marT="45720" marB="45720">
                    <a:solidFill>
                      <a:srgbClr val="F2F2F2"/>
                    </a:solidFill>
                  </a:tcPr>
                </a:tc>
              </a:tr>
              <a:tr h="742950">
                <a:tc>
                  <a:txBody>
                    <a:bodyPr/>
                    <a:lstStyle/>
                    <a:p>
                      <a:r>
                        <a:rPr sz="1650" b="0">
                          <a:solidFill>
                            <a:srgbClr val="333333"/>
                          </a:solidFill>
                          <a:latin typeface="Helvetica Neue"/>
                          <a:ea typeface="Helvetica Neue"/>
                          <a:cs typeface="Helvetica Neue"/>
                        </a:rPr>
                        <a:t>Mechanical / cooling</a:t>
                      </a:r>
                    </a:p>
                  </a:txBody>
                  <a:tcPr marL="91440" marR="91440" marT="45720" marB="45720">
                    <a:solidFill>
                      <a:srgbClr val="FFFFFF"/>
                    </a:solidFill>
                  </a:tcPr>
                </a:tc>
                <a:tc>
                  <a:txBody>
                    <a:bodyPr/>
                    <a:lstStyle/>
                    <a:p>
                      <a:r>
                        <a:rPr sz="1650" b="0">
                          <a:solidFill>
                            <a:srgbClr val="333333"/>
                          </a:solidFill>
                          <a:latin typeface="Helvetica Neue"/>
                          <a:ea typeface="Helvetica Neue"/>
                          <a:cs typeface="Helvetica Neue"/>
                        </a:rPr>
                        <a:t>HVAC and sheet-metal workers, pipefitters, plumbers, insulators</a:t>
                      </a:r>
                    </a:p>
                  </a:txBody>
                  <a:tcPr marL="91440" marR="91440" marT="45720" marB="45720">
                    <a:solidFill>
                      <a:srgbClr val="FFFFFF"/>
                    </a:solidFill>
                  </a:tcPr>
                </a:tc>
                <a:tc>
                  <a:txBody>
                    <a:bodyPr/>
                    <a:lstStyle/>
                    <a:p>
                      <a:r>
                        <a:rPr sz="1650" b="0">
                          <a:solidFill>
                            <a:srgbClr val="333333"/>
                          </a:solidFill>
                          <a:latin typeface="Helvetica Neue"/>
                          <a:ea typeface="Helvetica Neue"/>
                          <a:cs typeface="Helvetica Neue"/>
                        </a:rPr>
                        <a:t>Chillers, air handlers, pumps, pipework and ducts</a:t>
                      </a:r>
                    </a:p>
                  </a:txBody>
                  <a:tcPr marL="91440" marR="91440" marT="45720" marB="45720">
                    <a:solidFill>
                      <a:srgbClr val="FFFFFF"/>
                    </a:solidFill>
                  </a:tcPr>
                </a:tc>
              </a:tr>
              <a:tr h="742950">
                <a:tc>
                  <a:txBody>
                    <a:bodyPr/>
                    <a:lstStyle/>
                    <a:p>
                      <a:r>
                        <a:rPr sz="1650" b="0">
                          <a:solidFill>
                            <a:srgbClr val="333333"/>
                          </a:solidFill>
                          <a:latin typeface="Helvetica Neue"/>
                          <a:ea typeface="Helvetica Neue"/>
                          <a:cs typeface="Helvetica Neue"/>
                        </a:rPr>
                        <a:t>Utility connections</a:t>
                      </a:r>
                    </a:p>
                  </a:txBody>
                  <a:tcPr marL="91440" marR="91440" marT="45720" marB="45720">
                    <a:solidFill>
                      <a:srgbClr val="F2F2F2"/>
                    </a:solidFill>
                  </a:tcPr>
                </a:tc>
                <a:tc>
                  <a:txBody>
                    <a:bodyPr/>
                    <a:lstStyle/>
                    <a:p>
                      <a:r>
                        <a:rPr sz="1650" b="0">
                          <a:solidFill>
                            <a:srgbClr val="333333"/>
                          </a:solidFill>
                          <a:latin typeface="Helvetica Neue"/>
                          <a:ea typeface="Helvetica Neue"/>
                          <a:cs typeface="Helvetica Neue"/>
                        </a:rPr>
                        <a:t>Line crews, utility engineers and enabling civil crews</a:t>
                      </a:r>
                    </a:p>
                  </a:txBody>
                  <a:tcPr marL="91440" marR="91440" marT="45720" marB="45720">
                    <a:solidFill>
                      <a:srgbClr val="F2F2F2"/>
                    </a:solidFill>
                  </a:tcPr>
                </a:tc>
                <a:tc>
                  <a:txBody>
                    <a:bodyPr/>
                    <a:lstStyle/>
                    <a:p>
                      <a:r>
                        <a:rPr sz="1650" b="0">
                          <a:solidFill>
                            <a:srgbClr val="333333"/>
                          </a:solidFill>
                          <a:latin typeface="Helvetica Neue"/>
                          <a:ea typeface="Helvetica Neue"/>
                          <a:cs typeface="Helvetica Neue"/>
                        </a:rPr>
                        <a:t>Substations, connection equipment and utility corridors</a:t>
                      </a:r>
                    </a:p>
                  </a:txBody>
                  <a:tcPr marL="91440" marR="91440" marT="45720" marB="45720">
                    <a:solidFill>
                      <a:srgbClr val="F2F2F2"/>
                    </a:solidFill>
                  </a:tcPr>
                </a:tc>
              </a:tr>
            </a:tbl>
          </a:graphicData>
        </a:graphic>
      </p:graphicFrame>
    </p:spTree>
    <p:extLst>
      <p:ext uri="{BB962C8B-B14F-4D97-AF65-F5344CB8AC3E}">
        <p14:creationId xmlns:p14="http://schemas.microsoft.com/office/powerpoint/2010/main" val="68967410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80DD988-A9ED-4E74-9961-F73EED45C13E}"/>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Electrical and HVAC trades already show vacancies</a:t>
            </a:r>
          </a:p>
        </p:txBody>
      </p:sp>
      <p:sp>
        <p:nvSpPr>
          <p:cNvPr id="2" name="">
            <a:extLst xmlns:a="http://schemas.openxmlformats.org/drawingml/2006/main">
              <a:ext uri="{FF2B5EF4-FFF2-40B4-BE49-F238E27FC236}">
                <a16:creationId xmlns:a16="http://schemas.microsoft.com/office/drawing/2014/main" id="{2ACE81B6-1F2A-4728-B103-0219C201A5A7}"/>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Selected Alberta occupation stocks and later vacancy observations.</a:t>
            </a:r>
          </a:p>
        </p:txBody>
      </p:sp>
      <p:sp>
        <p:nvSpPr>
          <p:cNvPr id="3" name="">
            <a:extLst xmlns:a="http://schemas.openxmlformats.org/drawingml/2006/main">
              <a:ext uri="{FF2B5EF4-FFF2-40B4-BE49-F238E27FC236}">
                <a16:creationId xmlns:a16="http://schemas.microsoft.com/office/drawing/2014/main" id="{0050F89C-4268-4DBE-BFE2-A2A2B95009C1}"/>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Source: Statistics Canada. Vacancy estimates carry flag E, use with caution. Missing values are not zero.</a:t>
            </a:r>
          </a:p>
        </p:txBody>
      </p:sp>
      <p:sp>
        <p:nvSpPr>
          <p:cNvPr id="4" name="">
            <a:extLst xmlns:a="http://schemas.openxmlformats.org/drawingml/2006/main">
              <a:ext uri="{FF2B5EF4-FFF2-40B4-BE49-F238E27FC236}">
                <a16:creationId xmlns:a16="http://schemas.microsoft.com/office/drawing/2014/main" id="{6B08F6B8-4E4A-4BA6-9A2F-1C0778461D56}"/>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6</a:t>
            </a:r>
          </a:p>
        </p:txBody>
      </p:sp>
      <p:graphicFrame>
        <p:nvGraphicFramePr>
          <p:cNvPr id="11" name=""/>
          <p:cNvGraphicFramePr/>
          <p:nvPr/>
        </p:nvGraphicFramePr>
        <p:xfrm>
          <a:off xmlns:a="http://schemas.openxmlformats.org/drawingml/2006/main" x="609600" y="2047875"/>
          <a:ext xmlns:a="http://schemas.openxmlformats.org/drawingml/2006/main" cx="10972800" cy="3524250"/>
        </p:xfrm>
        <a:graphic xmlns:a="http://schemas.openxmlformats.org/drawingml/2006/main">
          <a:graphicData uri="http://schemas.openxmlformats.org/drawingml/2006/table">
            <a:tbl>
              <a:tblPr/>
              <a:tblGrid>
                <a:gridCol w="5810250"/>
                <a:gridCol w="2686050"/>
                <a:gridCol w="2476500"/>
              </a:tblGrid>
              <a:tr h="503464">
                <a:tc>
                  <a:txBody>
                    <a:bodyPr/>
                    <a:lstStyle/>
                    <a:p>
                      <a:r>
                        <a:rPr sz="1650" b="1">
                          <a:solidFill>
                            <a:srgbClr val="FFFFFF"/>
                          </a:solidFill>
                          <a:latin typeface="Helvetica Neue"/>
                          <a:ea typeface="Helvetica Neue"/>
                          <a:cs typeface="Helvetica Neue"/>
                        </a:rPr>
                        <a:t>Occupation</a:t>
                      </a:r>
                    </a:p>
                  </a:txBody>
                  <a:tcPr marL="91440" marR="91440" marT="45720" marB="45720">
                    <a:solidFill>
                      <a:srgbClr val="0077CD"/>
                    </a:solidFill>
                  </a:tcPr>
                </a:tc>
                <a:tc>
                  <a:txBody>
                    <a:bodyPr/>
                    <a:lstStyle/>
                    <a:p>
                      <a:r>
                        <a:rPr sz="1650" b="1">
                          <a:solidFill>
                            <a:srgbClr val="FFFFFF"/>
                          </a:solidFill>
                          <a:latin typeface="Helvetica Neue"/>
                          <a:ea typeface="Helvetica Neue"/>
                          <a:cs typeface="Helvetica Neue"/>
                        </a:rPr>
                        <a:t>Employed persons, 2021</a:t>
                      </a:r>
                    </a:p>
                  </a:txBody>
                  <a:tcPr marL="91440" marR="91440" marT="45720" marB="45720">
                    <a:solidFill>
                      <a:srgbClr val="0077CD"/>
                    </a:solidFill>
                  </a:tcPr>
                </a:tc>
                <a:tc>
                  <a:txBody>
                    <a:bodyPr/>
                    <a:lstStyle/>
                    <a:p>
                      <a:r>
                        <a:rPr sz="1650" b="1">
                          <a:solidFill>
                            <a:srgbClr val="FFFFFF"/>
                          </a:solidFill>
                          <a:latin typeface="Helvetica Neue"/>
                          <a:ea typeface="Helvetica Neue"/>
                          <a:cs typeface="Helvetica Neue"/>
                        </a:rPr>
                        <a:t>Vacancies, Q1 2026</a:t>
                      </a:r>
                    </a:p>
                  </a:txBody>
                  <a:tcPr marL="91440" marR="91440" marT="45720" marB="45720">
                    <a:solidFill>
                      <a:srgbClr val="0077CD"/>
                    </a:solidFill>
                  </a:tcPr>
                </a:tc>
              </a:tr>
              <a:tr h="503464">
                <a:tc>
                  <a:txBody>
                    <a:bodyPr/>
                    <a:lstStyle/>
                    <a:p>
                      <a:r>
                        <a:rPr sz="1650" b="0">
                          <a:solidFill>
                            <a:srgbClr val="333333"/>
                          </a:solidFill>
                          <a:latin typeface="Helvetica Neue"/>
                          <a:ea typeface="Helvetica Neue"/>
                          <a:cs typeface="Helvetica Neue"/>
                        </a:rPr>
                        <a:t>Electricians, excluding industrial / power</a:t>
                      </a:r>
                    </a:p>
                  </a:txBody>
                  <a:tcPr marL="91440" marR="91440" marT="45720" marB="45720">
                    <a:solidFill>
                      <a:srgbClr val="FFFFFF"/>
                    </a:solidFill>
                  </a:tcPr>
                </a:tc>
                <a:tc>
                  <a:txBody>
                    <a:bodyPr/>
                    <a:lstStyle/>
                    <a:p>
                      <a:r>
                        <a:rPr sz="1650" b="0">
                          <a:solidFill>
                            <a:srgbClr val="333333"/>
                          </a:solidFill>
                          <a:latin typeface="Helvetica Neue"/>
                          <a:ea typeface="Helvetica Neue"/>
                          <a:cs typeface="Helvetica Neue"/>
                        </a:rPr>
                        <a:t>13,375</a:t>
                      </a:r>
                    </a:p>
                  </a:txBody>
                  <a:tcPr marL="91440" marR="91440" marT="45720" marB="45720">
                    <a:solidFill>
                      <a:srgbClr val="FFFFFF"/>
                    </a:solidFill>
                  </a:tcPr>
                </a:tc>
                <a:tc>
                  <a:txBody>
                    <a:bodyPr/>
                    <a:lstStyle/>
                    <a:p>
                      <a:r>
                        <a:rPr sz="1650" b="0">
                          <a:solidFill>
                            <a:srgbClr val="333333"/>
                          </a:solidFill>
                          <a:latin typeface="Helvetica Neue"/>
                          <a:ea typeface="Helvetica Neue"/>
                          <a:cs typeface="Helvetica Neue"/>
                        </a:rPr>
                        <a:t>460</a:t>
                      </a:r>
                    </a:p>
                  </a:txBody>
                  <a:tcPr marL="91440" marR="91440" marT="45720" marB="45720">
                    <a:solidFill>
                      <a:srgbClr val="FFFFFF"/>
                    </a:solidFill>
                  </a:tcPr>
                </a:tc>
              </a:tr>
              <a:tr h="503464">
                <a:tc>
                  <a:txBody>
                    <a:bodyPr/>
                    <a:lstStyle/>
                    <a:p>
                      <a:r>
                        <a:rPr sz="1650" b="0">
                          <a:solidFill>
                            <a:srgbClr val="333333"/>
                          </a:solidFill>
                          <a:latin typeface="Helvetica Neue"/>
                          <a:ea typeface="Helvetica Neue"/>
                          <a:cs typeface="Helvetica Neue"/>
                        </a:rPr>
                        <a:t>Industrial electricians</a:t>
                      </a:r>
                    </a:p>
                  </a:txBody>
                  <a:tcPr marL="91440" marR="91440" marT="45720" marB="45720">
                    <a:solidFill>
                      <a:srgbClr val="F2F2F2"/>
                    </a:solidFill>
                  </a:tcPr>
                </a:tc>
                <a:tc>
                  <a:txBody>
                    <a:bodyPr/>
                    <a:lstStyle/>
                    <a:p>
                      <a:r>
                        <a:rPr sz="1650" b="0">
                          <a:solidFill>
                            <a:srgbClr val="333333"/>
                          </a:solidFill>
                          <a:latin typeface="Helvetica Neue"/>
                          <a:ea typeface="Helvetica Neue"/>
                          <a:cs typeface="Helvetica Neue"/>
                        </a:rPr>
                        <a:t>4,175</a:t>
                      </a:r>
                    </a:p>
                  </a:txBody>
                  <a:tcPr marL="91440" marR="91440" marT="45720" marB="45720">
                    <a:solidFill>
                      <a:srgbClr val="F2F2F2"/>
                    </a:solidFill>
                  </a:tcPr>
                </a:tc>
                <a:tc>
                  <a:txBody>
                    <a:bodyPr/>
                    <a:lstStyle/>
                    <a:p>
                      <a:r>
                        <a:rPr sz="1650" b="0">
                          <a:solidFill>
                            <a:srgbClr val="333333"/>
                          </a:solidFill>
                          <a:latin typeface="Helvetica Neue"/>
                          <a:ea typeface="Helvetica Neue"/>
                          <a:cs typeface="Helvetica Neue"/>
                        </a:rPr>
                        <a:t>80</a:t>
                      </a:r>
                    </a:p>
                  </a:txBody>
                  <a:tcPr marL="91440" marR="91440" marT="45720" marB="45720">
                    <a:solidFill>
                      <a:srgbClr val="F2F2F2"/>
                    </a:solidFill>
                  </a:tcPr>
                </a:tc>
              </a:tr>
              <a:tr h="503464">
                <a:tc>
                  <a:txBody>
                    <a:bodyPr/>
                    <a:lstStyle/>
                    <a:p>
                      <a:r>
                        <a:rPr sz="1650" b="0">
                          <a:solidFill>
                            <a:srgbClr val="333333"/>
                          </a:solidFill>
                          <a:latin typeface="Helvetica Neue"/>
                          <a:ea typeface="Helvetica Neue"/>
                          <a:cs typeface="Helvetica Neue"/>
                        </a:rPr>
                        <a:t>Power-system electricians</a:t>
                      </a:r>
                    </a:p>
                  </a:txBody>
                  <a:tcPr marL="91440" marR="91440" marT="45720" marB="45720">
                    <a:solidFill>
                      <a:srgbClr val="FFFFFF"/>
                    </a:solidFill>
                  </a:tcPr>
                </a:tc>
                <a:tc>
                  <a:txBody>
                    <a:bodyPr/>
                    <a:lstStyle/>
                    <a:p>
                      <a:r>
                        <a:rPr sz="1650" b="0">
                          <a:solidFill>
                            <a:srgbClr val="333333"/>
                          </a:solidFill>
                          <a:latin typeface="Helvetica Neue"/>
                          <a:ea typeface="Helvetica Neue"/>
                          <a:cs typeface="Helvetica Neue"/>
                        </a:rPr>
                        <a:t>770</a:t>
                      </a:r>
                    </a:p>
                  </a:txBody>
                  <a:tcPr marL="91440" marR="91440" marT="45720" marB="45720">
                    <a:solidFill>
                      <a:srgbClr val="FFFFFF"/>
                    </a:solidFill>
                  </a:tcPr>
                </a:tc>
                <a:tc>
                  <a:txBody>
                    <a:bodyPr/>
                    <a:lstStyle/>
                    <a:p>
                      <a:r>
                        <a:rPr sz="1650" b="0">
                          <a:solidFill>
                            <a:srgbClr val="333333"/>
                          </a:solidFill>
                          <a:latin typeface="Helvetica Neue"/>
                          <a:ea typeface="Helvetica Neue"/>
                          <a:cs typeface="Helvetica Neue"/>
                        </a:rPr>
                        <a:t>Not published</a:t>
                      </a:r>
                    </a:p>
                  </a:txBody>
                  <a:tcPr marL="91440" marR="91440" marT="45720" marB="45720">
                    <a:solidFill>
                      <a:srgbClr val="FFFFFF"/>
                    </a:solidFill>
                  </a:tcPr>
                </a:tc>
              </a:tr>
              <a:tr h="503464">
                <a:tc>
                  <a:txBody>
                    <a:bodyPr/>
                    <a:lstStyle/>
                    <a:p>
                      <a:r>
                        <a:rPr sz="1650" b="0">
                          <a:solidFill>
                            <a:srgbClr val="333333"/>
                          </a:solidFill>
                          <a:latin typeface="Helvetica Neue"/>
                          <a:ea typeface="Helvetica Neue"/>
                          <a:cs typeface="Helvetica Neue"/>
                        </a:rPr>
                        <a:t>Power-line and cable workers</a:t>
                      </a:r>
                    </a:p>
                  </a:txBody>
                  <a:tcPr marL="91440" marR="91440" marT="45720" marB="45720">
                    <a:solidFill>
                      <a:srgbClr val="F2F2F2"/>
                    </a:solidFill>
                  </a:tcPr>
                </a:tc>
                <a:tc>
                  <a:txBody>
                    <a:bodyPr/>
                    <a:lstStyle/>
                    <a:p>
                      <a:r>
                        <a:rPr sz="1650" b="0">
                          <a:solidFill>
                            <a:srgbClr val="333333"/>
                          </a:solidFill>
                          <a:latin typeface="Helvetica Neue"/>
                          <a:ea typeface="Helvetica Neue"/>
                          <a:cs typeface="Helvetica Neue"/>
                        </a:rPr>
                        <a:t>1,725</a:t>
                      </a:r>
                    </a:p>
                  </a:txBody>
                  <a:tcPr marL="91440" marR="91440" marT="45720" marB="45720">
                    <a:solidFill>
                      <a:srgbClr val="F2F2F2"/>
                    </a:solidFill>
                  </a:tcPr>
                </a:tc>
                <a:tc>
                  <a:txBody>
                    <a:bodyPr/>
                    <a:lstStyle/>
                    <a:p>
                      <a:r>
                        <a:rPr sz="1650" b="0">
                          <a:solidFill>
                            <a:srgbClr val="333333"/>
                          </a:solidFill>
                          <a:latin typeface="Helvetica Neue"/>
                          <a:ea typeface="Helvetica Neue"/>
                          <a:cs typeface="Helvetica Neue"/>
                        </a:rPr>
                        <a:t>Not published</a:t>
                      </a:r>
                    </a:p>
                  </a:txBody>
                  <a:tcPr marL="91440" marR="91440" marT="45720" marB="45720">
                    <a:solidFill>
                      <a:srgbClr val="F2F2F2"/>
                    </a:solidFill>
                  </a:tcPr>
                </a:tc>
              </a:tr>
              <a:tr h="503464">
                <a:tc>
                  <a:txBody>
                    <a:bodyPr/>
                    <a:lstStyle/>
                    <a:p>
                      <a:r>
                        <a:rPr sz="1650" b="0">
                          <a:solidFill>
                            <a:srgbClr val="333333"/>
                          </a:solidFill>
                          <a:latin typeface="Helvetica Neue"/>
                          <a:ea typeface="Helvetica Neue"/>
                          <a:cs typeface="Helvetica Neue"/>
                        </a:rPr>
                        <a:t>HVAC mechanics</a:t>
                      </a:r>
                    </a:p>
                  </a:txBody>
                  <a:tcPr marL="91440" marR="91440" marT="45720" marB="45720">
                    <a:solidFill>
                      <a:srgbClr val="FFFFFF"/>
                    </a:solidFill>
                  </a:tcPr>
                </a:tc>
                <a:tc>
                  <a:txBody>
                    <a:bodyPr/>
                    <a:lstStyle/>
                    <a:p>
                      <a:r>
                        <a:rPr sz="1650" b="0">
                          <a:solidFill>
                            <a:srgbClr val="333333"/>
                          </a:solidFill>
                          <a:latin typeface="Helvetica Neue"/>
                          <a:ea typeface="Helvetica Neue"/>
                          <a:cs typeface="Helvetica Neue"/>
                        </a:rPr>
                        <a:t>3,095</a:t>
                      </a:r>
                    </a:p>
                  </a:txBody>
                  <a:tcPr marL="91440" marR="91440" marT="45720" marB="45720">
                    <a:solidFill>
                      <a:srgbClr val="FFFFFF"/>
                    </a:solidFill>
                  </a:tcPr>
                </a:tc>
                <a:tc>
                  <a:txBody>
                    <a:bodyPr/>
                    <a:lstStyle/>
                    <a:p>
                      <a:r>
                        <a:rPr sz="1650" b="0">
                          <a:solidFill>
                            <a:srgbClr val="333333"/>
                          </a:solidFill>
                          <a:latin typeface="Helvetica Neue"/>
                          <a:ea typeface="Helvetica Neue"/>
                          <a:cs typeface="Helvetica Neue"/>
                        </a:rPr>
                        <a:t>230</a:t>
                      </a:r>
                    </a:p>
                  </a:txBody>
                  <a:tcPr marL="91440" marR="91440" marT="45720" marB="45720">
                    <a:solidFill>
                      <a:srgbClr val="FFFFFF"/>
                    </a:solidFill>
                  </a:tcPr>
                </a:tc>
              </a:tr>
              <a:tr h="503464">
                <a:tc>
                  <a:txBody>
                    <a:bodyPr/>
                    <a:lstStyle/>
                    <a:p>
                      <a:r>
                        <a:rPr sz="1650" b="0">
                          <a:solidFill>
                            <a:srgbClr val="333333"/>
                          </a:solidFill>
                          <a:latin typeface="Helvetica Neue"/>
                          <a:ea typeface="Helvetica Neue"/>
                          <a:cs typeface="Helvetica Neue"/>
                        </a:rPr>
                        <a:t>Concrete finishers</a:t>
                      </a:r>
                    </a:p>
                  </a:txBody>
                  <a:tcPr marL="91440" marR="91440" marT="45720" marB="45720">
                    <a:solidFill>
                      <a:srgbClr val="F2F2F2"/>
                    </a:solidFill>
                  </a:tcPr>
                </a:tc>
                <a:tc>
                  <a:txBody>
                    <a:bodyPr/>
                    <a:lstStyle/>
                    <a:p>
                      <a:r>
                        <a:rPr sz="1650" b="0">
                          <a:solidFill>
                            <a:srgbClr val="333333"/>
                          </a:solidFill>
                          <a:latin typeface="Helvetica Neue"/>
                          <a:ea typeface="Helvetica Neue"/>
                          <a:cs typeface="Helvetica Neue"/>
                        </a:rPr>
                        <a:t>1,105</a:t>
                      </a:r>
                    </a:p>
                  </a:txBody>
                  <a:tcPr marL="91440" marR="91440" marT="45720" marB="45720">
                    <a:solidFill>
                      <a:srgbClr val="F2F2F2"/>
                    </a:solidFill>
                  </a:tcPr>
                </a:tc>
                <a:tc>
                  <a:txBody>
                    <a:bodyPr/>
                    <a:lstStyle/>
                    <a:p>
                      <a:r>
                        <a:rPr sz="1650" b="0">
                          <a:solidFill>
                            <a:srgbClr val="333333"/>
                          </a:solidFill>
                          <a:latin typeface="Helvetica Neue"/>
                          <a:ea typeface="Helvetica Neue"/>
                          <a:cs typeface="Helvetica Neue"/>
                        </a:rPr>
                        <a:t>Not published</a:t>
                      </a:r>
                    </a:p>
                  </a:txBody>
                  <a:tcPr marL="91440" marR="91440" marT="45720" marB="45720">
                    <a:solidFill>
                      <a:srgbClr val="F2F2F2"/>
                    </a:solidFill>
                  </a:tcPr>
                </a:tc>
              </a:tr>
            </a:tbl>
          </a:graphicData>
        </a:graphic>
      </p:graphicFrame>
      <p:sp>
        <p:nvSpPr>
          <p:cNvPr id="6" name="">
            <a:extLst xmlns:a="http://schemas.openxmlformats.org/drawingml/2006/main">
              <a:ext uri="{FF2B5EF4-FFF2-40B4-BE49-F238E27FC236}">
                <a16:creationId xmlns:a16="http://schemas.microsoft.com/office/drawing/2014/main" id="{840E4A5C-D3BA-41D7-BFDE-E45ED8D4E395}"/>
              </a:ext>
            </a:extLst>
          </p:cNvPr>
          <p:cNvSpPr>
            <a:spLocks xmlns:a="http://schemas.openxmlformats.org/drawingml/2006/main" noGrp="1"/>
          </p:cNvSpPr>
          <p:nvPr/>
        </p:nvSpPr>
        <p:spPr>
          <a:xfrm xmlns:a="http://schemas.openxmlformats.org/drawingml/2006/main">
            <a:off x="609600" y="58483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02C4E"/>
                </a:solidFill>
                <a:latin typeface="Helvetica Neue"/>
                <a:ea typeface="Helvetica Neue"/>
                <a:cs typeface="Helvetica Neue"/>
              </a:defRPr>
            </a:pPr>
            <a:r>
              <a:rPr sz="1725" b="1">
                <a:solidFill>
                  <a:srgbClr val="002C4E"/>
                </a:solidFill>
                <a:latin typeface="Helvetica Neue"/>
                <a:ea typeface="Helvetica Neue"/>
                <a:cs typeface="Helvetica Neue"/>
              </a:rPr>
              <a:t>Employment counts establish scale. They do not measure crews available for new projects.</a:t>
            </a:r>
          </a:p>
        </p:txBody>
      </p:sp>
    </p:spTree>
    <p:extLst>
      <p:ext uri="{BB962C8B-B14F-4D97-AF65-F5344CB8AC3E}">
        <p14:creationId xmlns:p14="http://schemas.microsoft.com/office/powerpoint/2010/main" val="175897815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6D4B59C-671B-41B8-8E55-4DAF0C30903A}"/>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Alberta must recruit while replacing retiring workers</a:t>
            </a:r>
          </a:p>
        </p:txBody>
      </p:sp>
      <p:sp>
        <p:nvSpPr>
          <p:cNvPr id="2" name="">
            <a:extLst xmlns:a="http://schemas.openxmlformats.org/drawingml/2006/main">
              <a:ext uri="{FF2B5EF4-FFF2-40B4-BE49-F238E27FC236}">
                <a16:creationId xmlns:a16="http://schemas.microsoft.com/office/drawing/2014/main" id="{B804F7CA-DDDE-484D-B6C2-B4A4B1A7E76F}"/>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BuildForce’s published Alberta construction outlook, 2025–2035.</a:t>
            </a:r>
          </a:p>
        </p:txBody>
      </p:sp>
      <p:sp>
        <p:nvSpPr>
          <p:cNvPr id="3" name="">
            <a:extLst xmlns:a="http://schemas.openxmlformats.org/drawingml/2006/main">
              <a:ext uri="{FF2B5EF4-FFF2-40B4-BE49-F238E27FC236}">
                <a16:creationId xmlns:a16="http://schemas.microsoft.com/office/drawing/2014/main" id="{14C7DDAD-9752-4838-85D7-AB5534241740}"/>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Source: BuildForce, Alberta outlook, 20 July 2026. Forecast values describe the whole construction market.</a:t>
            </a:r>
          </a:p>
        </p:txBody>
      </p:sp>
      <p:sp>
        <p:nvSpPr>
          <p:cNvPr id="4" name="">
            <a:extLst xmlns:a="http://schemas.openxmlformats.org/drawingml/2006/main">
              <a:ext uri="{FF2B5EF4-FFF2-40B4-BE49-F238E27FC236}">
                <a16:creationId xmlns:a16="http://schemas.microsoft.com/office/drawing/2014/main" id="{5095E446-98EF-42EE-B8A8-995E5C23F7CF}"/>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7</a:t>
            </a:r>
          </a:p>
        </p:txBody>
      </p:sp>
      <p:graphicFrame>
        <p:nvGraphicFramePr>
          <p:cNvPr id="14" name="Chart"/>
          <p:cNvGraphicFramePr/>
          <p:nvPr/>
        </p:nvGraphicFramePr>
        <p:xfrm>
          <a:off xmlns:a="http://schemas.openxmlformats.org/drawingml/2006/main" x="609600" y="2333625"/>
          <a:ext xmlns:a="http://schemas.openxmlformats.org/drawingml/2006/main" cx="6667500" cy="3238500"/>
        </p:xfrm>
        <a:graphic xmlns:a="http://schemas.openxmlformats.org/drawingml/2006/main">
          <a:graphicData uri="http://schemas.openxmlformats.org/drawingml/2006/chart">
            <c:chart xmlns:r="http://schemas.openxmlformats.org/officeDocument/2006/relationships" xmlns:c="http://schemas.openxmlformats.org/drawingml/2006/chart" r:id="R4f56622beec54613"/>
          </a:graphicData>
        </a:graphic>
      </p:graphicFrame>
      <p:sp>
        <p:nvSpPr>
          <p:cNvPr id="6" name="">
            <a:extLst xmlns:a="http://schemas.openxmlformats.org/drawingml/2006/main">
              <a:ext uri="{FF2B5EF4-FFF2-40B4-BE49-F238E27FC236}">
                <a16:creationId xmlns:a16="http://schemas.microsoft.com/office/drawing/2014/main" id="{5FED66DE-5092-4D03-8021-663769544C08}"/>
              </a:ext>
            </a:extLst>
          </p:cNvPr>
          <p:cNvSpPr>
            <a:spLocks xmlns:a="http://schemas.openxmlformats.org/drawingml/2006/main" noGrp="1"/>
          </p:cNvSpPr>
          <p:nvPr/>
        </p:nvSpPr>
        <p:spPr>
          <a:xfrm xmlns:a="http://schemas.openxmlformats.org/drawingml/2006/main">
            <a:off x="7905750" y="2238375"/>
            <a:ext cx="3571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1">
                <a:solidFill>
                  <a:srgbClr val="0077CD"/>
                </a:solidFill>
                <a:latin typeface="Helvetica Neue"/>
                <a:ea typeface="Helvetica Neue"/>
                <a:cs typeface="Helvetica Neue"/>
              </a:defRPr>
            </a:pPr>
            <a:r>
              <a:rPr sz="3750" b="1">
                <a:solidFill>
                  <a:srgbClr val="0077CD"/>
                </a:solidFill>
                <a:latin typeface="Helvetica Neue"/>
                <a:ea typeface="Helvetica Neue"/>
                <a:cs typeface="Helvetica Neue"/>
              </a:rPr>
              <a:t>43,700</a:t>
            </a:r>
          </a:p>
        </p:txBody>
      </p:sp>
      <p:sp>
        <p:nvSpPr>
          <p:cNvPr id="7" name="">
            <a:extLst xmlns:a="http://schemas.openxmlformats.org/drawingml/2006/main">
              <a:ext uri="{FF2B5EF4-FFF2-40B4-BE49-F238E27FC236}">
                <a16:creationId xmlns:a16="http://schemas.microsoft.com/office/drawing/2014/main" id="{8A2F6DA2-D3B4-40BF-9A56-EB5B600F0737}"/>
              </a:ext>
            </a:extLst>
          </p:cNvPr>
          <p:cNvSpPr>
            <a:spLocks xmlns:a="http://schemas.openxmlformats.org/drawingml/2006/main" noGrp="1"/>
          </p:cNvSpPr>
          <p:nvPr/>
        </p:nvSpPr>
        <p:spPr>
          <a:xfrm xmlns:a="http://schemas.openxmlformats.org/drawingml/2006/main">
            <a:off x="7905750" y="2952750"/>
            <a:ext cx="35718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333333"/>
                </a:solidFill>
                <a:latin typeface="Helvetica Neue"/>
                <a:ea typeface="Helvetica Neue"/>
                <a:cs typeface="Helvetica Neue"/>
              </a:defRPr>
            </a:pPr>
            <a:r>
              <a:rPr sz="1950" b="0">
                <a:solidFill>
                  <a:srgbClr val="333333"/>
                </a:solidFill>
                <a:latin typeface="Helvetica Neue"/>
                <a:ea typeface="Helvetica Neue"/>
                <a:cs typeface="Helvetica Neue"/>
              </a:rPr>
              <a:t>Forecast retirements over the outlook period</a:t>
            </a:r>
          </a:p>
        </p:txBody>
      </p:sp>
      <p:sp>
        <p:nvSpPr>
          <p:cNvPr id="8" name="">
            <a:extLst xmlns:a="http://schemas.openxmlformats.org/drawingml/2006/main">
              <a:ext uri="{FF2B5EF4-FFF2-40B4-BE49-F238E27FC236}">
                <a16:creationId xmlns:a16="http://schemas.microsoft.com/office/drawing/2014/main" id="{69E99F5F-4FE0-4EEA-8312-C56362AAEE01}"/>
              </a:ext>
            </a:extLst>
          </p:cNvPr>
          <p:cNvSpPr>
            <a:spLocks xmlns:a="http://schemas.openxmlformats.org/drawingml/2006/main" noGrp="1"/>
          </p:cNvSpPr>
          <p:nvPr/>
        </p:nvSpPr>
        <p:spPr>
          <a:xfrm xmlns:a="http://schemas.openxmlformats.org/drawingml/2006/main">
            <a:off x="7905750" y="4124325"/>
            <a:ext cx="3571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750" b="1">
                <a:solidFill>
                  <a:srgbClr val="0077CD"/>
                </a:solidFill>
                <a:latin typeface="Helvetica Neue"/>
                <a:ea typeface="Helvetica Neue"/>
                <a:cs typeface="Helvetica Neue"/>
              </a:defRPr>
            </a:pPr>
            <a:r>
              <a:rPr sz="3750" b="1">
                <a:solidFill>
                  <a:srgbClr val="0077CD"/>
                </a:solidFill>
                <a:latin typeface="Helvetica Neue"/>
                <a:ea typeface="Helvetica Neue"/>
                <a:cs typeface="Helvetica Neue"/>
              </a:rPr>
              <a:t>5,300</a:t>
            </a:r>
          </a:p>
        </p:txBody>
      </p:sp>
      <p:sp>
        <p:nvSpPr>
          <p:cNvPr id="9" name="">
            <a:extLst xmlns:a="http://schemas.openxmlformats.org/drawingml/2006/main">
              <a:ext uri="{FF2B5EF4-FFF2-40B4-BE49-F238E27FC236}">
                <a16:creationId xmlns:a16="http://schemas.microsoft.com/office/drawing/2014/main" id="{D6194C3C-4174-4D8F-932F-C61724CD1DEA}"/>
              </a:ext>
            </a:extLst>
          </p:cNvPr>
          <p:cNvSpPr>
            <a:spLocks xmlns:a="http://schemas.openxmlformats.org/drawingml/2006/main" noGrp="1"/>
          </p:cNvSpPr>
          <p:nvPr/>
        </p:nvSpPr>
        <p:spPr>
          <a:xfrm xmlns:a="http://schemas.openxmlformats.org/drawingml/2006/main">
            <a:off x="7905750" y="4857750"/>
            <a:ext cx="3571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333333"/>
                </a:solidFill>
                <a:latin typeface="Helvetica Neue"/>
                <a:ea typeface="Helvetica Neue"/>
                <a:cs typeface="Helvetica Neue"/>
              </a:defRPr>
            </a:pPr>
            <a:r>
              <a:rPr sz="1950" b="0">
                <a:solidFill>
                  <a:srgbClr val="333333"/>
                </a:solidFill>
                <a:latin typeface="Helvetica Neue"/>
                <a:ea typeface="Helvetica Neue"/>
                <a:cs typeface="Helvetica Neue"/>
              </a:rPr>
              <a:t>Potential cumulative recruitment shortfall</a:t>
            </a:r>
          </a:p>
        </p:txBody>
      </p:sp>
    </p:spTree>
    <p:extLst>
      <p:ext uri="{BB962C8B-B14F-4D97-AF65-F5344CB8AC3E}">
        <p14:creationId xmlns:p14="http://schemas.microsoft.com/office/powerpoint/2010/main" val="104605183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4F12F48-E005-4746-80D5-3C5AABF75354}"/>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HVAC and steel prices show the largest increases</a:t>
            </a:r>
          </a:p>
        </p:txBody>
      </p:sp>
      <p:sp>
        <p:nvSpPr>
          <p:cNvPr id="2" name="">
            <a:extLst xmlns:a="http://schemas.openxmlformats.org/drawingml/2006/main">
              <a:ext uri="{FF2B5EF4-FFF2-40B4-BE49-F238E27FC236}">
                <a16:creationId xmlns:a16="http://schemas.microsoft.com/office/drawing/2014/main" id="{01EDA676-9263-423E-BF1D-3267D3D3B013}"/>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Calgary and Edmonton industrial-factory construction components, Q2 2026 versus Q2 2025.</a:t>
            </a:r>
          </a:p>
        </p:txBody>
      </p:sp>
      <p:sp>
        <p:nvSpPr>
          <p:cNvPr id="3" name="">
            <a:extLst xmlns:a="http://schemas.openxmlformats.org/drawingml/2006/main">
              <a:ext uri="{FF2B5EF4-FFF2-40B4-BE49-F238E27FC236}">
                <a16:creationId xmlns:a16="http://schemas.microsoft.com/office/drawing/2014/main" id="{D80F9329-8C3A-4F3A-B2B3-DD68317826D2}"/>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Source: Statistics Canada, Table 18-10-0289-01. Contractor bid-price changes, not raw-material prices.</a:t>
            </a:r>
          </a:p>
        </p:txBody>
      </p:sp>
      <p:sp>
        <p:nvSpPr>
          <p:cNvPr id="4" name="">
            <a:extLst xmlns:a="http://schemas.openxmlformats.org/drawingml/2006/main">
              <a:ext uri="{FF2B5EF4-FFF2-40B4-BE49-F238E27FC236}">
                <a16:creationId xmlns:a16="http://schemas.microsoft.com/office/drawing/2014/main" id="{6A79F5CC-9AA5-4A21-907E-4AC4A79A07AE}"/>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8</a:t>
            </a:r>
          </a:p>
        </p:txBody>
      </p:sp>
      <p:graphicFrame>
        <p:nvGraphicFramePr>
          <p:cNvPr id="11" name="Chart"/>
          <p:cNvGraphicFramePr/>
          <p:nvPr/>
        </p:nvGraphicFramePr>
        <p:xfrm>
          <a:off xmlns:a="http://schemas.openxmlformats.org/drawingml/2006/main" x="609600" y="2143125"/>
          <a:ext xmlns:a="http://schemas.openxmlformats.org/drawingml/2006/main" cx="10972800" cy="3571875"/>
        </p:xfrm>
        <a:graphic xmlns:a="http://schemas.openxmlformats.org/drawingml/2006/main">
          <a:graphicData uri="http://schemas.openxmlformats.org/drawingml/2006/chart">
            <c:chart xmlns:r="http://schemas.openxmlformats.org/officeDocument/2006/relationships" xmlns:c="http://schemas.openxmlformats.org/drawingml/2006/chart" r:id="R448a9bbfb07b4d48"/>
          </a:graphicData>
        </a:graphic>
      </p:graphicFrame>
      <p:sp>
        <p:nvSpPr>
          <p:cNvPr id="6" name="">
            <a:extLst xmlns:a="http://schemas.openxmlformats.org/drawingml/2006/main">
              <a:ext uri="{FF2B5EF4-FFF2-40B4-BE49-F238E27FC236}">
                <a16:creationId xmlns:a16="http://schemas.microsoft.com/office/drawing/2014/main" id="{3FA75B9F-A772-4E68-BD5B-C6FF561E331B}"/>
              </a:ext>
            </a:extLst>
          </p:cNvPr>
          <p:cNvSpPr>
            <a:spLocks xmlns:a="http://schemas.openxmlformats.org/drawingml/2006/main" noGrp="1"/>
          </p:cNvSpPr>
          <p:nvPr/>
        </p:nvSpPr>
        <p:spPr>
          <a:xfrm xmlns:a="http://schemas.openxmlformats.org/drawingml/2006/main">
            <a:off x="609600" y="587692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02C4E"/>
                </a:solidFill>
                <a:latin typeface="Helvetica Neue"/>
                <a:ea typeface="Helvetica Neue"/>
                <a:cs typeface="Helvetica Neue"/>
              </a:defRPr>
            </a:pPr>
            <a:r>
              <a:rPr sz="1650" b="1">
                <a:solidFill>
                  <a:srgbClr val="002C4E"/>
                </a:solidFill>
                <a:latin typeface="Helvetica Neue"/>
                <a:ea typeface="Helvetica Neue"/>
                <a:cs typeface="Helvetica Neue"/>
              </a:rPr>
              <a:t>Observed bid-price changes do not establish a data-centre-caused premium.</a:t>
            </a:r>
          </a:p>
        </p:txBody>
      </p:sp>
    </p:spTree>
    <p:extLst>
      <p:ext uri="{BB962C8B-B14F-4D97-AF65-F5344CB8AC3E}">
        <p14:creationId xmlns:p14="http://schemas.microsoft.com/office/powerpoint/2010/main" val="153936258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1AABC99-8B45-4AE7-A4D4-DABBD3A522CB}"/>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Other Alberta capital projects use the same resources</a:t>
            </a:r>
          </a:p>
        </p:txBody>
      </p:sp>
      <p:sp>
        <p:nvSpPr>
          <p:cNvPr id="2" name="">
            <a:extLst xmlns:a="http://schemas.openxmlformats.org/drawingml/2006/main">
              <a:ext uri="{FF2B5EF4-FFF2-40B4-BE49-F238E27FC236}">
                <a16:creationId xmlns:a16="http://schemas.microsoft.com/office/drawing/2014/main" id="{7408C293-42D2-4A71-BEA7-1961DA55744A}"/>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541 screened records across infrastructure categories.</a:t>
            </a:r>
          </a:p>
        </p:txBody>
      </p:sp>
      <p:sp>
        <p:nvSpPr>
          <p:cNvPr id="3" name="">
            <a:extLst xmlns:a="http://schemas.openxmlformats.org/drawingml/2006/main">
              <a:ext uri="{FF2B5EF4-FFF2-40B4-BE49-F238E27FC236}">
                <a16:creationId xmlns:a16="http://schemas.microsoft.com/office/drawing/2014/main" id="{C6078BB3-5291-4054-816E-8385EBCAAC9E}"/>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Source: Alberta Major Projects, 31 Aug 2026; analytical classification. Some records have private ownership.</a:t>
            </a:r>
          </a:p>
        </p:txBody>
      </p:sp>
      <p:sp>
        <p:nvSpPr>
          <p:cNvPr id="4" name="">
            <a:extLst xmlns:a="http://schemas.openxmlformats.org/drawingml/2006/main">
              <a:ext uri="{FF2B5EF4-FFF2-40B4-BE49-F238E27FC236}">
                <a16:creationId xmlns:a16="http://schemas.microsoft.com/office/drawing/2014/main" id="{1AEA996B-00F9-4097-B8BC-21AB3A9D1830}"/>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9</a:t>
            </a:r>
          </a:p>
        </p:txBody>
      </p:sp>
      <p:graphicFrame>
        <p:nvGraphicFramePr>
          <p:cNvPr id="13" name="Chart"/>
          <p:cNvGraphicFramePr/>
          <p:nvPr/>
        </p:nvGraphicFramePr>
        <p:xfrm>
          <a:off xmlns:a="http://schemas.openxmlformats.org/drawingml/2006/main" x="609600" y="2095500"/>
          <a:ext xmlns:a="http://schemas.openxmlformats.org/drawingml/2006/main" cx="7239000" cy="3524250"/>
        </p:xfrm>
        <a:graphic xmlns:a="http://schemas.openxmlformats.org/drawingml/2006/main">
          <a:graphicData uri="http://schemas.openxmlformats.org/drawingml/2006/chart">
            <c:chart xmlns:r="http://schemas.openxmlformats.org/officeDocument/2006/relationships" xmlns:c="http://schemas.openxmlformats.org/drawingml/2006/chart" r:id="R33eedfb3db334a07"/>
          </a:graphicData>
        </a:graphic>
      </p:graphicFrame>
      <p:sp>
        <p:nvSpPr>
          <p:cNvPr id="6" name="">
            <a:extLst xmlns:a="http://schemas.openxmlformats.org/drawingml/2006/main">
              <a:ext uri="{FF2B5EF4-FFF2-40B4-BE49-F238E27FC236}">
                <a16:creationId xmlns:a16="http://schemas.microsoft.com/office/drawing/2014/main" id="{F9F19CDA-7ABE-4ED5-B5C3-923572171AE1}"/>
              </a:ext>
            </a:extLst>
          </p:cNvPr>
          <p:cNvSpPr>
            <a:spLocks xmlns:a="http://schemas.openxmlformats.org/drawingml/2006/main" noGrp="1"/>
          </p:cNvSpPr>
          <p:nvPr/>
        </p:nvSpPr>
        <p:spPr>
          <a:xfrm xmlns:a="http://schemas.openxmlformats.org/drawingml/2006/main">
            <a:off x="8524875" y="2190750"/>
            <a:ext cx="2619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0077CD"/>
                </a:solidFill>
                <a:latin typeface="Helvetica Neue"/>
                <a:ea typeface="Helvetica Neue"/>
                <a:cs typeface="Helvetica Neue"/>
              </a:defRPr>
            </a:pPr>
            <a:r>
              <a:rPr sz="4200" b="1">
                <a:solidFill>
                  <a:srgbClr val="0077CD"/>
                </a:solidFill>
                <a:latin typeface="Helvetica Neue"/>
                <a:ea typeface="Helvetica Neue"/>
                <a:cs typeface="Helvetica Neue"/>
              </a:rPr>
              <a:t>166</a:t>
            </a:r>
          </a:p>
        </p:txBody>
      </p:sp>
      <p:sp>
        <p:nvSpPr>
          <p:cNvPr id="7" name="">
            <a:extLst xmlns:a="http://schemas.openxmlformats.org/drawingml/2006/main">
              <a:ext uri="{FF2B5EF4-FFF2-40B4-BE49-F238E27FC236}">
                <a16:creationId xmlns:a16="http://schemas.microsoft.com/office/drawing/2014/main" id="{9BAA12C2-F98C-4721-8A5C-D9F7BE1AC2BE}"/>
              </a:ext>
            </a:extLst>
          </p:cNvPr>
          <p:cNvSpPr>
            <a:spLocks xmlns:a="http://schemas.openxmlformats.org/drawingml/2006/main" noGrp="1"/>
          </p:cNvSpPr>
          <p:nvPr/>
        </p:nvSpPr>
        <p:spPr>
          <a:xfrm xmlns:a="http://schemas.openxmlformats.org/drawingml/2006/main">
            <a:off x="8524875" y="3048000"/>
            <a:ext cx="2762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333333"/>
                </a:solidFill>
                <a:latin typeface="Helvetica Neue"/>
                <a:ea typeface="Helvetica Neue"/>
                <a:cs typeface="Helvetica Neue"/>
              </a:defRPr>
            </a:pPr>
            <a:r>
              <a:rPr sz="1950" b="0">
                <a:solidFill>
                  <a:srgbClr val="333333"/>
                </a:solidFill>
                <a:latin typeface="Helvetica Neue"/>
                <a:ea typeface="Helvetica Neue"/>
                <a:cs typeface="Helvetica Neue"/>
              </a:rPr>
              <a:t>records have known overlap with 2027–2036</a:t>
            </a:r>
          </a:p>
        </p:txBody>
      </p:sp>
      <p:sp>
        <p:nvSpPr>
          <p:cNvPr id="8" name="">
            <a:extLst xmlns:a="http://schemas.openxmlformats.org/drawingml/2006/main">
              <a:ext uri="{FF2B5EF4-FFF2-40B4-BE49-F238E27FC236}">
                <a16:creationId xmlns:a16="http://schemas.microsoft.com/office/drawing/2014/main" id="{FA2AFC3E-2307-420B-B5FB-7F6389E0E2BE}"/>
              </a:ext>
            </a:extLst>
          </p:cNvPr>
          <p:cNvSpPr>
            <a:spLocks xmlns:a="http://schemas.openxmlformats.org/drawingml/2006/main" noGrp="1"/>
          </p:cNvSpPr>
          <p:nvPr/>
        </p:nvSpPr>
        <p:spPr>
          <a:xfrm xmlns:a="http://schemas.openxmlformats.org/drawingml/2006/main">
            <a:off x="8524875" y="4667250"/>
            <a:ext cx="2762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333333"/>
                </a:solidFill>
                <a:latin typeface="Helvetica Neue"/>
                <a:ea typeface="Helvetica Neue"/>
                <a:cs typeface="Helvetica Neue"/>
              </a:defRPr>
            </a:pPr>
            <a:r>
              <a:rPr sz="1875" b="0">
                <a:solidFill>
                  <a:srgbClr val="333333"/>
                </a:solidFill>
                <a:latin typeface="Helvetica Neue"/>
                <a:ea typeface="Helvetica Neue"/>
                <a:cs typeface="Helvetica Neue"/>
              </a:rPr>
              <a:t>Hospitals, schools and utilities share electrical, cooling and commissioning resources.</a:t>
            </a:r>
          </a:p>
        </p:txBody>
      </p:sp>
    </p:spTree>
    <p:extLst>
      <p:ext uri="{BB962C8B-B14F-4D97-AF65-F5344CB8AC3E}">
        <p14:creationId xmlns:p14="http://schemas.microsoft.com/office/powerpoint/2010/main" val="39494550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8F7105C-686C-4A35-80F0-0DF1EC1A3690}"/>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Equipment availability can govern delivery dates</a:t>
            </a:r>
          </a:p>
        </p:txBody>
      </p:sp>
      <p:sp>
        <p:nvSpPr>
          <p:cNvPr id="2" name="">
            <a:extLst xmlns:a="http://schemas.openxmlformats.org/drawingml/2006/main">
              <a:ext uri="{FF2B5EF4-FFF2-40B4-BE49-F238E27FC236}">
                <a16:creationId xmlns:a16="http://schemas.microsoft.com/office/drawing/2014/main" id="{160F8A08-EE83-4879-ABCF-9F4D54B04491}"/>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Supplier lead-time benchmarks relevant to Alberta procurement planning.</a:t>
            </a:r>
          </a:p>
        </p:txBody>
      </p:sp>
      <p:sp>
        <p:nvSpPr>
          <p:cNvPr id="3" name="">
            <a:extLst xmlns:a="http://schemas.openxmlformats.org/drawingml/2006/main">
              <a:ext uri="{FF2B5EF4-FFF2-40B4-BE49-F238E27FC236}">
                <a16:creationId xmlns:a16="http://schemas.microsoft.com/office/drawing/2014/main" id="{8D93657B-C0D8-4196-A112-4D0D2AF9A505}"/>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SourceBlue, Q2 2026 US market ranges. Alberta delivery requires a product-specific supplier quotation.</a:t>
            </a:r>
          </a:p>
        </p:txBody>
      </p:sp>
      <p:sp>
        <p:nvSpPr>
          <p:cNvPr id="4" name="">
            <a:extLst xmlns:a="http://schemas.openxmlformats.org/drawingml/2006/main">
              <a:ext uri="{FF2B5EF4-FFF2-40B4-BE49-F238E27FC236}">
                <a16:creationId xmlns:a16="http://schemas.microsoft.com/office/drawing/2014/main" id="{BEEFB3A4-A977-48AB-928B-17D5AFA294AF}"/>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10</a:t>
            </a:r>
          </a:p>
        </p:txBody>
      </p:sp>
      <p:graphicFrame>
        <p:nvGraphicFramePr>
          <p:cNvPr id="10" name=""/>
          <p:cNvGraphicFramePr/>
          <p:nvPr/>
        </p:nvGraphicFramePr>
        <p:xfrm>
          <a:off xmlns:a="http://schemas.openxmlformats.org/drawingml/2006/main" x="609600" y="2000250"/>
          <a:ext xmlns:a="http://schemas.openxmlformats.org/drawingml/2006/main" cx="10972800" cy="3905250"/>
        </p:xfrm>
        <a:graphic xmlns:a="http://schemas.openxmlformats.org/drawingml/2006/main">
          <a:graphicData uri="http://schemas.openxmlformats.org/drawingml/2006/table">
            <a:tbl>
              <a:tblPr/>
              <a:tblGrid>
                <a:gridCol w="3524250"/>
                <a:gridCol w="2381250"/>
                <a:gridCol w="5067300"/>
              </a:tblGrid>
              <a:tr h="433917">
                <a:tc>
                  <a:txBody>
                    <a:bodyPr/>
                    <a:lstStyle/>
                    <a:p>
                      <a:r>
                        <a:rPr sz="1575" b="1">
                          <a:solidFill>
                            <a:srgbClr val="FFFFFF"/>
                          </a:solidFill>
                          <a:latin typeface="Helvetica Neue"/>
                          <a:ea typeface="Helvetica Neue"/>
                          <a:cs typeface="Helvetica Neue"/>
                        </a:rPr>
                        <a:t>Equipment</a:t>
                      </a:r>
                    </a:p>
                  </a:txBody>
                  <a:tcPr marL="91440" marR="91440" marT="45720" marB="45720">
                    <a:solidFill>
                      <a:srgbClr val="0077CD"/>
                    </a:solidFill>
                  </a:tcPr>
                </a:tc>
                <a:tc>
                  <a:txBody>
                    <a:bodyPr/>
                    <a:lstStyle/>
                    <a:p>
                      <a:r>
                        <a:rPr sz="1575" b="1">
                          <a:solidFill>
                            <a:srgbClr val="FFFFFF"/>
                          </a:solidFill>
                          <a:latin typeface="Helvetica Neue"/>
                          <a:ea typeface="Helvetica Neue"/>
                          <a:cs typeface="Helvetica Neue"/>
                        </a:rPr>
                        <a:t>Published lead time</a:t>
                      </a:r>
                    </a:p>
                  </a:txBody>
                  <a:tcPr marL="91440" marR="91440" marT="45720" marB="45720">
                    <a:solidFill>
                      <a:srgbClr val="0077CD"/>
                    </a:solidFill>
                  </a:tcPr>
                </a:tc>
                <a:tc>
                  <a:txBody>
                    <a:bodyPr/>
                    <a:lstStyle/>
                    <a:p>
                      <a:r>
                        <a:rPr sz="1575" b="1">
                          <a:solidFill>
                            <a:srgbClr val="FFFFFF"/>
                          </a:solidFill>
                          <a:latin typeface="Helvetica Neue"/>
                          <a:ea typeface="Helvetica Neue"/>
                          <a:cs typeface="Helvetica Neue"/>
                        </a:rPr>
                        <a:t>Delivery consideration</a:t>
                      </a:r>
                    </a:p>
                  </a:txBody>
                  <a:tcPr marL="91440" marR="91440" marT="45720" marB="45720">
                    <a:solidFill>
                      <a:srgbClr val="0077CD"/>
                    </a:solidFill>
                  </a:tcPr>
                </a:tc>
              </a:tr>
              <a:tr h="433917">
                <a:tc>
                  <a:txBody>
                    <a:bodyPr/>
                    <a:lstStyle/>
                    <a:p>
                      <a:r>
                        <a:rPr sz="1575" b="0">
                          <a:solidFill>
                            <a:srgbClr val="333333"/>
                          </a:solidFill>
                          <a:latin typeface="Helvetica Neue"/>
                          <a:ea typeface="Helvetica Neue"/>
                          <a:cs typeface="Helvetica Neue"/>
                        </a:rPr>
                        <a:t>Cooling towers</a:t>
                      </a:r>
                    </a:p>
                  </a:txBody>
                  <a:tcPr marL="91440" marR="91440" marT="45720" marB="45720">
                    <a:solidFill>
                      <a:srgbClr val="FFFFFF"/>
                    </a:solidFill>
                  </a:tcPr>
                </a:tc>
                <a:tc>
                  <a:txBody>
                    <a:bodyPr/>
                    <a:lstStyle/>
                    <a:p>
                      <a:r>
                        <a:rPr sz="1575" b="0">
                          <a:solidFill>
                            <a:srgbClr val="333333"/>
                          </a:solidFill>
                          <a:latin typeface="Helvetica Neue"/>
                          <a:ea typeface="Helvetica Neue"/>
                          <a:cs typeface="Helvetica Neue"/>
                        </a:rPr>
                        <a:t>6–19 weeks</a:t>
                      </a:r>
                    </a:p>
                  </a:txBody>
                  <a:tcPr marL="91440" marR="91440" marT="45720" marB="45720">
                    <a:solidFill>
                      <a:srgbClr val="FFFFFF"/>
                    </a:solidFill>
                  </a:tcPr>
                </a:tc>
                <a:tc>
                  <a:txBody>
                    <a:bodyPr/>
                    <a:lstStyle/>
                    <a:p>
                      <a:r>
                        <a:rPr sz="1575" b="0">
                          <a:solidFill>
                            <a:srgbClr val="333333"/>
                          </a:solidFill>
                          <a:latin typeface="Helvetica Neue"/>
                          <a:ea typeface="Helvetica Neue"/>
                          <a:cs typeface="Helvetica Neue"/>
                        </a:rPr>
                        <a:t>Cooling configuration and installation window</a:t>
                      </a:r>
                    </a:p>
                  </a:txBody>
                  <a:tcPr marL="91440" marR="91440" marT="45720" marB="45720">
                    <a:solidFill>
                      <a:srgbClr val="FFFFFF"/>
                    </a:solidFill>
                  </a:tcPr>
                </a:tc>
              </a:tr>
              <a:tr h="433917">
                <a:tc>
                  <a:txBody>
                    <a:bodyPr/>
                    <a:lstStyle/>
                    <a:p>
                      <a:r>
                        <a:rPr sz="1575" b="0">
                          <a:solidFill>
                            <a:srgbClr val="333333"/>
                          </a:solidFill>
                          <a:latin typeface="Helvetica Neue"/>
                          <a:ea typeface="Helvetica Neue"/>
                          <a:cs typeface="Helvetica Neue"/>
                        </a:rPr>
                        <a:t>Air-cooled chillers</a:t>
                      </a:r>
                    </a:p>
                  </a:txBody>
                  <a:tcPr marL="91440" marR="91440" marT="45720" marB="45720">
                    <a:solidFill>
                      <a:srgbClr val="F2F2F2"/>
                    </a:solidFill>
                  </a:tcPr>
                </a:tc>
                <a:tc>
                  <a:txBody>
                    <a:bodyPr/>
                    <a:lstStyle/>
                    <a:p>
                      <a:r>
                        <a:rPr sz="1575" b="0">
                          <a:solidFill>
                            <a:srgbClr val="333333"/>
                          </a:solidFill>
                          <a:latin typeface="Helvetica Neue"/>
                          <a:ea typeface="Helvetica Neue"/>
                          <a:cs typeface="Helvetica Neue"/>
                        </a:rPr>
                        <a:t>3–49 weeks</a:t>
                      </a:r>
                    </a:p>
                  </a:txBody>
                  <a:tcPr marL="91440" marR="91440" marT="45720" marB="45720">
                    <a:solidFill>
                      <a:srgbClr val="F2F2F2"/>
                    </a:solidFill>
                  </a:tcPr>
                </a:tc>
                <a:tc>
                  <a:txBody>
                    <a:bodyPr/>
                    <a:lstStyle/>
                    <a:p>
                      <a:r>
                        <a:rPr sz="1575" b="0">
                          <a:solidFill>
                            <a:srgbClr val="333333"/>
                          </a:solidFill>
                          <a:latin typeface="Helvetica Neue"/>
                          <a:ea typeface="Helvetica Neue"/>
                          <a:cs typeface="Helvetica Neue"/>
                        </a:rPr>
                        <a:t>Duty, redundancy and manufacturer selection</a:t>
                      </a:r>
                    </a:p>
                  </a:txBody>
                  <a:tcPr marL="91440" marR="91440" marT="45720" marB="45720">
                    <a:solidFill>
                      <a:srgbClr val="F2F2F2"/>
                    </a:solidFill>
                  </a:tcPr>
                </a:tc>
              </a:tr>
              <a:tr h="433917">
                <a:tc>
                  <a:txBody>
                    <a:bodyPr/>
                    <a:lstStyle/>
                    <a:p>
                      <a:r>
                        <a:rPr sz="1575" b="0">
                          <a:solidFill>
                            <a:srgbClr val="333333"/>
                          </a:solidFill>
                          <a:latin typeface="Helvetica Neue"/>
                          <a:ea typeface="Helvetica Neue"/>
                          <a:cs typeface="Helvetica Neue"/>
                        </a:rPr>
                        <a:t>Water-cooled chillers</a:t>
                      </a:r>
                    </a:p>
                  </a:txBody>
                  <a:tcPr marL="91440" marR="91440" marT="45720" marB="45720">
                    <a:solidFill>
                      <a:srgbClr val="FFFFFF"/>
                    </a:solidFill>
                  </a:tcPr>
                </a:tc>
                <a:tc>
                  <a:txBody>
                    <a:bodyPr/>
                    <a:lstStyle/>
                    <a:p>
                      <a:r>
                        <a:rPr sz="1575" b="0">
                          <a:solidFill>
                            <a:srgbClr val="333333"/>
                          </a:solidFill>
                          <a:latin typeface="Helvetica Neue"/>
                          <a:ea typeface="Helvetica Neue"/>
                          <a:cs typeface="Helvetica Neue"/>
                        </a:rPr>
                        <a:t>12–60 weeks</a:t>
                      </a:r>
                    </a:p>
                  </a:txBody>
                  <a:tcPr marL="91440" marR="91440" marT="45720" marB="45720">
                    <a:solidFill>
                      <a:srgbClr val="FFFFFF"/>
                    </a:solidFill>
                  </a:tcPr>
                </a:tc>
                <a:tc>
                  <a:txBody>
                    <a:bodyPr/>
                    <a:lstStyle/>
                    <a:p>
                      <a:r>
                        <a:rPr sz="1575" b="0">
                          <a:solidFill>
                            <a:srgbClr val="333333"/>
                          </a:solidFill>
                          <a:latin typeface="Helvetica Neue"/>
                          <a:ea typeface="Helvetica Neue"/>
                          <a:cs typeface="Helvetica Neue"/>
                        </a:rPr>
                        <a:t>Cooling-system design and commissioning</a:t>
                      </a:r>
                    </a:p>
                  </a:txBody>
                  <a:tcPr marL="91440" marR="91440" marT="45720" marB="45720">
                    <a:solidFill>
                      <a:srgbClr val="FFFFFF"/>
                    </a:solidFill>
                  </a:tcPr>
                </a:tc>
              </a:tr>
              <a:tr h="433917">
                <a:tc>
                  <a:txBody>
                    <a:bodyPr/>
                    <a:lstStyle/>
                    <a:p>
                      <a:r>
                        <a:rPr sz="1575" b="0">
                          <a:solidFill>
                            <a:srgbClr val="333333"/>
                          </a:solidFill>
                          <a:latin typeface="Helvetica Neue"/>
                          <a:ea typeface="Helvetica Neue"/>
                          <a:cs typeface="Helvetica Neue"/>
                        </a:rPr>
                        <a:t>Air handling units</a:t>
                      </a:r>
                    </a:p>
                  </a:txBody>
                  <a:tcPr marL="91440" marR="91440" marT="45720" marB="45720">
                    <a:solidFill>
                      <a:srgbClr val="F2F2F2"/>
                    </a:solidFill>
                  </a:tcPr>
                </a:tc>
                <a:tc>
                  <a:txBody>
                    <a:bodyPr/>
                    <a:lstStyle/>
                    <a:p>
                      <a:r>
                        <a:rPr sz="1575" b="0">
                          <a:solidFill>
                            <a:srgbClr val="333333"/>
                          </a:solidFill>
                          <a:latin typeface="Helvetica Neue"/>
                          <a:ea typeface="Helvetica Neue"/>
                          <a:cs typeface="Helvetica Neue"/>
                        </a:rPr>
                        <a:t>8–78 weeks</a:t>
                      </a:r>
                    </a:p>
                  </a:txBody>
                  <a:tcPr marL="91440" marR="91440" marT="45720" marB="45720">
                    <a:solidFill>
                      <a:srgbClr val="F2F2F2"/>
                    </a:solidFill>
                  </a:tcPr>
                </a:tc>
                <a:tc>
                  <a:txBody>
                    <a:bodyPr/>
                    <a:lstStyle/>
                    <a:p>
                      <a:r>
                        <a:rPr sz="1575" b="0">
                          <a:solidFill>
                            <a:srgbClr val="333333"/>
                          </a:solidFill>
                          <a:latin typeface="Helvetica Neue"/>
                          <a:ea typeface="Helvetica Neue"/>
                          <a:cs typeface="Helvetica Neue"/>
                        </a:rPr>
                        <a:t>Custom specification and controls integration</a:t>
                      </a:r>
                    </a:p>
                  </a:txBody>
                  <a:tcPr marL="91440" marR="91440" marT="45720" marB="45720">
                    <a:solidFill>
                      <a:srgbClr val="F2F2F2"/>
                    </a:solidFill>
                  </a:tcPr>
                </a:tc>
              </a:tr>
              <a:tr h="433917">
                <a:tc>
                  <a:txBody>
                    <a:bodyPr/>
                    <a:lstStyle/>
                    <a:p>
                      <a:r>
                        <a:rPr sz="1575" b="0">
                          <a:solidFill>
                            <a:srgbClr val="333333"/>
                          </a:solidFill>
                          <a:latin typeface="Helvetica Neue"/>
                          <a:ea typeface="Helvetica Neue"/>
                          <a:cs typeface="Helvetica Neue"/>
                        </a:rPr>
                        <a:t>Generators</a:t>
                      </a:r>
                    </a:p>
                  </a:txBody>
                  <a:tcPr marL="91440" marR="91440" marT="45720" marB="45720">
                    <a:solidFill>
                      <a:srgbClr val="FFFFFF"/>
                    </a:solidFill>
                  </a:tcPr>
                </a:tc>
                <a:tc>
                  <a:txBody>
                    <a:bodyPr/>
                    <a:lstStyle/>
                    <a:p>
                      <a:r>
                        <a:rPr sz="1575" b="0">
                          <a:solidFill>
                            <a:srgbClr val="333333"/>
                          </a:solidFill>
                          <a:latin typeface="Helvetica Neue"/>
                          <a:ea typeface="Helvetica Neue"/>
                          <a:cs typeface="Helvetica Neue"/>
                        </a:rPr>
                        <a:t>28–66 weeks</a:t>
                      </a:r>
                    </a:p>
                  </a:txBody>
                  <a:tcPr marL="91440" marR="91440" marT="45720" marB="45720">
                    <a:solidFill>
                      <a:srgbClr val="FFFFFF"/>
                    </a:solidFill>
                  </a:tcPr>
                </a:tc>
                <a:tc>
                  <a:txBody>
                    <a:bodyPr/>
                    <a:lstStyle/>
                    <a:p>
                      <a:r>
                        <a:rPr sz="1575" b="0">
                          <a:solidFill>
                            <a:srgbClr val="333333"/>
                          </a:solidFill>
                          <a:latin typeface="Helvetica Neue"/>
                          <a:ea typeface="Helvetica Neue"/>
                          <a:cs typeface="Helvetica Neue"/>
                        </a:rPr>
                        <a:t>Rating, approvals and site installation</a:t>
                      </a:r>
                    </a:p>
                  </a:txBody>
                  <a:tcPr marL="91440" marR="91440" marT="45720" marB="45720">
                    <a:solidFill>
                      <a:srgbClr val="FFFFFF"/>
                    </a:solidFill>
                  </a:tcPr>
                </a:tc>
              </a:tr>
              <a:tr h="433917">
                <a:tc>
                  <a:txBody>
                    <a:bodyPr/>
                    <a:lstStyle/>
                    <a:p>
                      <a:r>
                        <a:rPr sz="1575" b="0">
                          <a:solidFill>
                            <a:srgbClr val="333333"/>
                          </a:solidFill>
                          <a:latin typeface="Helvetica Neue"/>
                          <a:ea typeface="Helvetica Neue"/>
                          <a:cs typeface="Helvetica Neue"/>
                        </a:rPr>
                        <a:t>Low-voltage switchgear</a:t>
                      </a:r>
                    </a:p>
                  </a:txBody>
                  <a:tcPr marL="91440" marR="91440" marT="45720" marB="45720">
                    <a:solidFill>
                      <a:srgbClr val="F2F2F2"/>
                    </a:solidFill>
                  </a:tcPr>
                </a:tc>
                <a:tc>
                  <a:txBody>
                    <a:bodyPr/>
                    <a:lstStyle/>
                    <a:p>
                      <a:r>
                        <a:rPr sz="1575" b="0">
                          <a:solidFill>
                            <a:srgbClr val="333333"/>
                          </a:solidFill>
                          <a:latin typeface="Helvetica Neue"/>
                          <a:ea typeface="Helvetica Neue"/>
                          <a:cs typeface="Helvetica Neue"/>
                        </a:rPr>
                        <a:t>26–58 weeks</a:t>
                      </a:r>
                    </a:p>
                  </a:txBody>
                  <a:tcPr marL="91440" marR="91440" marT="45720" marB="45720">
                    <a:solidFill>
                      <a:srgbClr val="F2F2F2"/>
                    </a:solidFill>
                  </a:tcPr>
                </a:tc>
                <a:tc>
                  <a:txBody>
                    <a:bodyPr/>
                    <a:lstStyle/>
                    <a:p>
                      <a:r>
                        <a:rPr sz="1575" b="0">
                          <a:solidFill>
                            <a:srgbClr val="333333"/>
                          </a:solidFill>
                          <a:latin typeface="Helvetica Neue"/>
                          <a:ea typeface="Helvetica Neue"/>
                          <a:cs typeface="Helvetica Neue"/>
                        </a:rPr>
                        <a:t>Electrical design and approved submittals</a:t>
                      </a:r>
                    </a:p>
                  </a:txBody>
                  <a:tcPr marL="91440" marR="91440" marT="45720" marB="45720">
                    <a:solidFill>
                      <a:srgbClr val="F2F2F2"/>
                    </a:solidFill>
                  </a:tcPr>
                </a:tc>
              </a:tr>
              <a:tr h="433917">
                <a:tc>
                  <a:txBody>
                    <a:bodyPr/>
                    <a:lstStyle/>
                    <a:p>
                      <a:r>
                        <a:rPr sz="1575" b="0">
                          <a:solidFill>
                            <a:srgbClr val="333333"/>
                          </a:solidFill>
                          <a:latin typeface="Helvetica Neue"/>
                          <a:ea typeface="Helvetica Neue"/>
                          <a:cs typeface="Helvetica Neue"/>
                        </a:rPr>
                        <a:t>Medium-voltage switchgear</a:t>
                      </a:r>
                    </a:p>
                  </a:txBody>
                  <a:tcPr marL="91440" marR="91440" marT="45720" marB="45720">
                    <a:solidFill>
                      <a:srgbClr val="FFFFFF"/>
                    </a:solidFill>
                  </a:tcPr>
                </a:tc>
                <a:tc>
                  <a:txBody>
                    <a:bodyPr/>
                    <a:lstStyle/>
                    <a:p>
                      <a:r>
                        <a:rPr sz="1575" b="0">
                          <a:solidFill>
                            <a:srgbClr val="333333"/>
                          </a:solidFill>
                          <a:latin typeface="Helvetica Neue"/>
                          <a:ea typeface="Helvetica Neue"/>
                          <a:cs typeface="Helvetica Neue"/>
                        </a:rPr>
                        <a:t>28–48 weeks</a:t>
                      </a:r>
                    </a:p>
                  </a:txBody>
                  <a:tcPr marL="91440" marR="91440" marT="45720" marB="45720">
                    <a:solidFill>
                      <a:srgbClr val="FFFFFF"/>
                    </a:solidFill>
                  </a:tcPr>
                </a:tc>
                <a:tc>
                  <a:txBody>
                    <a:bodyPr/>
                    <a:lstStyle/>
                    <a:p>
                      <a:r>
                        <a:rPr sz="1575" b="0">
                          <a:solidFill>
                            <a:srgbClr val="333333"/>
                          </a:solidFill>
                          <a:latin typeface="Helvetica Neue"/>
                          <a:ea typeface="Helvetica Neue"/>
                          <a:cs typeface="Helvetica Neue"/>
                        </a:rPr>
                        <a:t>Utility interface and technical specification</a:t>
                      </a:r>
                    </a:p>
                  </a:txBody>
                  <a:tcPr marL="91440" marR="91440" marT="45720" marB="45720">
                    <a:solidFill>
                      <a:srgbClr val="FFFFFF"/>
                    </a:solidFill>
                  </a:tcPr>
                </a:tc>
              </a:tr>
              <a:tr h="433917">
                <a:tc>
                  <a:txBody>
                    <a:bodyPr/>
                    <a:lstStyle/>
                    <a:p>
                      <a:r>
                        <a:rPr sz="1575" b="0">
                          <a:solidFill>
                            <a:srgbClr val="333333"/>
                          </a:solidFill>
                          <a:latin typeface="Helvetica Neue"/>
                          <a:ea typeface="Helvetica Neue"/>
                          <a:cs typeface="Helvetica Neue"/>
                        </a:rPr>
                        <a:t>UPS</a:t>
                      </a:r>
                    </a:p>
                  </a:txBody>
                  <a:tcPr marL="91440" marR="91440" marT="45720" marB="45720">
                    <a:solidFill>
                      <a:srgbClr val="F2F2F2"/>
                    </a:solidFill>
                  </a:tcPr>
                </a:tc>
                <a:tc>
                  <a:txBody>
                    <a:bodyPr/>
                    <a:lstStyle/>
                    <a:p>
                      <a:r>
                        <a:rPr sz="1575" b="0">
                          <a:solidFill>
                            <a:srgbClr val="333333"/>
                          </a:solidFill>
                          <a:latin typeface="Helvetica Neue"/>
                          <a:ea typeface="Helvetica Neue"/>
                          <a:cs typeface="Helvetica Neue"/>
                        </a:rPr>
                        <a:t>16–42 weeks</a:t>
                      </a:r>
                    </a:p>
                  </a:txBody>
                  <a:tcPr marL="91440" marR="91440" marT="45720" marB="45720">
                    <a:solidFill>
                      <a:srgbClr val="F2F2F2"/>
                    </a:solidFill>
                  </a:tcPr>
                </a:tc>
                <a:tc>
                  <a:txBody>
                    <a:bodyPr/>
                    <a:lstStyle/>
                    <a:p>
                      <a:r>
                        <a:rPr sz="1575" b="0">
                          <a:solidFill>
                            <a:srgbClr val="333333"/>
                          </a:solidFill>
                          <a:latin typeface="Helvetica Neue"/>
                          <a:ea typeface="Helvetica Neue"/>
                          <a:cs typeface="Helvetica Neue"/>
                        </a:rPr>
                        <a:t>Power architecture and testing requirements</a:t>
                      </a:r>
                    </a:p>
                  </a:txBody>
                  <a:tcPr marL="91440" marR="91440" marT="45720" marB="45720">
                    <a:solidFill>
                      <a:srgbClr val="F2F2F2"/>
                    </a:solidFill>
                  </a:tcPr>
                </a:tc>
              </a:tr>
            </a:tbl>
          </a:graphicData>
        </a:graphic>
      </p:graphicFrame>
    </p:spTree>
    <p:extLst>
      <p:ext uri="{BB962C8B-B14F-4D97-AF65-F5344CB8AC3E}">
        <p14:creationId xmlns:p14="http://schemas.microsoft.com/office/powerpoint/2010/main" val="139147961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15D7875-AD2C-4600-BDB2-AAD4D8AC6D0E}"/>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Schedule disruption can extend cost exposure</a:t>
            </a:r>
          </a:p>
        </p:txBody>
      </p:sp>
      <p:sp>
        <p:nvSpPr>
          <p:cNvPr id="2" name="">
            <a:extLst xmlns:a="http://schemas.openxmlformats.org/drawingml/2006/main">
              <a:ext uri="{FF2B5EF4-FFF2-40B4-BE49-F238E27FC236}">
                <a16:creationId xmlns:a16="http://schemas.microsoft.com/office/drawing/2014/main" id="{075EF176-EF9E-4386-86F0-3199C8FB9D65}"/>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Potential consequences depend on the affected package and contract.</a:t>
            </a:r>
          </a:p>
        </p:txBody>
      </p:sp>
      <p:sp>
        <p:nvSpPr>
          <p:cNvPr id="3" name="">
            <a:extLst xmlns:a="http://schemas.openxmlformats.org/drawingml/2006/main">
              <a:ext uri="{FF2B5EF4-FFF2-40B4-BE49-F238E27FC236}">
                <a16:creationId xmlns:a16="http://schemas.microsoft.com/office/drawing/2014/main" id="{0D29B0A3-470C-4626-AB8E-B7F2C6C5E5C7}"/>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Potential impact pathways. The evidence does not support a numerical Alberta delay or cost premium.</a:t>
            </a:r>
          </a:p>
        </p:txBody>
      </p:sp>
      <p:sp>
        <p:nvSpPr>
          <p:cNvPr id="4" name="">
            <a:extLst xmlns:a="http://schemas.openxmlformats.org/drawingml/2006/main">
              <a:ext uri="{FF2B5EF4-FFF2-40B4-BE49-F238E27FC236}">
                <a16:creationId xmlns:a16="http://schemas.microsoft.com/office/drawing/2014/main" id="{B05ADE05-530A-4C1D-8B86-3A4B42F23A77}"/>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11</a:t>
            </a:r>
          </a:p>
        </p:txBody>
      </p:sp>
      <p:graphicFrame>
        <p:nvGraphicFramePr>
          <p:cNvPr id="10" name=""/>
          <p:cNvGraphicFramePr/>
          <p:nvPr/>
        </p:nvGraphicFramePr>
        <p:xfrm>
          <a:off xmlns:a="http://schemas.openxmlformats.org/drawingml/2006/main" x="609600" y="2095500"/>
          <a:ext xmlns:a="http://schemas.openxmlformats.org/drawingml/2006/main" cx="10972800" cy="3524250"/>
        </p:xfrm>
        <a:graphic xmlns:a="http://schemas.openxmlformats.org/drawingml/2006/main">
          <a:graphicData uri="http://schemas.openxmlformats.org/drawingml/2006/table">
            <a:tbl>
              <a:tblPr/>
              <a:tblGrid>
                <a:gridCol w="3238500"/>
                <a:gridCol w="3733800"/>
                <a:gridCol w="4000500"/>
              </a:tblGrid>
              <a:tr h="704850">
                <a:tc>
                  <a:txBody>
                    <a:bodyPr/>
                    <a:lstStyle/>
                    <a:p>
                      <a:r>
                        <a:rPr sz="1650" b="1">
                          <a:solidFill>
                            <a:srgbClr val="FFFFFF"/>
                          </a:solidFill>
                          <a:latin typeface="Helvetica Neue"/>
                          <a:ea typeface="Helvetica Neue"/>
                          <a:cs typeface="Helvetica Neue"/>
                        </a:rPr>
                        <a:t>Pressure point</a:t>
                      </a:r>
                    </a:p>
                  </a:txBody>
                  <a:tcPr marL="91440" marR="91440" marT="45720" marB="45720">
                    <a:solidFill>
                      <a:srgbClr val="0077CD"/>
                    </a:solidFill>
                  </a:tcPr>
                </a:tc>
                <a:tc>
                  <a:txBody>
                    <a:bodyPr/>
                    <a:lstStyle/>
                    <a:p>
                      <a:r>
                        <a:rPr sz="1650" b="1">
                          <a:solidFill>
                            <a:srgbClr val="FFFFFF"/>
                          </a:solidFill>
                          <a:latin typeface="Helvetica Neue"/>
                          <a:ea typeface="Helvetica Neue"/>
                          <a:cs typeface="Helvetica Neue"/>
                        </a:rPr>
                        <a:t>Schedule consequence</a:t>
                      </a:r>
                    </a:p>
                  </a:txBody>
                  <a:tcPr marL="91440" marR="91440" marT="45720" marB="45720">
                    <a:solidFill>
                      <a:srgbClr val="0077CD"/>
                    </a:solidFill>
                  </a:tcPr>
                </a:tc>
                <a:tc>
                  <a:txBody>
                    <a:bodyPr/>
                    <a:lstStyle/>
                    <a:p>
                      <a:r>
                        <a:rPr sz="1650" b="1">
                          <a:solidFill>
                            <a:srgbClr val="FFFFFF"/>
                          </a:solidFill>
                          <a:latin typeface="Helvetica Neue"/>
                          <a:ea typeface="Helvetica Neue"/>
                          <a:cs typeface="Helvetica Neue"/>
                        </a:rPr>
                        <a:t>Cost exposure</a:t>
                      </a:r>
                    </a:p>
                  </a:txBody>
                  <a:tcPr marL="91440" marR="91440" marT="45720" marB="45720">
                    <a:solidFill>
                      <a:srgbClr val="0077CD"/>
                    </a:solidFill>
                  </a:tcPr>
                </a:tc>
              </a:tr>
              <a:tr h="704850">
                <a:tc>
                  <a:txBody>
                    <a:bodyPr/>
                    <a:lstStyle/>
                    <a:p>
                      <a:r>
                        <a:rPr sz="1650" b="0">
                          <a:solidFill>
                            <a:srgbClr val="333333"/>
                          </a:solidFill>
                          <a:latin typeface="Helvetica Neue"/>
                          <a:ea typeface="Helvetica Neue"/>
                          <a:cs typeface="Helvetica Neue"/>
                        </a:rPr>
                        <a:t>Late electrical equipment</a:t>
                      </a:r>
                    </a:p>
                  </a:txBody>
                  <a:tcPr marL="91440" marR="91440" marT="45720" marB="45720">
                    <a:solidFill>
                      <a:srgbClr val="FFFFFF"/>
                    </a:solidFill>
                  </a:tcPr>
                </a:tc>
                <a:tc>
                  <a:txBody>
                    <a:bodyPr/>
                    <a:lstStyle/>
                    <a:p>
                      <a:r>
                        <a:rPr sz="1650" b="0">
                          <a:solidFill>
                            <a:srgbClr val="333333"/>
                          </a:solidFill>
                          <a:latin typeface="Helvetica Neue"/>
                          <a:ea typeface="Helvetica Neue"/>
                          <a:cs typeface="Helvetica Neue"/>
                        </a:rPr>
                        <a:t>Power-on or integrated testing can move</a:t>
                      </a:r>
                    </a:p>
                  </a:txBody>
                  <a:tcPr marL="91440" marR="91440" marT="45720" marB="45720">
                    <a:solidFill>
                      <a:srgbClr val="FFFFFF"/>
                    </a:solidFill>
                  </a:tcPr>
                </a:tc>
                <a:tc>
                  <a:txBody>
                    <a:bodyPr/>
                    <a:lstStyle/>
                    <a:p>
                      <a:r>
                        <a:rPr sz="1650" b="0">
                          <a:solidFill>
                            <a:srgbClr val="333333"/>
                          </a:solidFill>
                          <a:latin typeface="Helvetica Neue"/>
                          <a:ea typeface="Helvetica Neue"/>
                          <a:cs typeface="Helvetica Neue"/>
                        </a:rPr>
                        <a:t>Site overhead and later procurement of uncommitted work</a:t>
                      </a:r>
                    </a:p>
                  </a:txBody>
                  <a:tcPr marL="91440" marR="91440" marT="45720" marB="45720">
                    <a:solidFill>
                      <a:srgbClr val="FFFFFF"/>
                    </a:solidFill>
                  </a:tcPr>
                </a:tc>
              </a:tr>
              <a:tr h="704850">
                <a:tc>
                  <a:txBody>
                    <a:bodyPr/>
                    <a:lstStyle/>
                    <a:p>
                      <a:r>
                        <a:rPr sz="1650" b="0">
                          <a:solidFill>
                            <a:srgbClr val="333333"/>
                          </a:solidFill>
                          <a:latin typeface="Helvetica Neue"/>
                          <a:ea typeface="Helvetica Neue"/>
                          <a:cs typeface="Helvetica Neue"/>
                        </a:rPr>
                        <a:t>Unavailable specialist crews</a:t>
                      </a:r>
                    </a:p>
                  </a:txBody>
                  <a:tcPr marL="91440" marR="91440" marT="45720" marB="45720">
                    <a:solidFill>
                      <a:srgbClr val="F2F2F2"/>
                    </a:solidFill>
                  </a:tcPr>
                </a:tc>
                <a:tc>
                  <a:txBody>
                    <a:bodyPr/>
                    <a:lstStyle/>
                    <a:p>
                      <a:r>
                        <a:rPr sz="1650" b="0">
                          <a:solidFill>
                            <a:srgbClr val="333333"/>
                          </a:solidFill>
                          <a:latin typeface="Helvetica Neue"/>
                          <a:ea typeface="Helvetica Neue"/>
                          <a:cs typeface="Helvetica Neue"/>
                        </a:rPr>
                        <a:t>Installation or commissioning can move</a:t>
                      </a:r>
                    </a:p>
                  </a:txBody>
                  <a:tcPr marL="91440" marR="91440" marT="45720" marB="45720">
                    <a:solidFill>
                      <a:srgbClr val="F2F2F2"/>
                    </a:solidFill>
                  </a:tcPr>
                </a:tc>
                <a:tc>
                  <a:txBody>
                    <a:bodyPr/>
                    <a:lstStyle/>
                    <a:p>
                      <a:r>
                        <a:rPr sz="1650" b="0">
                          <a:solidFill>
                            <a:srgbClr val="333333"/>
                          </a:solidFill>
                          <a:latin typeface="Helvetica Neue"/>
                          <a:ea typeface="Helvetica Neue"/>
                          <a:cs typeface="Helvetica Neue"/>
                        </a:rPr>
                        <a:t>Overtime, remobilization and changed work sequences</a:t>
                      </a:r>
                    </a:p>
                  </a:txBody>
                  <a:tcPr marL="91440" marR="91440" marT="45720" marB="45720">
                    <a:solidFill>
                      <a:srgbClr val="F2F2F2"/>
                    </a:solidFill>
                  </a:tcPr>
                </a:tc>
              </a:tr>
              <a:tr h="704850">
                <a:tc>
                  <a:txBody>
                    <a:bodyPr/>
                    <a:lstStyle/>
                    <a:p>
                      <a:r>
                        <a:rPr sz="1650" b="0">
                          <a:solidFill>
                            <a:srgbClr val="333333"/>
                          </a:solidFill>
                          <a:latin typeface="Helvetica Neue"/>
                          <a:ea typeface="Helvetica Neue"/>
                          <a:cs typeface="Helvetica Neue"/>
                        </a:rPr>
                        <a:t>Late design or specification changes</a:t>
                      </a:r>
                    </a:p>
                  </a:txBody>
                  <a:tcPr marL="91440" marR="91440" marT="45720" marB="45720">
                    <a:solidFill>
                      <a:srgbClr val="FFFFFF"/>
                    </a:solidFill>
                  </a:tcPr>
                </a:tc>
                <a:tc>
                  <a:txBody>
                    <a:bodyPr/>
                    <a:lstStyle/>
                    <a:p>
                      <a:r>
                        <a:rPr sz="1650" b="0">
                          <a:solidFill>
                            <a:srgbClr val="333333"/>
                          </a:solidFill>
                          <a:latin typeface="Helvetica Neue"/>
                          <a:ea typeface="Helvetica Neue"/>
                          <a:cs typeface="Helvetica Neue"/>
                        </a:rPr>
                        <a:t>Submittals and manufacturing release can restart</a:t>
                      </a:r>
                    </a:p>
                  </a:txBody>
                  <a:tcPr marL="91440" marR="91440" marT="45720" marB="45720">
                    <a:solidFill>
                      <a:srgbClr val="FFFFFF"/>
                    </a:solidFill>
                  </a:tcPr>
                </a:tc>
                <a:tc>
                  <a:txBody>
                    <a:bodyPr/>
                    <a:lstStyle/>
                    <a:p>
                      <a:r>
                        <a:rPr sz="1650" b="0">
                          <a:solidFill>
                            <a:srgbClr val="333333"/>
                          </a:solidFill>
                          <a:latin typeface="Helvetica Neue"/>
                          <a:ea typeface="Helvetica Neue"/>
                          <a:cs typeface="Helvetica Neue"/>
                        </a:rPr>
                        <a:t>Rework, change orders and lost supplier slots</a:t>
                      </a:r>
                    </a:p>
                  </a:txBody>
                  <a:tcPr marL="91440" marR="91440" marT="45720" marB="45720">
                    <a:solidFill>
                      <a:srgbClr val="FFFFFF"/>
                    </a:solidFill>
                  </a:tcPr>
                </a:tc>
              </a:tr>
              <a:tr h="704850">
                <a:tc>
                  <a:txBody>
                    <a:bodyPr/>
                    <a:lstStyle/>
                    <a:p>
                      <a:r>
                        <a:rPr sz="1650" b="0">
                          <a:solidFill>
                            <a:srgbClr val="333333"/>
                          </a:solidFill>
                          <a:latin typeface="Helvetica Neue"/>
                          <a:ea typeface="Helvetica Neue"/>
                          <a:cs typeface="Helvetica Neue"/>
                        </a:rPr>
                        <a:t>Shared contractor or supplier demand</a:t>
                      </a:r>
                    </a:p>
                  </a:txBody>
                  <a:tcPr marL="91440" marR="91440" marT="45720" marB="45720">
                    <a:solidFill>
                      <a:srgbClr val="F2F2F2"/>
                    </a:solidFill>
                  </a:tcPr>
                </a:tc>
                <a:tc>
                  <a:txBody>
                    <a:bodyPr/>
                    <a:lstStyle/>
                    <a:p>
                      <a:r>
                        <a:rPr sz="1650" b="0">
                          <a:solidFill>
                            <a:srgbClr val="333333"/>
                          </a:solidFill>
                          <a:latin typeface="Helvetica Neue"/>
                          <a:ea typeface="Helvetica Neue"/>
                          <a:cs typeface="Helvetica Neue"/>
                        </a:rPr>
                        <a:t>Tender and mobilization dates can become harder to secure</a:t>
                      </a:r>
                    </a:p>
                  </a:txBody>
                  <a:tcPr marL="91440" marR="91440" marT="45720" marB="45720">
                    <a:solidFill>
                      <a:srgbClr val="F2F2F2"/>
                    </a:solidFill>
                  </a:tcPr>
                </a:tc>
                <a:tc>
                  <a:txBody>
                    <a:bodyPr/>
                    <a:lstStyle/>
                    <a:p>
                      <a:r>
                        <a:rPr sz="1650" b="0">
                          <a:solidFill>
                            <a:srgbClr val="333333"/>
                          </a:solidFill>
                          <a:latin typeface="Helvetica Neue"/>
                          <a:ea typeface="Helvetica Neue"/>
                          <a:cs typeface="Helvetica Neue"/>
                        </a:rPr>
                        <a:t>Bid validity, reduced competition and contract allocation of risk</a:t>
                      </a:r>
                    </a:p>
                  </a:txBody>
                  <a:tcPr marL="91440" marR="91440" marT="45720" marB="45720">
                    <a:solidFill>
                      <a:srgbClr val="F2F2F2"/>
                    </a:solidFill>
                  </a:tcPr>
                </a:tc>
              </a:tr>
            </a:tbl>
          </a:graphicData>
        </a:graphic>
      </p:graphicFrame>
    </p:spTree>
    <p:extLst>
      <p:ext uri="{BB962C8B-B14F-4D97-AF65-F5344CB8AC3E}">
        <p14:creationId xmlns:p14="http://schemas.microsoft.com/office/powerpoint/2010/main" val="133911221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D9BD1CA-8FEB-4B02-9878-3341426089EF}"/>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Mitigation begins before tender and design freeze</a:t>
            </a:r>
          </a:p>
        </p:txBody>
      </p:sp>
      <p:sp>
        <p:nvSpPr>
          <p:cNvPr id="2" name="">
            <a:extLst xmlns:a="http://schemas.openxmlformats.org/drawingml/2006/main">
              <a:ext uri="{FF2B5EF4-FFF2-40B4-BE49-F238E27FC236}">
                <a16:creationId xmlns:a16="http://schemas.microsoft.com/office/drawing/2014/main" id="{9F7807BE-ADDA-4F8F-ABE3-BE89F7D33BD9}"/>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Potential measures address the same resources that create delivery exposure.</a:t>
            </a:r>
          </a:p>
        </p:txBody>
      </p:sp>
      <p:sp>
        <p:nvSpPr>
          <p:cNvPr id="3" name="">
            <a:extLst xmlns:a="http://schemas.openxmlformats.org/drawingml/2006/main">
              <a:ext uri="{FF2B5EF4-FFF2-40B4-BE49-F238E27FC236}">
                <a16:creationId xmlns:a16="http://schemas.microsoft.com/office/drawing/2014/main" id="{C6FA594F-AC25-4253-8684-D6558504616A}"/>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Recommendations for project-specific assessment; no assumed savings or schedule recovery.</a:t>
            </a:r>
          </a:p>
        </p:txBody>
      </p:sp>
      <p:sp>
        <p:nvSpPr>
          <p:cNvPr id="4" name="">
            <a:extLst xmlns:a="http://schemas.openxmlformats.org/drawingml/2006/main">
              <a:ext uri="{FF2B5EF4-FFF2-40B4-BE49-F238E27FC236}">
                <a16:creationId xmlns:a16="http://schemas.microsoft.com/office/drawing/2014/main" id="{D6A29819-C22F-4018-9496-81A8BEABB169}"/>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12</a:t>
            </a:r>
          </a:p>
        </p:txBody>
      </p:sp>
      <p:graphicFrame>
        <p:nvGraphicFramePr>
          <p:cNvPr id="10" name=""/>
          <p:cNvGraphicFramePr/>
          <p:nvPr/>
        </p:nvGraphicFramePr>
        <p:xfrm>
          <a:off xmlns:a="http://schemas.openxmlformats.org/drawingml/2006/main" x="609600" y="2095500"/>
          <a:ext xmlns:a="http://schemas.openxmlformats.org/drawingml/2006/main" cx="10972800" cy="3667125"/>
        </p:xfrm>
        <a:graphic xmlns:a="http://schemas.openxmlformats.org/drawingml/2006/main">
          <a:graphicData uri="http://schemas.openxmlformats.org/drawingml/2006/table">
            <a:tbl>
              <a:tblPr/>
              <a:tblGrid>
                <a:gridCol w="2714625"/>
                <a:gridCol w="4429125"/>
                <a:gridCol w="3829050"/>
              </a:tblGrid>
              <a:tr h="611188">
                <a:tc>
                  <a:txBody>
                    <a:bodyPr/>
                    <a:lstStyle/>
                    <a:p>
                      <a:r>
                        <a:rPr sz="1575" b="1">
                          <a:solidFill>
                            <a:srgbClr val="FFFFFF"/>
                          </a:solidFill>
                          <a:latin typeface="Helvetica Neue"/>
                          <a:ea typeface="Helvetica Neue"/>
                          <a:cs typeface="Helvetica Neue"/>
                        </a:rPr>
                        <a:t>Delivery risk</a:t>
                      </a:r>
                    </a:p>
                  </a:txBody>
                  <a:tcPr marL="91440" marR="91440" marT="45720" marB="45720">
                    <a:solidFill>
                      <a:srgbClr val="0077CD"/>
                    </a:solidFill>
                  </a:tcPr>
                </a:tc>
                <a:tc>
                  <a:txBody>
                    <a:bodyPr/>
                    <a:lstStyle/>
                    <a:p>
                      <a:r>
                        <a:rPr sz="1575" b="1">
                          <a:solidFill>
                            <a:srgbClr val="FFFFFF"/>
                          </a:solidFill>
                          <a:latin typeface="Helvetica Neue"/>
                          <a:ea typeface="Helvetica Neue"/>
                          <a:cs typeface="Helvetica Neue"/>
                        </a:rPr>
                        <a:t>Potential mitigation</a:t>
                      </a:r>
                    </a:p>
                  </a:txBody>
                  <a:tcPr marL="91440" marR="91440" marT="45720" marB="45720">
                    <a:solidFill>
                      <a:srgbClr val="0077CD"/>
                    </a:solidFill>
                  </a:tcPr>
                </a:tc>
                <a:tc>
                  <a:txBody>
                    <a:bodyPr/>
                    <a:lstStyle/>
                    <a:p>
                      <a:r>
                        <a:rPr sz="1575" b="1">
                          <a:solidFill>
                            <a:srgbClr val="FFFFFF"/>
                          </a:solidFill>
                          <a:latin typeface="Helvetica Neue"/>
                          <a:ea typeface="Helvetica Neue"/>
                          <a:cs typeface="Helvetica Neue"/>
                        </a:rPr>
                        <a:t>Condition or trade-off</a:t>
                      </a:r>
                    </a:p>
                  </a:txBody>
                  <a:tcPr marL="91440" marR="91440" marT="45720" marB="45720">
                    <a:solidFill>
                      <a:srgbClr val="0077CD"/>
                    </a:solidFill>
                  </a:tcPr>
                </a:tc>
              </a:tr>
              <a:tr h="611188">
                <a:tc>
                  <a:txBody>
                    <a:bodyPr/>
                    <a:lstStyle/>
                    <a:p>
                      <a:r>
                        <a:rPr sz="1575" b="0">
                          <a:solidFill>
                            <a:srgbClr val="333333"/>
                          </a:solidFill>
                          <a:latin typeface="Helvetica Neue"/>
                          <a:ea typeface="Helvetica Neue"/>
                          <a:cs typeface="Helvetica Neue"/>
                        </a:rPr>
                        <a:t>Long-lead equipment</a:t>
                      </a:r>
                    </a:p>
                  </a:txBody>
                  <a:tcPr marL="91440" marR="91440" marT="45720" marB="45720">
                    <a:solidFill>
                      <a:srgbClr val="FFFFFF"/>
                    </a:solidFill>
                  </a:tcPr>
                </a:tc>
                <a:tc>
                  <a:txBody>
                    <a:bodyPr/>
                    <a:lstStyle/>
                    <a:p>
                      <a:r>
                        <a:rPr sz="1575" b="0">
                          <a:solidFill>
                            <a:srgbClr val="333333"/>
                          </a:solidFill>
                          <a:latin typeface="Helvetica Neue"/>
                          <a:ea typeface="Helvetica Neue"/>
                          <a:cs typeface="Helvetica Neue"/>
                        </a:rPr>
                        <a:t>Engage suppliers early and confirm production slots</a:t>
                      </a:r>
                    </a:p>
                  </a:txBody>
                  <a:tcPr marL="91440" marR="91440" marT="45720" marB="45720">
                    <a:solidFill>
                      <a:srgbClr val="FFFFFF"/>
                    </a:solidFill>
                  </a:tcPr>
                </a:tc>
                <a:tc>
                  <a:txBody>
                    <a:bodyPr/>
                    <a:lstStyle/>
                    <a:p>
                      <a:r>
                        <a:rPr sz="1575" b="0">
                          <a:solidFill>
                            <a:srgbClr val="333333"/>
                          </a:solidFill>
                          <a:latin typeface="Helvetica Neue"/>
                          <a:ea typeface="Helvetica Neue"/>
                          <a:cs typeface="Helvetica Neue"/>
                        </a:rPr>
                        <a:t>Requires stable specifications and clear cancellation terms</a:t>
                      </a:r>
                    </a:p>
                  </a:txBody>
                  <a:tcPr marL="91440" marR="91440" marT="45720" marB="45720">
                    <a:solidFill>
                      <a:srgbClr val="FFFFFF"/>
                    </a:solidFill>
                  </a:tcPr>
                </a:tc>
              </a:tr>
              <a:tr h="611188">
                <a:tc>
                  <a:txBody>
                    <a:bodyPr/>
                    <a:lstStyle/>
                    <a:p>
                      <a:r>
                        <a:rPr sz="1575" b="0">
                          <a:solidFill>
                            <a:srgbClr val="333333"/>
                          </a:solidFill>
                          <a:latin typeface="Helvetica Neue"/>
                          <a:ea typeface="Helvetica Neue"/>
                          <a:cs typeface="Helvetica Neue"/>
                        </a:rPr>
                        <a:t>Limited technical alternatives</a:t>
                      </a:r>
                    </a:p>
                  </a:txBody>
                  <a:tcPr marL="91440" marR="91440" marT="45720" marB="45720">
                    <a:solidFill>
                      <a:srgbClr val="F2F2F2"/>
                    </a:solidFill>
                  </a:tcPr>
                </a:tc>
                <a:tc>
                  <a:txBody>
                    <a:bodyPr/>
                    <a:lstStyle/>
                    <a:p>
                      <a:r>
                        <a:rPr sz="1575" b="0">
                          <a:solidFill>
                            <a:srgbClr val="333333"/>
                          </a:solidFill>
                          <a:latin typeface="Helvetica Neue"/>
                          <a:ea typeface="Helvetica Neue"/>
                          <a:cs typeface="Helvetica Neue"/>
                        </a:rPr>
                        <a:t>Prequalify equivalent equipment and suppliers</a:t>
                      </a:r>
                    </a:p>
                  </a:txBody>
                  <a:tcPr marL="91440" marR="91440" marT="45720" marB="45720">
                    <a:solidFill>
                      <a:srgbClr val="F2F2F2"/>
                    </a:solidFill>
                  </a:tcPr>
                </a:tc>
                <a:tc>
                  <a:txBody>
                    <a:bodyPr/>
                    <a:lstStyle/>
                    <a:p>
                      <a:r>
                        <a:rPr sz="1575" b="0">
                          <a:solidFill>
                            <a:srgbClr val="333333"/>
                          </a:solidFill>
                          <a:latin typeface="Helvetica Neue"/>
                          <a:ea typeface="Helvetica Neue"/>
                          <a:cs typeface="Helvetica Neue"/>
                        </a:rPr>
                        <a:t>Retain utility compatibility, warranty and performance</a:t>
                      </a:r>
                    </a:p>
                  </a:txBody>
                  <a:tcPr marL="91440" marR="91440" marT="45720" marB="45720">
                    <a:solidFill>
                      <a:srgbClr val="F2F2F2"/>
                    </a:solidFill>
                  </a:tcPr>
                </a:tc>
              </a:tr>
              <a:tr h="611188">
                <a:tc>
                  <a:txBody>
                    <a:bodyPr/>
                    <a:lstStyle/>
                    <a:p>
                      <a:r>
                        <a:rPr sz="1575" b="0">
                          <a:solidFill>
                            <a:srgbClr val="333333"/>
                          </a:solidFill>
                          <a:latin typeface="Helvetica Neue"/>
                          <a:ea typeface="Helvetica Neue"/>
                          <a:cs typeface="Helvetica Neue"/>
                        </a:rPr>
                        <a:t>Concentrated site labour</a:t>
                      </a:r>
                    </a:p>
                  </a:txBody>
                  <a:tcPr marL="91440" marR="91440" marT="45720" marB="45720">
                    <a:solidFill>
                      <a:srgbClr val="FFFFFF"/>
                    </a:solidFill>
                  </a:tcPr>
                </a:tc>
                <a:tc>
                  <a:txBody>
                    <a:bodyPr/>
                    <a:lstStyle/>
                    <a:p>
                      <a:r>
                        <a:rPr sz="1575" b="0">
                          <a:solidFill>
                            <a:srgbClr val="333333"/>
                          </a:solidFill>
                          <a:latin typeface="Helvetica Neue"/>
                          <a:ea typeface="Helvetica Neue"/>
                          <a:cs typeface="Helvetica Neue"/>
                        </a:rPr>
                        <a:t>Evaluate prefabrication and planned package sequencing</a:t>
                      </a:r>
                    </a:p>
                  </a:txBody>
                  <a:tcPr marL="91440" marR="91440" marT="45720" marB="45720">
                    <a:solidFill>
                      <a:srgbClr val="FFFFFF"/>
                    </a:solidFill>
                  </a:tcPr>
                </a:tc>
                <a:tc>
                  <a:txBody>
                    <a:bodyPr/>
                    <a:lstStyle/>
                    <a:p>
                      <a:r>
                        <a:rPr sz="1575" b="0">
                          <a:solidFill>
                            <a:srgbClr val="333333"/>
                          </a:solidFill>
                          <a:latin typeface="Helvetica Neue"/>
                          <a:ea typeface="Helvetica Neue"/>
                          <a:cs typeface="Helvetica Neue"/>
                        </a:rPr>
                        <a:t>Earlier coordination, transport and installation interfaces</a:t>
                      </a:r>
                    </a:p>
                  </a:txBody>
                  <a:tcPr marL="91440" marR="91440" marT="45720" marB="45720">
                    <a:solidFill>
                      <a:srgbClr val="FFFFFF"/>
                    </a:solidFill>
                  </a:tcPr>
                </a:tc>
              </a:tr>
              <a:tr h="611188">
                <a:tc>
                  <a:txBody>
                    <a:bodyPr/>
                    <a:lstStyle/>
                    <a:p>
                      <a:r>
                        <a:rPr sz="1575" b="0">
                          <a:solidFill>
                            <a:srgbClr val="333333"/>
                          </a:solidFill>
                          <a:latin typeface="Helvetica Neue"/>
                          <a:ea typeface="Helvetica Neue"/>
                          <a:cs typeface="Helvetica Neue"/>
                        </a:rPr>
                        <a:t>Specialist recruitment pressure</a:t>
                      </a:r>
                    </a:p>
                  </a:txBody>
                  <a:tcPr marL="91440" marR="91440" marT="45720" marB="45720">
                    <a:solidFill>
                      <a:srgbClr val="F2F2F2"/>
                    </a:solidFill>
                  </a:tcPr>
                </a:tc>
                <a:tc>
                  <a:txBody>
                    <a:bodyPr/>
                    <a:lstStyle/>
                    <a:p>
                      <a:r>
                        <a:rPr sz="1575" b="0">
                          <a:solidFill>
                            <a:srgbClr val="333333"/>
                          </a:solidFill>
                          <a:latin typeface="Helvetica Neue"/>
                          <a:ea typeface="Helvetica Neue"/>
                          <a:cs typeface="Helvetica Neue"/>
                        </a:rPr>
                        <a:t>Engage trade contractors and training partners early</a:t>
                      </a:r>
                    </a:p>
                  </a:txBody>
                  <a:tcPr marL="91440" marR="91440" marT="45720" marB="45720">
                    <a:solidFill>
                      <a:srgbClr val="F2F2F2"/>
                    </a:solidFill>
                  </a:tcPr>
                </a:tc>
                <a:tc>
                  <a:txBody>
                    <a:bodyPr/>
                    <a:lstStyle/>
                    <a:p>
                      <a:r>
                        <a:rPr sz="1575" b="0">
                          <a:solidFill>
                            <a:srgbClr val="333333"/>
                          </a:solidFill>
                          <a:latin typeface="Helvetica Neue"/>
                          <a:ea typeface="Helvetica Neue"/>
                          <a:cs typeface="Helvetica Neue"/>
                        </a:rPr>
                        <a:t>Allow time for qualifications and supervisory capacity</a:t>
                      </a:r>
                    </a:p>
                  </a:txBody>
                  <a:tcPr marL="91440" marR="91440" marT="45720" marB="45720">
                    <a:solidFill>
                      <a:srgbClr val="F2F2F2"/>
                    </a:solidFill>
                  </a:tcPr>
                </a:tc>
              </a:tr>
              <a:tr h="611188">
                <a:tc>
                  <a:txBody>
                    <a:bodyPr/>
                    <a:lstStyle/>
                    <a:p>
                      <a:r>
                        <a:rPr sz="1575" b="0">
                          <a:solidFill>
                            <a:srgbClr val="333333"/>
                          </a:solidFill>
                          <a:latin typeface="Helvetica Neue"/>
                          <a:ea typeface="Helvetica Neue"/>
                          <a:cs typeface="Helvetica Neue"/>
                        </a:rPr>
                        <a:t>Competing capital schedules</a:t>
                      </a:r>
                    </a:p>
                  </a:txBody>
                  <a:tcPr marL="91440" marR="91440" marT="45720" marB="45720">
                    <a:solidFill>
                      <a:srgbClr val="FFFFFF"/>
                    </a:solidFill>
                  </a:tcPr>
                </a:tc>
                <a:tc>
                  <a:txBody>
                    <a:bodyPr/>
                    <a:lstStyle/>
                    <a:p>
                      <a:r>
                        <a:rPr sz="1575" b="0">
                          <a:solidFill>
                            <a:srgbClr val="333333"/>
                          </a:solidFill>
                          <a:latin typeface="Helvetica Neue"/>
                          <a:ea typeface="Helvetica Neue"/>
                          <a:cs typeface="Helvetica Neue"/>
                        </a:rPr>
                        <a:t>Coordinate procurement and commissioning windows</a:t>
                      </a:r>
                    </a:p>
                  </a:txBody>
                  <a:tcPr marL="91440" marR="91440" marT="45720" marB="45720">
                    <a:solidFill>
                      <a:srgbClr val="FFFFFF"/>
                    </a:solidFill>
                  </a:tcPr>
                </a:tc>
                <a:tc>
                  <a:txBody>
                    <a:bodyPr/>
                    <a:lstStyle/>
                    <a:p>
                      <a:r>
                        <a:rPr sz="1575" b="0">
                          <a:solidFill>
                            <a:srgbClr val="333333"/>
                          </a:solidFill>
                          <a:latin typeface="Helvetica Neue"/>
                          <a:ea typeface="Helvetica Neue"/>
                          <a:cs typeface="Helvetica Neue"/>
                        </a:rPr>
                        <a:t>Protect critical milestones across affected projects</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47148072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2899CE4-E37E-4691-BC51-68D9D16ECF03}"/>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Delivery commitments should follow resource confirmation</a:t>
            </a:r>
          </a:p>
        </p:txBody>
      </p:sp>
      <p:sp>
        <p:nvSpPr>
          <p:cNvPr id="2" name="">
            <a:extLst xmlns:a="http://schemas.openxmlformats.org/drawingml/2006/main">
              <a:ext uri="{FF2B5EF4-FFF2-40B4-BE49-F238E27FC236}">
                <a16:creationId xmlns:a16="http://schemas.microsoft.com/office/drawing/2014/main" id="{3DAA0AB1-468E-40CC-83DD-FAA5FA63D8A5}"/>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The immediate priority is a credible package-level procurement and construction schedule.</a:t>
            </a:r>
          </a:p>
        </p:txBody>
      </p:sp>
      <p:sp>
        <p:nvSpPr>
          <p:cNvPr id="3" name="">
            <a:extLst xmlns:a="http://schemas.openxmlformats.org/drawingml/2006/main">
              <a:ext uri="{FF2B5EF4-FFF2-40B4-BE49-F238E27FC236}">
                <a16:creationId xmlns:a16="http://schemas.microsoft.com/office/drawing/2014/main" id="{62AD01BF-74C3-4040-AC57-4F0CF5DDAC7D}"/>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Alberta delivery priorities</a:t>
            </a:r>
          </a:p>
        </p:txBody>
      </p:sp>
      <p:sp>
        <p:nvSpPr>
          <p:cNvPr id="4" name="">
            <a:extLst xmlns:a="http://schemas.openxmlformats.org/drawingml/2006/main">
              <a:ext uri="{FF2B5EF4-FFF2-40B4-BE49-F238E27FC236}">
                <a16:creationId xmlns:a16="http://schemas.microsoft.com/office/drawing/2014/main" id="{9A16275D-8EA5-47F2-90FB-42D575E9E0CE}"/>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13</a:t>
            </a:r>
          </a:p>
        </p:txBody>
      </p:sp>
      <p:sp>
        <p:nvSpPr>
          <p:cNvPr id="5" name="">
            <a:extLst xmlns:a="http://schemas.openxmlformats.org/drawingml/2006/main">
              <a:ext uri="{FF2B5EF4-FFF2-40B4-BE49-F238E27FC236}">
                <a16:creationId xmlns:a16="http://schemas.microsoft.com/office/drawing/2014/main" id="{8E928FB6-5BA4-44F3-AB88-F826870F3F65}"/>
              </a:ext>
            </a:extLst>
          </p:cNvPr>
          <p:cNvSpPr>
            <a:spLocks xmlns:a="http://schemas.openxmlformats.org/drawingml/2006/main" noGrp="1"/>
          </p:cNvSpPr>
          <p:nvPr/>
        </p:nvSpPr>
        <p:spPr>
          <a:xfrm xmlns:a="http://schemas.openxmlformats.org/drawingml/2006/main">
            <a:off x="609600" y="2095500"/>
            <a:ext cx="304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7CD"/>
                </a:solidFill>
                <a:latin typeface="Helvetica Neue"/>
                <a:ea typeface="Helvetica Neue"/>
                <a:cs typeface="Helvetica Neue"/>
              </a:defRPr>
            </a:pPr>
            <a:r>
              <a:rPr sz="2250" b="1">
                <a:solidFill>
                  <a:srgbClr val="0077CD"/>
                </a:solidFill>
                <a:latin typeface="Helvetica Neue"/>
                <a:ea typeface="Helvetica Neue"/>
                <a:cs typeface="Helvetica Neue"/>
              </a:rPr>
              <a:t>Before committing dates</a:t>
            </a:r>
          </a:p>
        </p:txBody>
      </p:sp>
      <p:sp>
        <p:nvSpPr>
          <p:cNvPr id="6" name="">
            <a:extLst xmlns:a="http://schemas.openxmlformats.org/drawingml/2006/main">
              <a:ext uri="{FF2B5EF4-FFF2-40B4-BE49-F238E27FC236}">
                <a16:creationId xmlns:a16="http://schemas.microsoft.com/office/drawing/2014/main" id="{A6169211-57A5-4B6F-A823-47FC7D0DB00F}"/>
              </a:ext>
            </a:extLst>
          </p:cNvPr>
          <p:cNvSpPr>
            <a:spLocks xmlns:a="http://schemas.openxmlformats.org/drawingml/2006/main" noGrp="1"/>
          </p:cNvSpPr>
          <p:nvPr/>
        </p:nvSpPr>
        <p:spPr>
          <a:xfrm xmlns:a="http://schemas.openxmlformats.org/drawingml/2006/main">
            <a:off x="3952875" y="2095500"/>
            <a:ext cx="7429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333333"/>
                </a:solidFill>
                <a:latin typeface="Helvetica Neue"/>
                <a:ea typeface="Helvetica Neue"/>
                <a:cs typeface="Helvetica Neue"/>
              </a:defRPr>
            </a:pPr>
            <a:r>
              <a:rPr sz="1875" b="0">
                <a:solidFill>
                  <a:srgbClr val="333333"/>
                </a:solidFill>
                <a:latin typeface="Helvetica Neue"/>
                <a:ea typeface="Helvetica Neue"/>
                <a:cs typeface="Helvetica Neue"/>
              </a:rPr>
              <a:t>Confirm financing, utility milestones and the construction scope for each phase.</a:t>
            </a:r>
          </a:p>
        </p:txBody>
      </p:sp>
      <p:sp>
        <p:nvSpPr>
          <p:cNvPr id="7" name="">
            <a:extLst xmlns:a="http://schemas.openxmlformats.org/drawingml/2006/main">
              <a:ext uri="{FF2B5EF4-FFF2-40B4-BE49-F238E27FC236}">
                <a16:creationId xmlns:a16="http://schemas.microsoft.com/office/drawing/2014/main" id="{0649526D-8E14-4903-A3E9-87E0298C9273}"/>
              </a:ext>
            </a:extLst>
          </p:cNvPr>
          <p:cNvSpPr>
            <a:spLocks xmlns:a="http://schemas.openxmlformats.org/drawingml/2006/main" noGrp="1"/>
          </p:cNvSpPr>
          <p:nvPr/>
        </p:nvSpPr>
        <p:spPr>
          <a:xfrm xmlns:a="http://schemas.openxmlformats.org/drawingml/2006/main">
            <a:off x="609600" y="3048000"/>
            <a:ext cx="304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7CD"/>
                </a:solidFill>
                <a:latin typeface="Helvetica Neue"/>
                <a:ea typeface="Helvetica Neue"/>
                <a:cs typeface="Helvetica Neue"/>
              </a:defRPr>
            </a:pPr>
            <a:r>
              <a:rPr sz="2250" b="1">
                <a:solidFill>
                  <a:srgbClr val="0077CD"/>
                </a:solidFill>
                <a:latin typeface="Helvetica Neue"/>
                <a:ea typeface="Helvetica Neue"/>
                <a:cs typeface="Helvetica Neue"/>
              </a:rPr>
              <a:t>Before placing orders</a:t>
            </a:r>
          </a:p>
        </p:txBody>
      </p:sp>
      <p:sp>
        <p:nvSpPr>
          <p:cNvPr id="8" name="">
            <a:extLst xmlns:a="http://schemas.openxmlformats.org/drawingml/2006/main">
              <a:ext uri="{FF2B5EF4-FFF2-40B4-BE49-F238E27FC236}">
                <a16:creationId xmlns:a16="http://schemas.microsoft.com/office/drawing/2014/main" id="{FD6D1303-D7F2-43C1-8D80-143EBED6D2C8}"/>
              </a:ext>
            </a:extLst>
          </p:cNvPr>
          <p:cNvSpPr>
            <a:spLocks xmlns:a="http://schemas.openxmlformats.org/drawingml/2006/main" noGrp="1"/>
          </p:cNvSpPr>
          <p:nvPr/>
        </p:nvSpPr>
        <p:spPr>
          <a:xfrm xmlns:a="http://schemas.openxmlformats.org/drawingml/2006/main">
            <a:off x="3952875" y="3048000"/>
            <a:ext cx="7429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333333"/>
                </a:solidFill>
                <a:latin typeface="Helvetica Neue"/>
                <a:ea typeface="Helvetica Neue"/>
                <a:cs typeface="Helvetica Neue"/>
              </a:defRPr>
            </a:pPr>
            <a:r>
              <a:rPr sz="1875" b="0">
                <a:solidFill>
                  <a:srgbClr val="333333"/>
                </a:solidFill>
                <a:latin typeface="Helvetica Neue"/>
                <a:ea typeface="Helvetica Neue"/>
                <a:cs typeface="Helvetica Neue"/>
              </a:rPr>
              <a:t>Confirm equipment specifications, manufacturing slots and release requirements.</a:t>
            </a:r>
          </a:p>
        </p:txBody>
      </p:sp>
      <p:sp>
        <p:nvSpPr>
          <p:cNvPr id="9" name="">
            <a:extLst xmlns:a="http://schemas.openxmlformats.org/drawingml/2006/main">
              <a:ext uri="{FF2B5EF4-FFF2-40B4-BE49-F238E27FC236}">
                <a16:creationId xmlns:a16="http://schemas.microsoft.com/office/drawing/2014/main" id="{C81EB12F-06CF-44DC-9028-81423A8C16DF}"/>
              </a:ext>
            </a:extLst>
          </p:cNvPr>
          <p:cNvSpPr>
            <a:spLocks xmlns:a="http://schemas.openxmlformats.org/drawingml/2006/main" noGrp="1"/>
          </p:cNvSpPr>
          <p:nvPr/>
        </p:nvSpPr>
        <p:spPr>
          <a:xfrm xmlns:a="http://schemas.openxmlformats.org/drawingml/2006/main">
            <a:off x="609600" y="4000500"/>
            <a:ext cx="304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7CD"/>
                </a:solidFill>
                <a:latin typeface="Helvetica Neue"/>
                <a:ea typeface="Helvetica Neue"/>
                <a:cs typeface="Helvetica Neue"/>
              </a:defRPr>
            </a:pPr>
            <a:r>
              <a:rPr sz="2250" b="1">
                <a:solidFill>
                  <a:srgbClr val="0077CD"/>
                </a:solidFill>
                <a:latin typeface="Helvetica Neue"/>
                <a:ea typeface="Helvetica Neue"/>
                <a:cs typeface="Helvetica Neue"/>
              </a:rPr>
              <a:t>Before mobilizing crews</a:t>
            </a:r>
          </a:p>
        </p:txBody>
      </p:sp>
      <p:sp>
        <p:nvSpPr>
          <p:cNvPr id="10" name="">
            <a:extLst xmlns:a="http://schemas.openxmlformats.org/drawingml/2006/main">
              <a:ext uri="{FF2B5EF4-FFF2-40B4-BE49-F238E27FC236}">
                <a16:creationId xmlns:a16="http://schemas.microsoft.com/office/drawing/2014/main" id="{C3BFE19A-BF8D-4BE2-A5B3-098E12241F70}"/>
              </a:ext>
            </a:extLst>
          </p:cNvPr>
          <p:cNvSpPr>
            <a:spLocks xmlns:a="http://schemas.openxmlformats.org/drawingml/2006/main" noGrp="1"/>
          </p:cNvSpPr>
          <p:nvPr/>
        </p:nvSpPr>
        <p:spPr>
          <a:xfrm xmlns:a="http://schemas.openxmlformats.org/drawingml/2006/main">
            <a:off x="3952875" y="4000500"/>
            <a:ext cx="7429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333333"/>
                </a:solidFill>
                <a:latin typeface="Helvetica Neue"/>
                <a:ea typeface="Helvetica Neue"/>
                <a:cs typeface="Helvetica Neue"/>
              </a:defRPr>
            </a:pPr>
            <a:r>
              <a:rPr sz="1875" b="0">
                <a:solidFill>
                  <a:srgbClr val="333333"/>
                </a:solidFill>
                <a:latin typeface="Helvetica Neue"/>
                <a:ea typeface="Helvetica Neue"/>
                <a:cs typeface="Helvetica Neue"/>
              </a:rPr>
              <a:t>Secure specialist contractor commitments and verify installation readiness.</a:t>
            </a:r>
          </a:p>
        </p:txBody>
      </p:sp>
      <p:sp>
        <p:nvSpPr>
          <p:cNvPr id="11" name="">
            <a:extLst xmlns:a="http://schemas.openxmlformats.org/drawingml/2006/main">
              <a:ext uri="{FF2B5EF4-FFF2-40B4-BE49-F238E27FC236}">
                <a16:creationId xmlns:a16="http://schemas.microsoft.com/office/drawing/2014/main" id="{FDCAAD04-0CC5-41AE-8564-246F25D17BF3}"/>
              </a:ext>
            </a:extLst>
          </p:cNvPr>
          <p:cNvSpPr>
            <a:spLocks xmlns:a="http://schemas.openxmlformats.org/drawingml/2006/main" noGrp="1"/>
          </p:cNvSpPr>
          <p:nvPr/>
        </p:nvSpPr>
        <p:spPr>
          <a:xfrm xmlns:a="http://schemas.openxmlformats.org/drawingml/2006/main">
            <a:off x="609600" y="4953000"/>
            <a:ext cx="304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7CD"/>
                </a:solidFill>
                <a:latin typeface="Helvetica Neue"/>
                <a:ea typeface="Helvetica Neue"/>
                <a:cs typeface="Helvetica Neue"/>
              </a:defRPr>
            </a:pPr>
            <a:r>
              <a:rPr sz="2250" b="1">
                <a:solidFill>
                  <a:srgbClr val="0077CD"/>
                </a:solidFill>
                <a:latin typeface="Helvetica Neue"/>
                <a:ea typeface="Helvetica Neue"/>
                <a:cs typeface="Helvetica Neue"/>
              </a:rPr>
              <a:t>During delivery</a:t>
            </a:r>
          </a:p>
        </p:txBody>
      </p:sp>
      <p:sp>
        <p:nvSpPr>
          <p:cNvPr id="12" name="">
            <a:extLst xmlns:a="http://schemas.openxmlformats.org/drawingml/2006/main">
              <a:ext uri="{FF2B5EF4-FFF2-40B4-BE49-F238E27FC236}">
                <a16:creationId xmlns:a16="http://schemas.microsoft.com/office/drawing/2014/main" id="{E27F4E26-21C9-427A-A3CE-AB311DD3075E}"/>
              </a:ext>
            </a:extLst>
          </p:cNvPr>
          <p:cNvSpPr>
            <a:spLocks xmlns:a="http://schemas.openxmlformats.org/drawingml/2006/main" noGrp="1"/>
          </p:cNvSpPr>
          <p:nvPr/>
        </p:nvSpPr>
        <p:spPr>
          <a:xfrm xmlns:a="http://schemas.openxmlformats.org/drawingml/2006/main">
            <a:off x="3952875" y="4953000"/>
            <a:ext cx="7429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333333"/>
                </a:solidFill>
                <a:latin typeface="Helvetica Neue"/>
                <a:ea typeface="Helvetica Neue"/>
                <a:cs typeface="Helvetica Neue"/>
              </a:defRPr>
            </a:pPr>
            <a:r>
              <a:rPr sz="1875" b="0">
                <a:solidFill>
                  <a:srgbClr val="333333"/>
                </a:solidFill>
                <a:latin typeface="Helvetica Neue"/>
                <a:ea typeface="Helvetica Neue"/>
                <a:cs typeface="Helvetica Neue"/>
              </a:rPr>
              <a:t>Track supplier milestones, crew availability and changes to the critical path.</a:t>
            </a:r>
          </a:p>
        </p:txBody>
      </p:sp>
    </p:spTree>
    <p:extLst>
      <p:ext uri="{BB962C8B-B14F-4D97-AF65-F5344CB8AC3E}">
        <p14:creationId xmlns:p14="http://schemas.microsoft.com/office/powerpoint/2010/main" val="77578686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0A718B4-730E-41C2-9DB0-8C87CB8EA607}"/>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Alberta pipeline reference 1 of 3</a:t>
            </a:r>
          </a:p>
        </p:txBody>
      </p:sp>
      <p:sp>
        <p:nvSpPr>
          <p:cNvPr id="2" name="">
            <a:extLst xmlns:a="http://schemas.openxmlformats.org/drawingml/2006/main">
              <a:ext uri="{FF2B5EF4-FFF2-40B4-BE49-F238E27FC236}">
                <a16:creationId xmlns:a16="http://schemas.microsoft.com/office/drawing/2014/main" id="{675BB715-3C6A-4DA6-B913-F00412D6DC42}"/>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Full identified core project and phase records.</a:t>
            </a:r>
          </a:p>
        </p:txBody>
      </p:sp>
      <p:sp>
        <p:nvSpPr>
          <p:cNvPr id="3" name="">
            <a:extLst xmlns:a="http://schemas.openxmlformats.org/drawingml/2006/main">
              <a:ext uri="{FF2B5EF4-FFF2-40B4-BE49-F238E27FC236}">
                <a16:creationId xmlns:a16="http://schemas.microsoft.com/office/drawing/2014/main" id="{E7ED25CB-1306-40C6-B2ED-A57D64C2911F}"/>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Alberta Major Projects, 31 Aug 2026. ? = missing year; — = missing cost. Estimated scope varies.</a:t>
            </a:r>
          </a:p>
        </p:txBody>
      </p:sp>
      <p:sp>
        <p:nvSpPr>
          <p:cNvPr id="4" name="">
            <a:extLst xmlns:a="http://schemas.openxmlformats.org/drawingml/2006/main">
              <a:ext uri="{FF2B5EF4-FFF2-40B4-BE49-F238E27FC236}">
                <a16:creationId xmlns:a16="http://schemas.microsoft.com/office/drawing/2014/main" id="{334E979B-1C1B-4688-88E2-6E386F04D3C9}"/>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14</a:t>
            </a:r>
          </a:p>
        </p:txBody>
      </p:sp>
      <p:graphicFrame>
        <p:nvGraphicFramePr>
          <p:cNvPr id="10" name=""/>
          <p:cNvGraphicFramePr/>
          <p:nvPr/>
        </p:nvGraphicFramePr>
        <p:xfrm>
          <a:off xmlns:a="http://schemas.openxmlformats.org/drawingml/2006/main" x="609600" y="2095500"/>
          <a:ext xmlns:a="http://schemas.openxmlformats.org/drawingml/2006/main" cx="10972800" cy="3619500"/>
        </p:xfrm>
        <a:graphic xmlns:a="http://schemas.openxmlformats.org/drawingml/2006/main">
          <a:graphicData uri="http://schemas.openxmlformats.org/drawingml/2006/table">
            <a:tbl>
              <a:tblPr/>
              <a:tblGrid>
                <a:gridCol w="6000750"/>
                <a:gridCol w="1714500"/>
                <a:gridCol w="2000250"/>
                <a:gridCol w="1257300"/>
              </a:tblGrid>
              <a:tr h="452438">
                <a:tc>
                  <a:txBody>
                    <a:bodyPr/>
                    <a:lstStyle/>
                    <a:p>
                      <a:r>
                        <a:rPr sz="1500" b="1">
                          <a:solidFill>
                            <a:srgbClr val="FFFFFF"/>
                          </a:solidFill>
                          <a:latin typeface="Helvetica Neue"/>
                          <a:ea typeface="Helvetica Neue"/>
                          <a:cs typeface="Helvetica Neue"/>
                        </a:rPr>
                        <a:t>Project / phase</a:t>
                      </a:r>
                    </a:p>
                  </a:txBody>
                  <a:tcPr marL="91440" marR="91440" marT="45720" marB="45720">
                    <a:solidFill>
                      <a:srgbClr val="0077CD"/>
                    </a:solidFill>
                  </a:tcPr>
                </a:tc>
                <a:tc>
                  <a:txBody>
                    <a:bodyPr/>
                    <a:lstStyle/>
                    <a:p>
                      <a:r>
                        <a:rPr sz="1500" b="1">
                          <a:solidFill>
                            <a:srgbClr val="FFFFFF"/>
                          </a:solidFill>
                          <a:latin typeface="Helvetica Neue"/>
                          <a:ea typeface="Helvetica Neue"/>
                          <a:cs typeface="Helvetica Neue"/>
                        </a:rPr>
                        <a:t>Stage</a:t>
                      </a:r>
                    </a:p>
                  </a:txBody>
                  <a:tcPr marL="91440" marR="91440" marT="45720" marB="45720">
                    <a:solidFill>
                      <a:srgbClr val="0077CD"/>
                    </a:solidFill>
                  </a:tcPr>
                </a:tc>
                <a:tc>
                  <a:txBody>
                    <a:bodyPr/>
                    <a:lstStyle/>
                    <a:p>
                      <a:r>
                        <a:rPr sz="1500" b="1">
                          <a:solidFill>
                            <a:srgbClr val="FFFFFF"/>
                          </a:solidFill>
                          <a:latin typeface="Helvetica Neue"/>
                          <a:ea typeface="Helvetica Neue"/>
                          <a:cs typeface="Helvetica Neue"/>
                        </a:rPr>
                        <a:t>Reported years</a:t>
                      </a:r>
                    </a:p>
                  </a:txBody>
                  <a:tcPr marL="91440" marR="91440" marT="45720" marB="45720">
                    <a:solidFill>
                      <a:srgbClr val="0077CD"/>
                    </a:solidFill>
                  </a:tcPr>
                </a:tc>
                <a:tc>
                  <a:txBody>
                    <a:bodyPr/>
                    <a:lstStyle/>
                    <a:p>
                      <a:r>
                        <a:rPr sz="1500" b="1">
                          <a:solidFill>
                            <a:srgbClr val="FFFFFF"/>
                          </a:solidFill>
                          <a:latin typeface="Helvetica Neue"/>
                          <a:ea typeface="Helvetica Neue"/>
                          <a:cs typeface="Helvetica Neue"/>
                        </a:rPr>
                        <a:t>CAD B</a:t>
                      </a:r>
                    </a:p>
                  </a:txBody>
                  <a:tcPr marL="91440" marR="91440" marT="45720" marB="45720">
                    <a:solidFill>
                      <a:srgbClr val="0077CD"/>
                    </a:solidFill>
                  </a:tcPr>
                </a:tc>
              </a:tr>
              <a:tr h="452438">
                <a:tc>
                  <a:txBody>
                    <a:bodyPr/>
                    <a:lstStyle/>
                    <a:p>
                      <a:r>
                        <a:rPr sz="1500" b="0">
                          <a:solidFill>
                            <a:srgbClr val="333333"/>
                          </a:solidFill>
                          <a:latin typeface="Helvetica Neue"/>
                          <a:ea typeface="Helvetica Neue"/>
                          <a:cs typeface="Helvetica Neue"/>
                        </a:rPr>
                        <a:t>eStruxture CAL-3 Data Centre</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Construction</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2024–2026</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0.75</a:t>
                      </a:r>
                    </a:p>
                  </a:txBody>
                  <a:tcPr marL="91440" marR="91440" marT="45720" marB="45720">
                    <a:solidFill>
                      <a:srgbClr val="FFFFFF"/>
                    </a:solidFill>
                  </a:tcPr>
                </a:tc>
              </a:tr>
              <a:tr h="452438">
                <a:tc>
                  <a:txBody>
                    <a:bodyPr/>
                    <a:lstStyle/>
                    <a:p>
                      <a:r>
                        <a:rPr sz="1500" b="0">
                          <a:solidFill>
                            <a:srgbClr val="333333"/>
                          </a:solidFill>
                          <a:latin typeface="Helvetica Neue"/>
                          <a:ea typeface="Helvetica Neue"/>
                          <a:cs typeface="Helvetica Neue"/>
                        </a:rPr>
                        <a:t>Wonder Valley AI Data Centre Park (Phase 1)</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Proposed</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12.00</a:t>
                      </a:r>
                    </a:p>
                  </a:txBody>
                  <a:tcPr marL="91440" marR="91440" marT="45720" marB="45720">
                    <a:solidFill>
                      <a:srgbClr val="F2F2F2"/>
                    </a:solidFill>
                  </a:tcPr>
                </a:tc>
              </a:tr>
              <a:tr h="452438">
                <a:tc>
                  <a:txBody>
                    <a:bodyPr/>
                    <a:lstStyle/>
                    <a:p>
                      <a:r>
                        <a:rPr sz="1500" b="0">
                          <a:solidFill>
                            <a:srgbClr val="333333"/>
                          </a:solidFill>
                          <a:latin typeface="Helvetica Neue"/>
                          <a:ea typeface="Helvetica Neue"/>
                          <a:cs typeface="Helvetica Neue"/>
                        </a:rPr>
                        <a:t>Beacon Foothills AI Data Centre Hub</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Proposed</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4.00</a:t>
                      </a:r>
                    </a:p>
                  </a:txBody>
                  <a:tcPr marL="91440" marR="91440" marT="45720" marB="45720">
                    <a:solidFill>
                      <a:srgbClr val="FFFFFF"/>
                    </a:solidFill>
                  </a:tcPr>
                </a:tc>
              </a:tr>
              <a:tr h="452438">
                <a:tc>
                  <a:txBody>
                    <a:bodyPr/>
                    <a:lstStyle/>
                    <a:p>
                      <a:r>
                        <a:rPr sz="1500" b="0">
                          <a:solidFill>
                            <a:srgbClr val="333333"/>
                          </a:solidFill>
                          <a:latin typeface="Helvetica Neue"/>
                          <a:ea typeface="Helvetica Neue"/>
                          <a:cs typeface="Helvetica Neue"/>
                        </a:rPr>
                        <a:t>Beacon Harry Smith AI Data Centre Hub</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Proposed</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a:t>
                      </a:r>
                    </a:p>
                  </a:txBody>
                  <a:tcPr marL="91440" marR="91440" marT="45720" marB="45720">
                    <a:solidFill>
                      <a:srgbClr val="F2F2F2"/>
                    </a:solidFill>
                  </a:tcPr>
                </a:tc>
              </a:tr>
              <a:tr h="452438">
                <a:tc>
                  <a:txBody>
                    <a:bodyPr/>
                    <a:lstStyle/>
                    <a:p>
                      <a:r>
                        <a:rPr sz="1500" b="0">
                          <a:solidFill>
                            <a:srgbClr val="333333"/>
                          </a:solidFill>
                          <a:latin typeface="Helvetica Neue"/>
                          <a:ea typeface="Helvetica Neue"/>
                          <a:cs typeface="Helvetica Neue"/>
                        </a:rPr>
                        <a:t>Beacon Indus Data Centre Hub</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Proposed</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a:t>
                      </a:r>
                    </a:p>
                  </a:txBody>
                  <a:tcPr marL="91440" marR="91440" marT="45720" marB="45720">
                    <a:solidFill>
                      <a:srgbClr val="FFFFFF"/>
                    </a:solidFill>
                  </a:tcPr>
                </a:tc>
              </a:tr>
              <a:tr h="452438">
                <a:tc>
                  <a:txBody>
                    <a:bodyPr/>
                    <a:lstStyle/>
                    <a:p>
                      <a:r>
                        <a:rPr sz="1500" b="0">
                          <a:solidFill>
                            <a:srgbClr val="333333"/>
                          </a:solidFill>
                          <a:latin typeface="Helvetica Neue"/>
                          <a:ea typeface="Helvetica Neue"/>
                          <a:cs typeface="Helvetica Neue"/>
                        </a:rPr>
                        <a:t>Beacon Heartland AI Data Centre Hub</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Proposed</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?–2027</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a:t>
                      </a:r>
                    </a:p>
                  </a:txBody>
                  <a:tcPr marL="91440" marR="91440" marT="45720" marB="45720">
                    <a:solidFill>
                      <a:srgbClr val="F2F2F2"/>
                    </a:solidFill>
                  </a:tcPr>
                </a:tc>
              </a:tr>
              <a:tr h="452438">
                <a:tc>
                  <a:txBody>
                    <a:bodyPr/>
                    <a:lstStyle/>
                    <a:p>
                      <a:r>
                        <a:rPr sz="1500" b="0">
                          <a:solidFill>
                            <a:srgbClr val="333333"/>
                          </a:solidFill>
                          <a:latin typeface="Helvetica Neue"/>
                          <a:ea typeface="Helvetica Neue"/>
                          <a:cs typeface="Helvetica Neue"/>
                        </a:rPr>
                        <a:t>Beacon Saunders Lake AI Data Centre Hub</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Proposed</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18533567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23DDA7B-6EFB-41FD-A324-E374AE24EC34}"/>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Alberta pipeline reference 2 of 3</a:t>
            </a:r>
          </a:p>
        </p:txBody>
      </p:sp>
      <p:sp>
        <p:nvSpPr>
          <p:cNvPr id="2" name="">
            <a:extLst xmlns:a="http://schemas.openxmlformats.org/drawingml/2006/main">
              <a:ext uri="{FF2B5EF4-FFF2-40B4-BE49-F238E27FC236}">
                <a16:creationId xmlns:a16="http://schemas.microsoft.com/office/drawing/2014/main" id="{AD854655-F770-4BD6-BD6A-52571DF6CFC2}"/>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Full identified core project and phase records.</a:t>
            </a:r>
          </a:p>
        </p:txBody>
      </p:sp>
      <p:sp>
        <p:nvSpPr>
          <p:cNvPr id="3" name="">
            <a:extLst xmlns:a="http://schemas.openxmlformats.org/drawingml/2006/main">
              <a:ext uri="{FF2B5EF4-FFF2-40B4-BE49-F238E27FC236}">
                <a16:creationId xmlns:a16="http://schemas.microsoft.com/office/drawing/2014/main" id="{986BA5DA-4001-47D1-9B57-06759BA6A28B}"/>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Alberta Major Projects, 31 Aug 2026. ? = missing year; — = missing cost. Estimated scope varies.</a:t>
            </a:r>
          </a:p>
        </p:txBody>
      </p:sp>
      <p:sp>
        <p:nvSpPr>
          <p:cNvPr id="4" name="">
            <a:extLst xmlns:a="http://schemas.openxmlformats.org/drawingml/2006/main">
              <a:ext uri="{FF2B5EF4-FFF2-40B4-BE49-F238E27FC236}">
                <a16:creationId xmlns:a16="http://schemas.microsoft.com/office/drawing/2014/main" id="{D855B012-98B0-4D94-A6BA-D9359EEFE250}"/>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15</a:t>
            </a:r>
          </a:p>
        </p:txBody>
      </p:sp>
      <p:graphicFrame>
        <p:nvGraphicFramePr>
          <p:cNvPr id="10" name=""/>
          <p:cNvGraphicFramePr/>
          <p:nvPr/>
        </p:nvGraphicFramePr>
        <p:xfrm>
          <a:off xmlns:a="http://schemas.openxmlformats.org/drawingml/2006/main" x="609600" y="2095500"/>
          <a:ext xmlns:a="http://schemas.openxmlformats.org/drawingml/2006/main" cx="10972800" cy="3619500"/>
        </p:xfrm>
        <a:graphic xmlns:a="http://schemas.openxmlformats.org/drawingml/2006/main">
          <a:graphicData uri="http://schemas.openxmlformats.org/drawingml/2006/table">
            <a:tbl>
              <a:tblPr/>
              <a:tblGrid>
                <a:gridCol w="6000750"/>
                <a:gridCol w="1714500"/>
                <a:gridCol w="2000250"/>
                <a:gridCol w="1257300"/>
              </a:tblGrid>
              <a:tr h="452438">
                <a:tc>
                  <a:txBody>
                    <a:bodyPr/>
                    <a:lstStyle/>
                    <a:p>
                      <a:r>
                        <a:rPr sz="1500" b="1">
                          <a:solidFill>
                            <a:srgbClr val="FFFFFF"/>
                          </a:solidFill>
                          <a:latin typeface="Helvetica Neue"/>
                          <a:ea typeface="Helvetica Neue"/>
                          <a:cs typeface="Helvetica Neue"/>
                        </a:rPr>
                        <a:t>Project / phase</a:t>
                      </a:r>
                    </a:p>
                  </a:txBody>
                  <a:tcPr marL="91440" marR="91440" marT="45720" marB="45720">
                    <a:solidFill>
                      <a:srgbClr val="0077CD"/>
                    </a:solidFill>
                  </a:tcPr>
                </a:tc>
                <a:tc>
                  <a:txBody>
                    <a:bodyPr/>
                    <a:lstStyle/>
                    <a:p>
                      <a:r>
                        <a:rPr sz="1500" b="1">
                          <a:solidFill>
                            <a:srgbClr val="FFFFFF"/>
                          </a:solidFill>
                          <a:latin typeface="Helvetica Neue"/>
                          <a:ea typeface="Helvetica Neue"/>
                          <a:cs typeface="Helvetica Neue"/>
                        </a:rPr>
                        <a:t>Stage</a:t>
                      </a:r>
                    </a:p>
                  </a:txBody>
                  <a:tcPr marL="91440" marR="91440" marT="45720" marB="45720">
                    <a:solidFill>
                      <a:srgbClr val="0077CD"/>
                    </a:solidFill>
                  </a:tcPr>
                </a:tc>
                <a:tc>
                  <a:txBody>
                    <a:bodyPr/>
                    <a:lstStyle/>
                    <a:p>
                      <a:r>
                        <a:rPr sz="1500" b="1">
                          <a:solidFill>
                            <a:srgbClr val="FFFFFF"/>
                          </a:solidFill>
                          <a:latin typeface="Helvetica Neue"/>
                          <a:ea typeface="Helvetica Neue"/>
                          <a:cs typeface="Helvetica Neue"/>
                        </a:rPr>
                        <a:t>Reported years</a:t>
                      </a:r>
                    </a:p>
                  </a:txBody>
                  <a:tcPr marL="91440" marR="91440" marT="45720" marB="45720">
                    <a:solidFill>
                      <a:srgbClr val="0077CD"/>
                    </a:solidFill>
                  </a:tcPr>
                </a:tc>
                <a:tc>
                  <a:txBody>
                    <a:bodyPr/>
                    <a:lstStyle/>
                    <a:p>
                      <a:r>
                        <a:rPr sz="1500" b="1">
                          <a:solidFill>
                            <a:srgbClr val="FFFFFF"/>
                          </a:solidFill>
                          <a:latin typeface="Helvetica Neue"/>
                          <a:ea typeface="Helvetica Neue"/>
                          <a:cs typeface="Helvetica Neue"/>
                        </a:rPr>
                        <a:t>CAD B</a:t>
                      </a:r>
                    </a:p>
                  </a:txBody>
                  <a:tcPr marL="91440" marR="91440" marT="45720" marB="45720">
                    <a:solidFill>
                      <a:srgbClr val="0077CD"/>
                    </a:solidFill>
                  </a:tcPr>
                </a:tc>
              </a:tr>
              <a:tr h="452438">
                <a:tc>
                  <a:txBody>
                    <a:bodyPr/>
                    <a:lstStyle/>
                    <a:p>
                      <a:r>
                        <a:rPr sz="1500" b="0">
                          <a:solidFill>
                            <a:srgbClr val="333333"/>
                          </a:solidFill>
                          <a:latin typeface="Helvetica Neue"/>
                          <a:ea typeface="Helvetica Neue"/>
                          <a:cs typeface="Helvetica Neue"/>
                        </a:rPr>
                        <a:t>Crusoe AI Data Centres Alberta</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Proposed</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3.00</a:t>
                      </a:r>
                    </a:p>
                  </a:txBody>
                  <a:tcPr marL="91440" marR="91440" marT="45720" marB="45720">
                    <a:solidFill>
                      <a:srgbClr val="FFFFFF"/>
                    </a:solidFill>
                  </a:tcPr>
                </a:tc>
              </a:tr>
              <a:tr h="452438">
                <a:tc>
                  <a:txBody>
                    <a:bodyPr/>
                    <a:lstStyle/>
                    <a:p>
                      <a:r>
                        <a:rPr sz="1500" b="0">
                          <a:solidFill>
                            <a:srgbClr val="333333"/>
                          </a:solidFill>
                          <a:latin typeface="Helvetica Neue"/>
                          <a:ea typeface="Helvetica Neue"/>
                          <a:cs typeface="Helvetica Neue"/>
                        </a:rPr>
                        <a:t>HubOne AI &amp; BTC High Density Compute Park</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Proposed</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a:t>
                      </a:r>
                    </a:p>
                  </a:txBody>
                  <a:tcPr marL="91440" marR="91440" marT="45720" marB="45720">
                    <a:solidFill>
                      <a:srgbClr val="F2F2F2"/>
                    </a:solidFill>
                  </a:tcPr>
                </a:tc>
              </a:tr>
              <a:tr h="452438">
                <a:tc>
                  <a:txBody>
                    <a:bodyPr/>
                    <a:lstStyle/>
                    <a:p>
                      <a:r>
                        <a:rPr sz="1500" b="0">
                          <a:solidFill>
                            <a:srgbClr val="333333"/>
                          </a:solidFill>
                          <a:latin typeface="Helvetica Neue"/>
                          <a:ea typeface="Helvetica Neue"/>
                          <a:cs typeface="Helvetica Neue"/>
                        </a:rPr>
                        <a:t>Prairie Sky Data Solutions Strathmore Data Center (Phase 1)</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Proposed</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?–2026</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a:t>
                      </a:r>
                    </a:p>
                  </a:txBody>
                  <a:tcPr marL="91440" marR="91440" marT="45720" marB="45720">
                    <a:solidFill>
                      <a:srgbClr val="FFFFFF"/>
                    </a:solidFill>
                  </a:tcPr>
                </a:tc>
              </a:tr>
              <a:tr h="452438">
                <a:tc>
                  <a:txBody>
                    <a:bodyPr/>
                    <a:lstStyle/>
                    <a:p>
                      <a:r>
                        <a:rPr sz="1500" b="0">
                          <a:solidFill>
                            <a:srgbClr val="333333"/>
                          </a:solidFill>
                          <a:latin typeface="Helvetica Neue"/>
                          <a:ea typeface="Helvetica Neue"/>
                          <a:cs typeface="Helvetica Neue"/>
                        </a:rPr>
                        <a:t>eStruxture CAL-1 Data Centre - Phase 4 Alterations</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Construction</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2025–?</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a:t>
                      </a:r>
                    </a:p>
                  </a:txBody>
                  <a:tcPr marL="91440" marR="91440" marT="45720" marB="45720">
                    <a:solidFill>
                      <a:srgbClr val="F2F2F2"/>
                    </a:solidFill>
                  </a:tcPr>
                </a:tc>
              </a:tr>
              <a:tr h="452438">
                <a:tc>
                  <a:txBody>
                    <a:bodyPr/>
                    <a:lstStyle/>
                    <a:p>
                      <a:r>
                        <a:rPr sz="1500" b="0">
                          <a:solidFill>
                            <a:srgbClr val="333333"/>
                          </a:solidFill>
                          <a:latin typeface="Helvetica Neue"/>
                          <a:ea typeface="Helvetica Neue"/>
                          <a:cs typeface="Helvetica Neue"/>
                        </a:rPr>
                        <a:t>Blindman Industrial Park AI Data Centre</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Construction</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2026–2026</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a:t>
                      </a:r>
                    </a:p>
                  </a:txBody>
                  <a:tcPr marL="91440" marR="91440" marT="45720" marB="45720">
                    <a:solidFill>
                      <a:srgbClr val="FFFFFF"/>
                    </a:solidFill>
                  </a:tcPr>
                </a:tc>
              </a:tr>
              <a:tr h="452438">
                <a:tc>
                  <a:txBody>
                    <a:bodyPr/>
                    <a:lstStyle/>
                    <a:p>
                      <a:r>
                        <a:rPr sz="1500" b="0">
                          <a:solidFill>
                            <a:srgbClr val="333333"/>
                          </a:solidFill>
                          <a:latin typeface="Helvetica Neue"/>
                          <a:ea typeface="Helvetica Neue"/>
                          <a:cs typeface="Helvetica Neue"/>
                        </a:rPr>
                        <a:t>Technologies New Energy &amp; Data District Data Centres (Phase 1)</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Proposed</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2026–?</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1.26</a:t>
                      </a:r>
                    </a:p>
                  </a:txBody>
                  <a:tcPr marL="91440" marR="91440" marT="45720" marB="45720">
                    <a:solidFill>
                      <a:srgbClr val="F2F2F2"/>
                    </a:solidFill>
                  </a:tcPr>
                </a:tc>
              </a:tr>
              <a:tr h="452438">
                <a:tc>
                  <a:txBody>
                    <a:bodyPr/>
                    <a:lstStyle/>
                    <a:p>
                      <a:r>
                        <a:rPr sz="1500" b="0">
                          <a:solidFill>
                            <a:srgbClr val="333333"/>
                          </a:solidFill>
                          <a:latin typeface="Helvetica Neue"/>
                          <a:ea typeface="Helvetica Neue"/>
                          <a:cs typeface="Helvetica Neue"/>
                        </a:rPr>
                        <a:t>Data Centre (Clive)</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Proposed</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2026–?</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20103023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B2D0795-4BC9-4D49-9498-BF935E8D5F2C}"/>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002C4E"/>
                </a:solidFill>
                <a:latin typeface="Helvetica Neue"/>
                <a:ea typeface="Helvetica Neue"/>
                <a:cs typeface="Helvetica Neue"/>
              </a:defRPr>
            </a:pPr>
            <a:r>
              <a:rPr sz="3300" b="1">
                <a:solidFill>
                  <a:srgbClr val="002C4E"/>
                </a:solidFill>
                <a:latin typeface="Helvetica Neue"/>
                <a:ea typeface="Helvetica Neue"/>
                <a:cs typeface="Helvetica Neue"/>
              </a:rPr>
              <a:t>Alberta pipeline reference 3 of 3</a:t>
            </a:r>
          </a:p>
        </p:txBody>
      </p:sp>
      <p:sp>
        <p:nvSpPr>
          <p:cNvPr id="2" name="">
            <a:extLst xmlns:a="http://schemas.openxmlformats.org/drawingml/2006/main">
              <a:ext uri="{FF2B5EF4-FFF2-40B4-BE49-F238E27FC236}">
                <a16:creationId xmlns:a16="http://schemas.microsoft.com/office/drawing/2014/main" id="{04EF53BA-7236-4BE9-A3F7-06E20959E8D4}"/>
              </a:ext>
            </a:extLst>
          </p:cNvPr>
          <p:cNvSpPr>
            <a:spLocks xmlns:a="http://schemas.openxmlformats.org/drawingml/2006/main" noGrp="1"/>
          </p:cNvSpPr>
          <p:nvPr/>
        </p:nvSpPr>
        <p:spPr>
          <a:xfrm xmlns:a="http://schemas.openxmlformats.org/drawingml/2006/main">
            <a:off x="609600" y="14478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33333"/>
                </a:solidFill>
                <a:latin typeface="Helvetica Neue"/>
                <a:ea typeface="Helvetica Neue"/>
                <a:cs typeface="Helvetica Neue"/>
              </a:defRPr>
            </a:pPr>
            <a:r>
              <a:rPr sz="1800" b="0">
                <a:solidFill>
                  <a:srgbClr val="333333"/>
                </a:solidFill>
                <a:latin typeface="Helvetica Neue"/>
                <a:ea typeface="Helvetica Neue"/>
                <a:cs typeface="Helvetica Neue"/>
              </a:rPr>
              <a:t>Full identified core project and phase records.</a:t>
            </a:r>
          </a:p>
        </p:txBody>
      </p:sp>
      <p:sp>
        <p:nvSpPr>
          <p:cNvPr id="3" name="">
            <a:extLst xmlns:a="http://schemas.openxmlformats.org/drawingml/2006/main">
              <a:ext uri="{FF2B5EF4-FFF2-40B4-BE49-F238E27FC236}">
                <a16:creationId xmlns:a16="http://schemas.microsoft.com/office/drawing/2014/main" id="{45EF8566-3E91-4751-8915-C6C7D2EE15F2}"/>
              </a:ext>
            </a:extLst>
          </p:cNvPr>
          <p:cNvSpPr>
            <a:spLocks xmlns:a="http://schemas.openxmlformats.org/drawingml/2006/main" noGrp="1"/>
          </p:cNvSpPr>
          <p:nvPr/>
        </p:nvSpPr>
        <p:spPr>
          <a:xfrm xmlns:a="http://schemas.openxmlformats.org/drawingml/2006/main">
            <a:off x="609600" y="63436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Alberta Major Projects, 31 Aug 2026. ? = missing year; — = missing cost. Estimated scope varies.</a:t>
            </a:r>
          </a:p>
        </p:txBody>
      </p:sp>
      <p:sp>
        <p:nvSpPr>
          <p:cNvPr id="4" name="">
            <a:extLst xmlns:a="http://schemas.openxmlformats.org/drawingml/2006/main">
              <a:ext uri="{FF2B5EF4-FFF2-40B4-BE49-F238E27FC236}">
                <a16:creationId xmlns:a16="http://schemas.microsoft.com/office/drawing/2014/main" id="{6D3E4AFC-4E6E-465F-88F2-56ADABE95036}"/>
              </a:ext>
            </a:extLst>
          </p:cNvPr>
          <p:cNvSpPr>
            <a:spLocks xmlns:a="http://schemas.openxmlformats.org/drawingml/2006/main" noGrp="1"/>
          </p:cNvSpPr>
          <p:nvPr/>
        </p:nvSpPr>
        <p:spPr>
          <a:xfrm xmlns:a="http://schemas.openxmlformats.org/drawingml/2006/main">
            <a:off x="11334750" y="63436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66666"/>
                </a:solidFill>
                <a:latin typeface="Helvetica Neue"/>
                <a:ea typeface="Helvetica Neue"/>
                <a:cs typeface="Helvetica Neue"/>
              </a:defRPr>
            </a:pPr>
            <a:r>
              <a:rPr sz="1125" b="0">
                <a:solidFill>
                  <a:srgbClr val="666666"/>
                </a:solidFill>
                <a:latin typeface="Helvetica Neue"/>
                <a:ea typeface="Helvetica Neue"/>
                <a:cs typeface="Helvetica Neue"/>
              </a:rPr>
              <a:t>16</a:t>
            </a:r>
          </a:p>
        </p:txBody>
      </p:sp>
      <p:graphicFrame>
        <p:nvGraphicFramePr>
          <p:cNvPr id="10" name=""/>
          <p:cNvGraphicFramePr/>
          <p:nvPr/>
        </p:nvGraphicFramePr>
        <p:xfrm>
          <a:off xmlns:a="http://schemas.openxmlformats.org/drawingml/2006/main" x="609600" y="2095500"/>
          <a:ext xmlns:a="http://schemas.openxmlformats.org/drawingml/2006/main" cx="10972800" cy="3619500"/>
        </p:xfrm>
        <a:graphic xmlns:a="http://schemas.openxmlformats.org/drawingml/2006/main">
          <a:graphicData uri="http://schemas.openxmlformats.org/drawingml/2006/table">
            <a:tbl>
              <a:tblPr/>
              <a:tblGrid>
                <a:gridCol w="6000750"/>
                <a:gridCol w="1714500"/>
                <a:gridCol w="2000250"/>
                <a:gridCol w="1257300"/>
              </a:tblGrid>
              <a:tr h="603250">
                <a:tc>
                  <a:txBody>
                    <a:bodyPr/>
                    <a:lstStyle/>
                    <a:p>
                      <a:r>
                        <a:rPr sz="1500" b="1">
                          <a:solidFill>
                            <a:srgbClr val="FFFFFF"/>
                          </a:solidFill>
                          <a:latin typeface="Helvetica Neue"/>
                          <a:ea typeface="Helvetica Neue"/>
                          <a:cs typeface="Helvetica Neue"/>
                        </a:rPr>
                        <a:t>Project / phase</a:t>
                      </a:r>
                    </a:p>
                  </a:txBody>
                  <a:tcPr marL="91440" marR="91440" marT="45720" marB="45720">
                    <a:solidFill>
                      <a:srgbClr val="0077CD"/>
                    </a:solidFill>
                  </a:tcPr>
                </a:tc>
                <a:tc>
                  <a:txBody>
                    <a:bodyPr/>
                    <a:lstStyle/>
                    <a:p>
                      <a:r>
                        <a:rPr sz="1500" b="1">
                          <a:solidFill>
                            <a:srgbClr val="FFFFFF"/>
                          </a:solidFill>
                          <a:latin typeface="Helvetica Neue"/>
                          <a:ea typeface="Helvetica Neue"/>
                          <a:cs typeface="Helvetica Neue"/>
                        </a:rPr>
                        <a:t>Stage</a:t>
                      </a:r>
                    </a:p>
                  </a:txBody>
                  <a:tcPr marL="91440" marR="91440" marT="45720" marB="45720">
                    <a:solidFill>
                      <a:srgbClr val="0077CD"/>
                    </a:solidFill>
                  </a:tcPr>
                </a:tc>
                <a:tc>
                  <a:txBody>
                    <a:bodyPr/>
                    <a:lstStyle/>
                    <a:p>
                      <a:r>
                        <a:rPr sz="1500" b="1">
                          <a:solidFill>
                            <a:srgbClr val="FFFFFF"/>
                          </a:solidFill>
                          <a:latin typeface="Helvetica Neue"/>
                          <a:ea typeface="Helvetica Neue"/>
                          <a:cs typeface="Helvetica Neue"/>
                        </a:rPr>
                        <a:t>Reported years</a:t>
                      </a:r>
                    </a:p>
                  </a:txBody>
                  <a:tcPr marL="91440" marR="91440" marT="45720" marB="45720">
                    <a:solidFill>
                      <a:srgbClr val="0077CD"/>
                    </a:solidFill>
                  </a:tcPr>
                </a:tc>
                <a:tc>
                  <a:txBody>
                    <a:bodyPr/>
                    <a:lstStyle/>
                    <a:p>
                      <a:r>
                        <a:rPr sz="1500" b="1">
                          <a:solidFill>
                            <a:srgbClr val="FFFFFF"/>
                          </a:solidFill>
                          <a:latin typeface="Helvetica Neue"/>
                          <a:ea typeface="Helvetica Neue"/>
                          <a:cs typeface="Helvetica Neue"/>
                        </a:rPr>
                        <a:t>CAD B</a:t>
                      </a:r>
                    </a:p>
                  </a:txBody>
                  <a:tcPr marL="91440" marR="91440" marT="45720" marB="45720">
                    <a:solidFill>
                      <a:srgbClr val="0077CD"/>
                    </a:solidFill>
                  </a:tcPr>
                </a:tc>
              </a:tr>
              <a:tr h="603250">
                <a:tc>
                  <a:txBody>
                    <a:bodyPr/>
                    <a:lstStyle/>
                    <a:p>
                      <a:r>
                        <a:rPr sz="1500" b="0">
                          <a:solidFill>
                            <a:srgbClr val="333333"/>
                          </a:solidFill>
                          <a:latin typeface="Helvetica Neue"/>
                          <a:ea typeface="Helvetica Neue"/>
                          <a:cs typeface="Helvetica Neue"/>
                        </a:rPr>
                        <a:t>Mihta Askiy Data Centre</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Proposed</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2027–?</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a:t>
                      </a:r>
                    </a:p>
                  </a:txBody>
                  <a:tcPr marL="91440" marR="91440" marT="45720" marB="45720">
                    <a:solidFill>
                      <a:srgbClr val="FFFFFF"/>
                    </a:solidFill>
                  </a:tcPr>
                </a:tc>
              </a:tr>
              <a:tr h="603250">
                <a:tc>
                  <a:txBody>
                    <a:bodyPr/>
                    <a:lstStyle/>
                    <a:p>
                      <a:r>
                        <a:rPr sz="1500" b="0">
                          <a:solidFill>
                            <a:srgbClr val="333333"/>
                          </a:solidFill>
                          <a:latin typeface="Helvetica Neue"/>
                          <a:ea typeface="Helvetica Neue"/>
                          <a:cs typeface="Helvetica Neue"/>
                        </a:rPr>
                        <a:t>Beacon Chestermere AI Data Centre Hub</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Proposed</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?–2027</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a:t>
                      </a:r>
                    </a:p>
                  </a:txBody>
                  <a:tcPr marL="91440" marR="91440" marT="45720" marB="45720">
                    <a:solidFill>
                      <a:srgbClr val="F2F2F2"/>
                    </a:solidFill>
                  </a:tcPr>
                </a:tc>
              </a:tr>
              <a:tr h="603250">
                <a:tc>
                  <a:txBody>
                    <a:bodyPr/>
                    <a:lstStyle/>
                    <a:p>
                      <a:r>
                        <a:rPr sz="1500" b="0">
                          <a:solidFill>
                            <a:srgbClr val="333333"/>
                          </a:solidFill>
                          <a:latin typeface="Helvetica Neue"/>
                          <a:ea typeface="Helvetica Neue"/>
                          <a:cs typeface="Helvetica Neue"/>
                        </a:rPr>
                        <a:t>K-Tech and Aurora AZ Energy Compute Facility</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Construction</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2026–?</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a:t>
                      </a:r>
                    </a:p>
                  </a:txBody>
                  <a:tcPr marL="91440" marR="91440" marT="45720" marB="45720">
                    <a:solidFill>
                      <a:srgbClr val="FFFFFF"/>
                    </a:solidFill>
                  </a:tcPr>
                </a:tc>
              </a:tr>
              <a:tr h="603250">
                <a:tc>
                  <a:txBody>
                    <a:bodyPr/>
                    <a:lstStyle/>
                    <a:p>
                      <a:r>
                        <a:rPr sz="1500" b="0">
                          <a:solidFill>
                            <a:srgbClr val="333333"/>
                          </a:solidFill>
                          <a:latin typeface="Helvetica Neue"/>
                          <a:ea typeface="Helvetica Neue"/>
                          <a:cs typeface="Helvetica Neue"/>
                        </a:rPr>
                        <a:t>Meta Data Centre</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Proposed</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a:t>
                      </a:r>
                    </a:p>
                  </a:txBody>
                  <a:tcPr marL="91440" marR="91440" marT="45720" marB="45720">
                    <a:solidFill>
                      <a:srgbClr val="F2F2F2"/>
                    </a:solidFill>
                  </a:tcPr>
                </a:tc>
                <a:tc>
                  <a:txBody>
                    <a:bodyPr/>
                    <a:lstStyle/>
                    <a:p>
                      <a:r>
                        <a:rPr sz="1500" b="0">
                          <a:solidFill>
                            <a:srgbClr val="333333"/>
                          </a:solidFill>
                          <a:latin typeface="Helvetica Neue"/>
                          <a:ea typeface="Helvetica Neue"/>
                          <a:cs typeface="Helvetica Neue"/>
                        </a:rPr>
                        <a:t>13.00</a:t>
                      </a:r>
                    </a:p>
                  </a:txBody>
                  <a:tcPr marL="91440" marR="91440" marT="45720" marB="45720">
                    <a:solidFill>
                      <a:srgbClr val="F2F2F2"/>
                    </a:solidFill>
                  </a:tcPr>
                </a:tc>
              </a:tr>
              <a:tr h="603250">
                <a:tc>
                  <a:txBody>
                    <a:bodyPr/>
                    <a:lstStyle/>
                    <a:p>
                      <a:r>
                        <a:rPr sz="1500" b="0">
                          <a:solidFill>
                            <a:srgbClr val="333333"/>
                          </a:solidFill>
                          <a:latin typeface="Helvetica Neue"/>
                          <a:ea typeface="Helvetica Neue"/>
                          <a:cs typeface="Helvetica Neue"/>
                        </a:rPr>
                        <a:t>Malachite One Data Centre</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Proposed</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2027–2030</a:t>
                      </a:r>
                    </a:p>
                  </a:txBody>
                  <a:tcPr marL="91440" marR="91440" marT="45720" marB="45720">
                    <a:solidFill>
                      <a:srgbClr val="FFFFFF"/>
                    </a:solidFill>
                  </a:tcPr>
                </a:tc>
                <a:tc>
                  <a:txBody>
                    <a:bodyPr/>
                    <a:lstStyle/>
                    <a:p>
                      <a:r>
                        <a:rPr sz="1500" b="0">
                          <a:solidFill>
                            <a:srgbClr val="333333"/>
                          </a:solidFill>
                          <a:latin typeface="Helvetica Neue"/>
                          <a:ea typeface="Helvetica Neue"/>
                          <a:cs typeface="Helvetica Neue"/>
                        </a:rPr>
                        <a:t>15.00</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2222686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2026-09-06T15:01:37.1770000Z</dcterms:created>
  <dcterms:modified xsi:type="dcterms:W3CDTF">2026-09-06T15:01:37.1770000Z</dcterms:modified>
</coreProperties>
</file>